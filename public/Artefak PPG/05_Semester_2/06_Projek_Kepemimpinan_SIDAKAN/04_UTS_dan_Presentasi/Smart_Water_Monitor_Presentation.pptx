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6029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ashboard_sid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0"/>
            <a:ext cx="66138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85232" y="0"/>
            <a:ext cx="54864" cy="6858000"/>
          </a:xfrm>
          <a:prstGeom prst="rect">
            <a:avLst/>
          </a:prstGeom>
          <a:solidFill>
            <a:srgbClr val="63D6B8">
              <a:alpha val="85000"/>
            </a:srgbClr>
          </a:solidFill>
          <a:ln w="12700">
            <a:solidFill>
              <a:srgbClr val="63D6B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58368" y="640080"/>
            <a:ext cx="2468880" cy="384048"/>
          </a:xfrm>
          <a:prstGeom prst="roundRect">
            <a:avLst>
              <a:gd name="adj" fmla="val 23810"/>
            </a:avLst>
          </a:prstGeom>
          <a:solidFill>
            <a:srgbClr val="63D6B8"/>
          </a:solidFill>
          <a:ln w="12700">
            <a:solidFill>
              <a:srgbClr val="63D6B8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68096" y="740664"/>
            <a:ext cx="22494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3B52"/>
                </a:solidFill>
              </a:rPr>
              <a:t>PROPOSAL PROJEK KEPEMIMPINAN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58368" y="1389888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 Water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Monitor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685800" y="3072384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just">
              <a:buNone/>
            </a:pPr>
            <a:r>
              <a:rPr lang="id-ID" dirty="0">
                <a:solidFill>
                  <a:srgbClr val="DFF9FF"/>
                </a:solidFill>
              </a:rPr>
              <a:t>P</a:t>
            </a:r>
            <a:r>
              <a:rPr lang="en-US" sz="1800" dirty="0" err="1">
                <a:solidFill>
                  <a:srgbClr val="DFF9FF"/>
                </a:solidFill>
              </a:rPr>
              <a:t>emantau</a:t>
            </a:r>
            <a:r>
              <a:rPr lang="en-US" sz="1800" dirty="0">
                <a:solidFill>
                  <a:srgbClr val="DFF9FF"/>
                </a:solidFill>
              </a:rPr>
              <a:t> kualitas air </a:t>
            </a:r>
            <a:r>
              <a:rPr lang="en-US" sz="1800" dirty="0" err="1">
                <a:solidFill>
                  <a:srgbClr val="DFF9FF"/>
                </a:solidFill>
              </a:rPr>
              <a:t>berbasis</a:t>
            </a:r>
            <a:r>
              <a:rPr lang="id-ID" sz="1800">
                <a:solidFill>
                  <a:srgbClr val="DFF9FF"/>
                </a:solidFill>
              </a:rPr>
              <a:t> IoT dan</a:t>
            </a:r>
            <a:r>
              <a:rPr lang="en-US" sz="1800">
                <a:solidFill>
                  <a:srgbClr val="DFF9FF"/>
                </a:solidFill>
              </a:rPr>
              <a:t> </a:t>
            </a:r>
            <a:r>
              <a:rPr lang="en-US" sz="1800" dirty="0">
                <a:solidFill>
                  <a:srgbClr val="DFF9FF"/>
                </a:solidFill>
              </a:rPr>
              <a:t>web untuk edukasi lingkungan dan kesehatan sekolah.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85800" y="4206240"/>
            <a:ext cx="822960" cy="45720"/>
          </a:xfrm>
          <a:prstGeom prst="rect">
            <a:avLst/>
          </a:prstGeom>
          <a:solidFill>
            <a:srgbClr val="63D6B8"/>
          </a:solidFill>
          <a:ln w="12700">
            <a:solidFill>
              <a:srgbClr val="63D6B8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44805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d-ID" sz="1200" b="1" dirty="0">
                <a:solidFill>
                  <a:srgbClr val="BFF7EC"/>
                </a:solidFill>
              </a:rPr>
              <a:t>Ahmad Nursyifa (NIM.2530712)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3B5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Masalah yang Ingin Dijawab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784"/>
                </a:solidFill>
              </a:rPr>
              <a:t>Kualitas air penting, tetapi pemantauan di sekolah belum selalu mudah dilakukan.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960120" cy="45720"/>
          </a:xfrm>
          <a:prstGeom prst="rect">
            <a:avLst/>
          </a:prstGeom>
          <a:solidFill>
            <a:srgbClr val="10A7A7"/>
          </a:solidFill>
          <a:ln w="12700">
            <a:solidFill>
              <a:srgbClr val="10A7A7">
                <a:alpha val="0"/>
              </a:srgbClr>
            </a:solidFill>
            <a:prstDash val="solid"/>
          </a:ln>
        </p:spPr>
      </p:sp>
      <p:pic>
        <p:nvPicPr>
          <p:cNvPr id="5" name="Image 0" descr="/mnt/data/device_righ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0"/>
            <a:ext cx="5287975" cy="6858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29400" y="0"/>
            <a:ext cx="45720" cy="6858000"/>
          </a:xfrm>
          <a:prstGeom prst="rect">
            <a:avLst/>
          </a:prstGeom>
          <a:solidFill>
            <a:srgbClr val="D7EEF5"/>
          </a:solidFill>
          <a:ln w="12700">
            <a:solidFill>
              <a:srgbClr val="D7EEF5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645920"/>
            <a:ext cx="502920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7EC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1847088"/>
            <a:ext cx="329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💧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89888" y="181051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63B52"/>
                </a:solidFill>
              </a:rPr>
              <a:t>Biaya &amp; waktu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389888" y="209397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C7784"/>
                </a:solidFill>
              </a:rPr>
              <a:t>Pengujian kualitas air secara konvensional sering membutuhkan biaya tinggi dan prosesnya tidak cepat.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85800" y="2880360"/>
            <a:ext cx="502920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7ECF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081528"/>
            <a:ext cx="329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⏱️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389888" y="304495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63B52"/>
                </a:solidFill>
              </a:rPr>
              <a:t>Tidak real-time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389888" y="332841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C7784"/>
                </a:solidFill>
              </a:rPr>
              <a:t>Data pH dan kekeruhan tidak selalu tersedia saat warga sekolah membutuhkan informasi.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85800" y="4114800"/>
            <a:ext cx="502920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8890">
            <a:solidFill>
              <a:srgbClr val="D7EC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6112" y="4315968"/>
            <a:ext cx="329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389888" y="427939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63B52"/>
                </a:solidFill>
              </a:rPr>
              <a:t>Pembelajaran masih teoritis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1389888" y="456285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C7784"/>
                </a:solidFill>
              </a:rPr>
              <a:t>IoT dan web development lebih kuat saat dipakai untuk menyelesaikan masalah nyata.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646920" y="651967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7A6B1"/>
                </a:solidFill>
              </a:rPr>
              <a:t>Smart Water Monitor  ·  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ab_sid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09360" y="0"/>
            <a:ext cx="45720" cy="6858000"/>
          </a:xfrm>
          <a:prstGeom prst="rect">
            <a:avLst/>
          </a:prstGeom>
          <a:solidFill>
            <a:srgbClr val="63D6B8"/>
          </a:solidFill>
          <a:ln w="12700">
            <a:solidFill>
              <a:srgbClr val="63D6B8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" y="640080"/>
            <a:ext cx="4846320" cy="5349240"/>
          </a:xfrm>
          <a:prstGeom prst="roundRect">
            <a:avLst>
              <a:gd name="adj" fmla="val 4151"/>
            </a:avLst>
          </a:prstGeom>
          <a:solidFill>
            <a:srgbClr val="FFFFFF"/>
          </a:solidFill>
          <a:ln w="10160">
            <a:solidFill>
              <a:srgbClr val="D8EEF3">
                <a:alpha val="9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60120" y="9601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A7A7"/>
                </a:solidFill>
              </a:rPr>
              <a:t>Visi Projek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960120" y="1389888"/>
            <a:ext cx="4114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63B5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Teknologi yang tidak berhenti di kelas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960120" y="2423160"/>
            <a:ext cx="40050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5313F"/>
                </a:solidFill>
              </a:rPr>
              <a:t>Siswa diajak merakit sensor, membaca data, membuat dashboard, lalu memakai hasilnya untuk menjaga kualitas air di lingkungan sekolah.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60120" y="3675888"/>
            <a:ext cx="1874520" cy="102412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7620">
            <a:solidFill>
              <a:srgbClr val="D7ECF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384048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0A7A7"/>
                </a:solidFill>
              </a:rPr>
              <a:t>🌊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563624" y="3849624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3B5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SDG 6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563624" y="424281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7784"/>
                </a:solidFill>
              </a:rPr>
              <a:t>Air bersih &amp; sanitasi layak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035808" y="3675888"/>
            <a:ext cx="1874520" cy="102412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7620">
            <a:solidFill>
              <a:srgbClr val="D7EC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172968" y="384048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BD28D"/>
                </a:solidFill>
              </a:rPr>
              <a:t>🎓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639312" y="3849624"/>
            <a:ext cx="1124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3B5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SDG 4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639312" y="4242816"/>
            <a:ext cx="11612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C7784"/>
                </a:solidFill>
              </a:rPr>
              <a:t>Keterampilan teknis siswa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646920" y="651967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7A6B1"/>
                </a:solidFill>
              </a:rPr>
              <a:t>Smart Water Monitor  ·  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3B5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Alur Solusi Sistem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784"/>
                </a:solidFill>
              </a:rPr>
              <a:t>Dari air di lapangan sampai dashboard web yang bisa dibaca warga sekolah.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960120" cy="45720"/>
          </a:xfrm>
          <a:prstGeom prst="rect">
            <a:avLst/>
          </a:prstGeom>
          <a:solidFill>
            <a:srgbClr val="10A7A7"/>
          </a:solidFill>
          <a:ln w="12700">
            <a:solidFill>
              <a:srgbClr val="10A7A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12848" y="3465576"/>
            <a:ext cx="594360" cy="0"/>
          </a:xfrm>
          <a:prstGeom prst="line">
            <a:avLst/>
          </a:prstGeom>
          <a:noFill/>
          <a:ln w="25400">
            <a:solidFill>
              <a:srgbClr val="9CD7E4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315968" y="3465576"/>
            <a:ext cx="594360" cy="0"/>
          </a:xfrm>
          <a:prstGeom prst="line">
            <a:avLst/>
          </a:prstGeom>
          <a:noFill/>
          <a:ln w="25400">
            <a:solidFill>
              <a:srgbClr val="9CD7E4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419088" y="3465576"/>
            <a:ext cx="594360" cy="0"/>
          </a:xfrm>
          <a:prstGeom prst="line">
            <a:avLst/>
          </a:prstGeom>
          <a:noFill/>
          <a:ln w="25400">
            <a:solidFill>
              <a:srgbClr val="9CD7E4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522208" y="3465576"/>
            <a:ext cx="594360" cy="0"/>
          </a:xfrm>
          <a:prstGeom prst="line">
            <a:avLst/>
          </a:prstGeom>
          <a:noFill/>
          <a:ln w="25400">
            <a:solidFill>
              <a:srgbClr val="9CD7E4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13232" y="2926080"/>
            <a:ext cx="1508760" cy="1078992"/>
          </a:xfrm>
          <a:prstGeom prst="roundRect">
            <a:avLst>
              <a:gd name="adj" fmla="val 14407"/>
            </a:avLst>
          </a:prstGeom>
          <a:solidFill>
            <a:srgbClr val="FFFFFF"/>
          </a:solidFill>
          <a:ln w="11430">
            <a:solidFill>
              <a:srgbClr val="CFE6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43584" y="3063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💧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04672" y="34564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063B52"/>
                </a:solidFill>
              </a:rPr>
              <a:t>Air sekolah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804672" y="372160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C7784"/>
                </a:solidFill>
              </a:rPr>
              <a:t>Tandon / kran / kolam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2816352" y="2926080"/>
            <a:ext cx="1508760" cy="1078992"/>
          </a:xfrm>
          <a:prstGeom prst="roundRect">
            <a:avLst>
              <a:gd name="adj" fmla="val 14407"/>
            </a:avLst>
          </a:prstGeom>
          <a:solidFill>
            <a:srgbClr val="FFFFFF"/>
          </a:solidFill>
          <a:ln w="11430">
            <a:solidFill>
              <a:srgbClr val="CFE6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46704" y="3063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907792" y="34564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063B52"/>
                </a:solidFill>
              </a:rPr>
              <a:t>Sensor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2907792" y="372160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C7784"/>
                </a:solidFill>
              </a:rPr>
              <a:t>pH, turbidity, suhu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919472" y="2926080"/>
            <a:ext cx="1508760" cy="1078992"/>
          </a:xfrm>
          <a:prstGeom prst="roundRect">
            <a:avLst>
              <a:gd name="adj" fmla="val 14407"/>
            </a:avLst>
          </a:prstGeom>
          <a:solidFill>
            <a:srgbClr val="FFFFFF"/>
          </a:solidFill>
          <a:ln w="11430">
            <a:solidFill>
              <a:srgbClr val="CFE6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9824" y="3063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010912" y="34564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063B52"/>
                </a:solidFill>
              </a:rPr>
              <a:t>ESP32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5010912" y="372160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C7784"/>
                </a:solidFill>
              </a:rPr>
              <a:t>olah &amp; kirim data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7022592" y="2926080"/>
            <a:ext cx="1508760" cy="1078992"/>
          </a:xfrm>
          <a:prstGeom prst="roundRect">
            <a:avLst>
              <a:gd name="adj" fmla="val 14407"/>
            </a:avLst>
          </a:prstGeom>
          <a:solidFill>
            <a:srgbClr val="FFFFFF"/>
          </a:solidFill>
          <a:ln w="11430">
            <a:solidFill>
              <a:srgbClr val="CFE6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52944" y="3063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114032" y="34564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063B52"/>
                </a:solidFill>
              </a:rPr>
              <a:t>Cloud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7114032" y="372160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C7784"/>
                </a:solidFill>
              </a:rPr>
              <a:t>Firebase / MQTT / API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9125712" y="2926080"/>
            <a:ext cx="1508760" cy="1078992"/>
          </a:xfrm>
          <a:prstGeom prst="roundRect">
            <a:avLst>
              <a:gd name="adj" fmla="val 14407"/>
            </a:avLst>
          </a:prstGeom>
          <a:solidFill>
            <a:srgbClr val="FFFFFF"/>
          </a:solidFill>
          <a:ln w="11430">
            <a:solidFill>
              <a:srgbClr val="CFE6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56064" y="3063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217152" y="345643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063B52"/>
                </a:solidFill>
              </a:rPr>
              <a:t>Dashboard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9217152" y="3721608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5C7784"/>
                </a:solidFill>
              </a:rPr>
              <a:t>grafik &amp; indikator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777240" y="1600200"/>
            <a:ext cx="10607040" cy="676656"/>
          </a:xfrm>
          <a:prstGeom prst="roundRect">
            <a:avLst>
              <a:gd name="adj" fmla="val 16216"/>
            </a:avLst>
          </a:prstGeom>
          <a:solidFill>
            <a:srgbClr val="E8F8FC"/>
          </a:solidFill>
          <a:ln w="10160">
            <a:solidFill>
              <a:srgbClr val="D8EEF3">
                <a:alpha val="9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1828800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063B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Intinya: alat membaca kualitas air secara kuantitatif, mengirim data via Wi‑Fi, lalu menampilkannya secara real-time agar mudah dipahami.</a:t>
            </a:r>
            <a:endParaRPr lang="en-US" sz="1520" dirty="0"/>
          </a:p>
        </p:txBody>
      </p:sp>
      <p:sp>
        <p:nvSpPr>
          <p:cNvPr id="31" name="Text 29"/>
          <p:cNvSpPr/>
          <p:nvPr/>
        </p:nvSpPr>
        <p:spPr>
          <a:xfrm>
            <a:off x="9646920" y="651967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7A6B1"/>
                </a:solidFill>
              </a:rPr>
              <a:t>Smart Water Monitor  ·  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3B5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Tujuan Projek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784"/>
                </a:solidFill>
              </a:rPr>
              <a:t>Hasil yang ingin dicapai bukan hanya alat, tetapi juga pengalaman belajar yang bermakna.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960120" cy="45720"/>
          </a:xfrm>
          <a:prstGeom prst="rect">
            <a:avLst/>
          </a:prstGeom>
          <a:solidFill>
            <a:srgbClr val="10A7A7"/>
          </a:solidFill>
          <a:ln w="12700">
            <a:solidFill>
              <a:srgbClr val="10A7A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45920"/>
            <a:ext cx="4983480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8890">
            <a:solidFill>
              <a:srgbClr val="D5EA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" y="1956816"/>
            <a:ext cx="658368" cy="658368"/>
          </a:xfrm>
          <a:prstGeom prst="ellipse">
            <a:avLst/>
          </a:prstGeom>
          <a:solidFill>
            <a:srgbClr val="10A7A7">
              <a:alpha val="85000"/>
            </a:srgbClr>
          </a:solidFill>
          <a:ln w="12700">
            <a:solidFill>
              <a:srgbClr val="10A7A7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9576" y="21122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20240" y="19385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3B52"/>
                </a:solidFill>
              </a:rPr>
              <a:t>Teknis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20240" y="230428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C7784"/>
                </a:solidFill>
              </a:rPr>
              <a:t>Melatih siswa merakit mikrokontroler, membaca sensor pH dan kekeruhan, lalu menampilkan data ke web.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90488" y="1645920"/>
            <a:ext cx="4983480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8890">
            <a:solidFill>
              <a:srgbClr val="D5EA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10528" y="1956816"/>
            <a:ext cx="658368" cy="658368"/>
          </a:xfrm>
          <a:prstGeom prst="ellipse">
            <a:avLst/>
          </a:prstGeom>
          <a:solidFill>
            <a:srgbClr val="47C6E8">
              <a:alpha val="85000"/>
            </a:srgbClr>
          </a:solidFill>
          <a:ln w="12700">
            <a:solidFill>
              <a:srgbClr val="47C6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0256" y="211226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🧪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60920" y="19385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3B52"/>
                </a:solidFill>
              </a:rPr>
              <a:t>Produk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60920" y="230428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C7784"/>
                </a:solidFill>
              </a:rPr>
              <a:t>Menghasilkan 1–2 unit prototipe alat IoT yang terhubung dengan dashboard real-time.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9808" y="3520440"/>
            <a:ext cx="4983480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8890">
            <a:solidFill>
              <a:srgbClr val="D5EA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9848" y="3831336"/>
            <a:ext cx="658368" cy="658368"/>
          </a:xfrm>
          <a:prstGeom prst="ellipse">
            <a:avLst/>
          </a:prstGeom>
          <a:solidFill>
            <a:srgbClr val="6BD28D">
              <a:alpha val="85000"/>
            </a:srgbClr>
          </a:solidFill>
          <a:ln w="12700">
            <a:solidFill>
              <a:srgbClr val="6BD28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9576" y="39867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🌱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920240" y="3813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3B52"/>
                </a:solidFill>
              </a:rPr>
              <a:t>Lingkungan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920240" y="417880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C7784"/>
                </a:solidFill>
              </a:rPr>
              <a:t>Membantu warga sekolah memahami standar air bersih berdasarkan data yang mudah dibaca.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90488" y="3520440"/>
            <a:ext cx="4983480" cy="13716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8890">
            <a:solidFill>
              <a:srgbClr val="D5EA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0528" y="3831336"/>
            <a:ext cx="658368" cy="658368"/>
          </a:xfrm>
          <a:prstGeom prst="ellipse">
            <a:avLst/>
          </a:prstGeom>
          <a:solidFill>
            <a:srgbClr val="F2C36B">
              <a:alpha val="85000"/>
            </a:srgbClr>
          </a:solidFill>
          <a:ln w="12700">
            <a:solidFill>
              <a:srgbClr val="F2C36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0256" y="39867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60920" y="3813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3B52"/>
                </a:solidFill>
              </a:rPr>
              <a:t>Kepemimpinan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60920" y="417880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C7784"/>
                </a:solidFill>
              </a:rPr>
              <a:t>Menguatkan manajemen proyek, pembagian peran, knowledge sharing, dan kemitraan.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646920" y="651967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7A6B1"/>
                </a:solidFill>
              </a:rPr>
              <a:t>Smart Water Monitor  ·  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3B5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Sasaran &amp; Mitra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784"/>
                </a:solidFill>
              </a:rPr>
              <a:t>Projek dirancang untuk konteks sekolah dan komunitas belajar.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960120" cy="45720"/>
          </a:xfrm>
          <a:prstGeom prst="rect">
            <a:avLst/>
          </a:prstGeom>
          <a:solidFill>
            <a:srgbClr val="10A7A7"/>
          </a:solidFill>
          <a:ln w="12700">
            <a:solidFill>
              <a:srgbClr val="10A7A7">
                <a:alpha val="0"/>
              </a:srgbClr>
            </a:solidFill>
            <a:prstDash val="solid"/>
          </a:ln>
        </p:spPr>
      </p:sp>
      <p:pic>
        <p:nvPicPr>
          <p:cNvPr id="5" name="Image 0" descr="/mnt/data/workshop_c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54480"/>
            <a:ext cx="498348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80760" y="15727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3B52"/>
                </a:solidFill>
              </a:rPr>
              <a:t>Sasaran Utama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080760" y="194767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15313F"/>
                </a:solidFill>
              </a:rPr>
              <a:t>Siswa SMA/SMK, terutama jurusan TIK, Informatika, MIPA, atau anggota klub sains/komputer.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080760" y="29260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3B52"/>
                </a:solidFill>
              </a:rPr>
              <a:t>Mitra Strategis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080760" y="3337560"/>
            <a:ext cx="4892040" cy="457200"/>
          </a:xfrm>
          <a:prstGeom prst="roundRect">
            <a:avLst>
              <a:gd name="adj" fmla="val 20000"/>
            </a:avLst>
          </a:prstGeom>
          <a:solidFill>
            <a:srgbClr val="EAF8FB"/>
          </a:solidFill>
          <a:ln w="12700">
            <a:solidFill>
              <a:srgbClr val="D4EAF0">
                <a:alpha val="8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91072" y="345643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5570"/>
                </a:solidFill>
              </a:rPr>
              <a:t>UKS / fasilitas air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321040" y="345643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784"/>
                </a:solidFill>
              </a:rPr>
              <a:t>pengelola sumber air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080760" y="3995928"/>
            <a:ext cx="4892040" cy="457200"/>
          </a:xfrm>
          <a:prstGeom prst="roundRect">
            <a:avLst>
              <a:gd name="adj" fmla="val 20000"/>
            </a:avLst>
          </a:prstGeom>
          <a:solidFill>
            <a:srgbClr val="EAF8FB"/>
          </a:solidFill>
          <a:ln w="12700">
            <a:solidFill>
              <a:srgbClr val="D4EAF0">
                <a:alpha val="8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91072" y="4114800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5570"/>
                </a:solidFill>
              </a:rPr>
              <a:t>Guru Informatika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321040" y="4114800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784"/>
                </a:solidFill>
              </a:rPr>
              <a:t>pendamping pembelajaran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080760" y="4654296"/>
            <a:ext cx="4892040" cy="457200"/>
          </a:xfrm>
          <a:prstGeom prst="roundRect">
            <a:avLst>
              <a:gd name="adj" fmla="val 20000"/>
            </a:avLst>
          </a:prstGeom>
          <a:solidFill>
            <a:srgbClr val="EAF8FB"/>
          </a:solidFill>
          <a:ln w="12700">
            <a:solidFill>
              <a:srgbClr val="D4EAF0">
                <a:alpha val="8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91072" y="47731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5570"/>
                </a:solidFill>
              </a:rPr>
              <a:t>Komunitas siswa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321040" y="4773168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784"/>
                </a:solidFill>
              </a:rPr>
              <a:t>tim praktik &amp; edukasi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646920" y="651967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7A6B1"/>
                </a:solidFill>
              </a:rPr>
              <a:t>Smart Water Monitor  ·  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3B5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Empat Pilar Kegiatan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784"/>
                </a:solidFill>
              </a:rPr>
              <a:t>Mekanisme kerja dibuat bertahap: belajar, membangun, memasang, lalu menyerahkan sistem.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960120" cy="45720"/>
          </a:xfrm>
          <a:prstGeom prst="rect">
            <a:avLst/>
          </a:prstGeom>
          <a:solidFill>
            <a:srgbClr val="10A7A7"/>
          </a:solidFill>
          <a:ln w="12700">
            <a:solidFill>
              <a:srgbClr val="10A7A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37360"/>
            <a:ext cx="2395728" cy="3246120"/>
          </a:xfrm>
          <a:prstGeom prst="roundRect">
            <a:avLst>
              <a:gd name="adj" fmla="val 6870"/>
            </a:avLst>
          </a:prstGeom>
          <a:solidFill>
            <a:srgbClr val="FFFFFF"/>
          </a:solidFill>
          <a:ln w="8890">
            <a:solidFill>
              <a:srgbClr val="D3E9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9933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A7A7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23774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🔧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96112" y="30632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63B52"/>
                </a:solidFill>
              </a:rPr>
              <a:t>Hardware &amp; IoT Assembly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3822192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C7784"/>
                </a:solidFill>
              </a:rPr>
              <a:t>Workshop perakitan ESP32/NodeMCU, sensor pH, dan sensor kekeruhan.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3529584" y="1737360"/>
            <a:ext cx="2395728" cy="3246120"/>
          </a:xfrm>
          <a:prstGeom prst="roundRect">
            <a:avLst>
              <a:gd name="adj" fmla="val 6870"/>
            </a:avLst>
          </a:prstGeom>
          <a:solidFill>
            <a:srgbClr val="FFFFFF"/>
          </a:solidFill>
          <a:ln w="8890">
            <a:solidFill>
              <a:srgbClr val="D3E9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12464" y="19933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6E9C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12464" y="23774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💻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712464" y="30632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63B52"/>
                </a:solidFill>
              </a:rPr>
              <a:t>Web Dashboard Development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12464" y="3822192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C7784"/>
                </a:solidFill>
              </a:rPr>
              <a:t>Bimbingan pembuatan dashboard web dengan grafik parameter air real-time.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6345936" y="1737360"/>
            <a:ext cx="2395728" cy="3246120"/>
          </a:xfrm>
          <a:prstGeom prst="roundRect">
            <a:avLst>
              <a:gd name="adj" fmla="val 6870"/>
            </a:avLst>
          </a:prstGeom>
          <a:solidFill>
            <a:srgbClr val="FFFFFF"/>
          </a:solidFill>
          <a:ln w="8890">
            <a:solidFill>
              <a:srgbClr val="D3E9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28816" y="19933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C6E8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28816" y="23774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🧭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528816" y="30632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63B52"/>
                </a:solidFill>
              </a:rPr>
              <a:t>Instalasi &amp; Pengujian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28816" y="3822192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C7784"/>
                </a:solidFill>
              </a:rPr>
              <a:t>Pemasangan unit sensor pada sumber air sekolah dan kalibrasi alat.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9162288" y="1737360"/>
            <a:ext cx="2395728" cy="3246120"/>
          </a:xfrm>
          <a:prstGeom prst="roundRect">
            <a:avLst>
              <a:gd name="adj" fmla="val 6870"/>
            </a:avLst>
          </a:prstGeom>
          <a:solidFill>
            <a:srgbClr val="FFFFFF"/>
          </a:solidFill>
          <a:ln w="8890">
            <a:solidFill>
              <a:srgbClr val="D3E9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45168" y="19933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D28D"/>
                </a:solidFill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45168" y="23774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📘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345168" y="306324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63B52"/>
                </a:solidFill>
              </a:rPr>
              <a:t>Edukasi &amp; Handover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345168" y="3822192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dirty="0">
                <a:solidFill>
                  <a:srgbClr val="5C7784"/>
                </a:solidFill>
              </a:rPr>
              <a:t>Sosialisasi cara membaca data serta penyerahan panduan perawatan.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9646920" y="651967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7A6B1"/>
                </a:solidFill>
              </a:rPr>
              <a:t>Smart Water Monitor  ·  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3B5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Timeline 12 Minggu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784"/>
                </a:solidFill>
              </a:rPr>
              <a:t>Rencana pelaksanaan dipadatkan ke dalam empat tahap selama tiga bulan.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960120" cy="45720"/>
          </a:xfrm>
          <a:prstGeom prst="rect">
            <a:avLst/>
          </a:prstGeom>
          <a:solidFill>
            <a:srgbClr val="10A7A7"/>
          </a:solidFill>
          <a:ln w="12700">
            <a:solidFill>
              <a:srgbClr val="10A7A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" y="2788920"/>
            <a:ext cx="9921240" cy="0"/>
          </a:xfrm>
          <a:prstGeom prst="line">
            <a:avLst/>
          </a:prstGeom>
          <a:noFill/>
          <a:ln w="25400">
            <a:solidFill>
              <a:srgbClr val="BBDD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3154680"/>
            <a:ext cx="256032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8890">
            <a:solidFill>
              <a:srgbClr val="CDE6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319272"/>
            <a:ext cx="420624" cy="420624"/>
          </a:xfrm>
          <a:prstGeom prst="ellipse">
            <a:avLst/>
          </a:prstGeom>
          <a:solidFill>
            <a:srgbClr val="10A7A7"/>
          </a:solidFill>
          <a:ln w="12700">
            <a:solidFill>
              <a:srgbClr val="10A7A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415284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44168" y="3310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63B52"/>
                </a:solidFill>
              </a:rPr>
              <a:t>Inisiasi &amp; kebutuhan alat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44168" y="36393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A7A7"/>
                </a:solidFill>
              </a:rPr>
              <a:t>Minggu 1–3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44168" y="39044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C7784"/>
                </a:solidFill>
              </a:rPr>
              <a:t>Survei lokasi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C7784"/>
                </a:solidFill>
              </a:rPr>
              <a:t>Tim &amp; komponen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83280" y="3154680"/>
            <a:ext cx="256032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8890">
            <a:solidFill>
              <a:srgbClr val="CDE6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47872" y="3319272"/>
            <a:ext cx="420624" cy="420624"/>
          </a:xfrm>
          <a:prstGeom prst="ellipse">
            <a:avLst/>
          </a:prstGeom>
          <a:solidFill>
            <a:srgbClr val="116E9C"/>
          </a:solidFill>
          <a:ln w="12700">
            <a:solidFill>
              <a:srgbClr val="116E9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3415284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69080" y="3310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63B52"/>
                </a:solidFill>
              </a:rPr>
              <a:t>R&amp;D prototipe web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069080" y="36393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6E9C"/>
                </a:solidFill>
              </a:rPr>
              <a:t>Minggu 4–6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069080" y="39044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C7784"/>
                </a:solidFill>
              </a:rPr>
              <a:t>Kode sensor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C7784"/>
                </a:solidFill>
              </a:rPr>
              <a:t>Dashboard &amp; database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08192" y="3154680"/>
            <a:ext cx="256032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8890">
            <a:solidFill>
              <a:srgbClr val="CDE6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784" y="3319272"/>
            <a:ext cx="420624" cy="420624"/>
          </a:xfrm>
          <a:prstGeom prst="ellipse">
            <a:avLst/>
          </a:prstGeom>
          <a:solidFill>
            <a:srgbClr val="47C6E8"/>
          </a:solidFill>
          <a:ln w="12700">
            <a:solidFill>
              <a:srgbClr val="47C6E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3415284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93992" y="3310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63B52"/>
                </a:solidFill>
              </a:rPr>
              <a:t>Workshop &amp; perakitan siswa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793992" y="36393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7C6E8"/>
                </a:solidFill>
              </a:rPr>
              <a:t>Minggu 7–9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93992" y="39044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C7784"/>
                </a:solidFill>
              </a:rPr>
              <a:t>Praktik hardware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C7784"/>
                </a:solidFill>
              </a:rPr>
              <a:t>Integrasi sistem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833104" y="3154680"/>
            <a:ext cx="256032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8890">
            <a:solidFill>
              <a:srgbClr val="CDE6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97696" y="3319272"/>
            <a:ext cx="420624" cy="420624"/>
          </a:xfrm>
          <a:prstGeom prst="ellipse">
            <a:avLst/>
          </a:prstGeom>
          <a:solidFill>
            <a:srgbClr val="6BD28D"/>
          </a:solidFill>
          <a:ln w="12700">
            <a:solidFill>
              <a:srgbClr val="6BD28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97696" y="3415284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518904" y="33101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063B52"/>
                </a:solidFill>
              </a:rPr>
              <a:t>Instalasi &amp; evaluasi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518904" y="36393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BD28D"/>
                </a:solidFill>
              </a:rPr>
              <a:t>Minggu 10–12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518904" y="39044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C7784"/>
                </a:solidFill>
              </a:rPr>
              <a:t>Beta testing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C7784"/>
                </a:solidFill>
              </a:rPr>
              <a:t>Manual &amp; serah terima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88720" y="1600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A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1234440" y="21762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5313F"/>
                </a:solidFill>
              </a:rPr>
              <a:t>bulan pelaksanaan</a:t>
            </a:r>
            <a:endParaRPr lang="en-US" sz="1220" dirty="0"/>
          </a:p>
        </p:txBody>
      </p:sp>
      <p:sp>
        <p:nvSpPr>
          <p:cNvPr id="32" name="Text 30"/>
          <p:cNvSpPr/>
          <p:nvPr/>
        </p:nvSpPr>
        <p:spPr>
          <a:xfrm>
            <a:off x="3383280" y="1600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16E9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3000" dirty="0"/>
          </a:p>
        </p:txBody>
      </p:sp>
      <p:sp>
        <p:nvSpPr>
          <p:cNvPr id="33" name="Text 31"/>
          <p:cNvSpPr/>
          <p:nvPr/>
        </p:nvSpPr>
        <p:spPr>
          <a:xfrm>
            <a:off x="3429000" y="21762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5313F"/>
                </a:solidFill>
              </a:rPr>
              <a:t>tahap utama</a:t>
            </a:r>
            <a:endParaRPr lang="en-US" sz="1220" dirty="0"/>
          </a:p>
        </p:txBody>
      </p:sp>
      <p:sp>
        <p:nvSpPr>
          <p:cNvPr id="34" name="Text 32"/>
          <p:cNvSpPr/>
          <p:nvPr/>
        </p:nvSpPr>
        <p:spPr>
          <a:xfrm>
            <a:off x="5577840" y="1600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7C6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5623560" y="21762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5313F"/>
                </a:solidFill>
              </a:rPr>
              <a:t>minggu kerja</a:t>
            </a:r>
            <a:endParaRPr lang="en-US" sz="1220" dirty="0"/>
          </a:p>
        </p:txBody>
      </p:sp>
      <p:sp>
        <p:nvSpPr>
          <p:cNvPr id="36" name="Text 34"/>
          <p:cNvSpPr/>
          <p:nvPr/>
        </p:nvSpPr>
        <p:spPr>
          <a:xfrm>
            <a:off x="7772400" y="160020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BD28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1–2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7818120" y="217627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20" dirty="0">
                <a:solidFill>
                  <a:srgbClr val="15313F"/>
                </a:solidFill>
              </a:rPr>
              <a:t>minggu uji lapangan</a:t>
            </a:r>
            <a:endParaRPr lang="en-US" sz="1220" dirty="0"/>
          </a:p>
        </p:txBody>
      </p:sp>
      <p:sp>
        <p:nvSpPr>
          <p:cNvPr id="38" name="Text 36"/>
          <p:cNvSpPr/>
          <p:nvPr/>
        </p:nvSpPr>
        <p:spPr>
          <a:xfrm>
            <a:off x="9646920" y="651967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7A6B1"/>
                </a:solidFill>
              </a:rPr>
              <a:t>Smart Water Monitor  ·  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3B5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Indikator Keberhasilan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784"/>
                </a:solidFill>
              </a:rPr>
              <a:t>Target dibuat jelas agar hasil projek bisa dievaluasi dengan sederhana.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960120" cy="45720"/>
          </a:xfrm>
          <a:prstGeom prst="rect">
            <a:avLst/>
          </a:prstGeom>
          <a:solidFill>
            <a:srgbClr val="10A7A7"/>
          </a:solidFill>
          <a:ln w="12700">
            <a:solidFill>
              <a:srgbClr val="10A7A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2331720" cy="2971800"/>
          </a:xfrm>
          <a:prstGeom prst="roundRect">
            <a:avLst>
              <a:gd name="adj" fmla="val 8627"/>
            </a:avLst>
          </a:prstGeom>
          <a:solidFill>
            <a:srgbClr val="FFFFFF"/>
          </a:solidFill>
          <a:ln w="8890">
            <a:solidFill>
              <a:srgbClr val="D4EA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2402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0A7A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+40%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960120" y="32461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3B52"/>
                </a:solidFill>
              </a:rPr>
              <a:t>Pemahaman siswa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33272" y="36850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7784"/>
                </a:solidFill>
              </a:rPr>
              <a:t>Pre-test ke post-test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66160" y="1828800"/>
            <a:ext cx="2331720" cy="2971800"/>
          </a:xfrm>
          <a:prstGeom prst="roundRect">
            <a:avLst>
              <a:gd name="adj" fmla="val 8627"/>
            </a:avLst>
          </a:prstGeom>
          <a:solidFill>
            <a:srgbClr val="FFFFFF"/>
          </a:solidFill>
          <a:ln w="8890">
            <a:solidFill>
              <a:srgbClr val="D4EA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22402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116E9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sistem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3794760" y="32461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3B52"/>
                </a:solidFill>
              </a:rPr>
              <a:t>Produk teknologi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867912" y="36850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7784"/>
                </a:solidFill>
              </a:rPr>
              <a:t>Sistem IoT &amp; web dashboard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0" y="1828800"/>
            <a:ext cx="2331720" cy="2971800"/>
          </a:xfrm>
          <a:prstGeom prst="roundRect">
            <a:avLst>
              <a:gd name="adj" fmla="val 8627"/>
            </a:avLst>
          </a:prstGeom>
          <a:solidFill>
            <a:srgbClr val="FFFFFF"/>
          </a:solidFill>
          <a:ln w="8890">
            <a:solidFill>
              <a:srgbClr val="D4EA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2402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47C6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&gt;90%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6629400" y="32461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3B52"/>
                </a:solidFill>
              </a:rPr>
              <a:t>Stabilitas data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02552" y="36850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7784"/>
                </a:solidFill>
              </a:rPr>
              <a:t>Pengiriman via Wi‑Fi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235440" y="1828800"/>
            <a:ext cx="2331720" cy="2971800"/>
          </a:xfrm>
          <a:prstGeom prst="roundRect">
            <a:avLst>
              <a:gd name="adj" fmla="val 8627"/>
            </a:avLst>
          </a:prstGeom>
          <a:solidFill>
            <a:srgbClr val="FFFFFF"/>
          </a:solidFill>
          <a:ln w="8890">
            <a:solidFill>
              <a:srgbClr val="D4EA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72600" y="22402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6BD28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SOP</a:t>
            </a:r>
            <a:endParaRPr lang="en-US" sz="3100" dirty="0"/>
          </a:p>
        </p:txBody>
      </p:sp>
      <p:sp>
        <p:nvSpPr>
          <p:cNvPr id="19" name="Text 17"/>
          <p:cNvSpPr/>
          <p:nvPr/>
        </p:nvSpPr>
        <p:spPr>
          <a:xfrm>
            <a:off x="9464040" y="32461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63B52"/>
                </a:solidFill>
              </a:rPr>
              <a:t>Keberlanjutan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537192" y="36850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5C7784"/>
                </a:solidFill>
              </a:rPr>
              <a:t>Manual book / SOP perawatan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46920" y="651967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7A6B1"/>
                </a:solidFill>
              </a:rPr>
              <a:t>Smart Water Monitor  ·  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3B5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Hardware &amp; 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784"/>
                </a:solidFill>
              </a:rPr>
              <a:t>Komponen dipilih agar prototipe tetap terjangkau, mudah dipelajari, dan bisa dikembangkan.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960120" cy="45720"/>
          </a:xfrm>
          <a:prstGeom prst="rect">
            <a:avLst/>
          </a:prstGeom>
          <a:solidFill>
            <a:srgbClr val="10A7A7"/>
          </a:solidFill>
          <a:ln w="12700">
            <a:solidFill>
              <a:srgbClr val="10A7A7">
                <a:alpha val="0"/>
              </a:srgbClr>
            </a:solidFill>
            <a:prstDash val="solid"/>
          </a:ln>
        </p:spPr>
      </p:sp>
      <p:pic>
        <p:nvPicPr>
          <p:cNvPr id="5" name="Image 0" descr="/mnt/data/device_landscap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591056"/>
            <a:ext cx="443484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77840" y="16276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A7A7"/>
                </a:solidFill>
              </a:rPr>
              <a:t>Hardware Layer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623560" y="1993392"/>
            <a:ext cx="137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A7A7"/>
                </a:solidFill>
              </a:rPr>
              <a:t>●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870448" y="196596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3B52"/>
                </a:solidFill>
              </a:rPr>
              <a:t>ESP32 DevKit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406640" y="196596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784"/>
                </a:solidFill>
              </a:rPr>
              <a:t>Wi‑Fi + Bluetooth, ADC 12-bit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623560" y="2523744"/>
            <a:ext cx="137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A7A7"/>
                </a:solidFill>
              </a:rPr>
              <a:t>●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870448" y="249631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3B52"/>
                </a:solidFill>
              </a:rPr>
              <a:t>Sensor pH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406640" y="249631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784"/>
                </a:solidFill>
              </a:rPr>
              <a:t>membaca keasaman air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623560" y="3054096"/>
            <a:ext cx="137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A7A7"/>
                </a:solidFill>
              </a:rPr>
              <a:t>●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70448" y="302666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3B52"/>
                </a:solidFill>
              </a:rPr>
              <a:t>Turbidity sensor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406640" y="302666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784"/>
                </a:solidFill>
              </a:rPr>
              <a:t>membaca kejernihan air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623560" y="3584448"/>
            <a:ext cx="137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A7A7"/>
                </a:solidFill>
              </a:rPr>
              <a:t>●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870448" y="355701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3B52"/>
                </a:solidFill>
              </a:rPr>
              <a:t>DS18B20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406640" y="355701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784"/>
                </a:solidFill>
              </a:rPr>
              <a:t>kompensasi suhu air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577840" y="43159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6E9C"/>
                </a:solidFill>
              </a:rPr>
              <a:t>Software &amp; Cloud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623560" y="4681728"/>
            <a:ext cx="137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6E9C"/>
                </a:solidFill>
              </a:rPr>
              <a:t>●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870448" y="465429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3B52"/>
                </a:solidFill>
              </a:rPr>
              <a:t>Firmware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7406640" y="465429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784"/>
                </a:solidFill>
              </a:rPr>
              <a:t>Arduino IDE / PlatformIO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623560" y="5111496"/>
            <a:ext cx="137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6E9C"/>
                </a:solidFill>
              </a:rPr>
              <a:t>●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5870448" y="508406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3B52"/>
                </a:solidFill>
              </a:rPr>
              <a:t>Transmisi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406640" y="508406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784"/>
                </a:solidFill>
              </a:rPr>
              <a:t>MQTT / HTTP REST API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623560" y="5541264"/>
            <a:ext cx="137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6E9C"/>
                </a:solidFill>
              </a:rPr>
              <a:t>●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870448" y="55138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3B52"/>
                </a:solidFill>
              </a:rPr>
              <a:t>Database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7406640" y="551383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784"/>
                </a:solidFill>
              </a:rPr>
              <a:t>Firebase / ThingSpeak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5623560" y="5971032"/>
            <a:ext cx="137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6E9C"/>
                </a:solidFill>
              </a:rPr>
              <a:t>●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870448" y="5943600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63B52"/>
                </a:solidFill>
              </a:rPr>
              <a:t>Frontend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7406640" y="594360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784"/>
                </a:solidFill>
              </a:rPr>
              <a:t>HTML, Tailwind, JS, Chart.js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9646920" y="651967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7A6B1"/>
                </a:solidFill>
              </a:rPr>
              <a:t>Smart Water Monitor  ·  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3B5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Rencana Anggaran Operasional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896112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784"/>
                </a:solidFill>
              </a:rPr>
              <a:t>Estimasi total kebutuhan biaya projek berdasarkan komponen, cloud, workshop, dan operasional.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94360" y="1280160"/>
            <a:ext cx="960120" cy="45720"/>
          </a:xfrm>
          <a:prstGeom prst="rect">
            <a:avLst/>
          </a:prstGeom>
          <a:solidFill>
            <a:srgbClr val="10A7A7"/>
          </a:solidFill>
          <a:ln w="12700">
            <a:solidFill>
              <a:srgbClr val="10A7A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6459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63B5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Rp2.720.000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86384" y="22128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7784"/>
                </a:solidFill>
              </a:rPr>
              <a:t>Estimasi total kebutuhan biaya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2788920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5313F"/>
                </a:solidFill>
              </a:rPr>
              <a:t>Hardware IoT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3035808" y="2807208"/>
            <a:ext cx="2331720" cy="146304"/>
          </a:xfrm>
          <a:prstGeom prst="rect">
            <a:avLst/>
          </a:prstGeom>
          <a:solidFill>
            <a:srgbClr val="DDEEF4"/>
          </a:solidFill>
          <a:ln w="12700">
            <a:solidFill>
              <a:srgbClr val="DDEEF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35808" y="2807208"/>
            <a:ext cx="1818742" cy="146304"/>
          </a:xfrm>
          <a:prstGeom prst="rect">
            <a:avLst/>
          </a:prstGeom>
          <a:solidFill>
            <a:srgbClr val="10A7A7"/>
          </a:solidFill>
          <a:ln w="12700">
            <a:solidFill>
              <a:srgbClr val="10A7A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04688" y="2770632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784"/>
                </a:solidFill>
              </a:rPr>
              <a:t>Rp780rb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1248" y="3319272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5313F"/>
                </a:solidFill>
              </a:rPr>
              <a:t>Kalibrasi &amp; maintenance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3035808" y="3337560"/>
            <a:ext cx="2331720" cy="146304"/>
          </a:xfrm>
          <a:prstGeom prst="rect">
            <a:avLst/>
          </a:prstGeom>
          <a:solidFill>
            <a:srgbClr val="DDEEF4"/>
          </a:solidFill>
          <a:ln w="12700">
            <a:solidFill>
              <a:srgbClr val="DDEEF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35808" y="3337560"/>
            <a:ext cx="244831" cy="146304"/>
          </a:xfrm>
          <a:prstGeom prst="rect">
            <a:avLst/>
          </a:prstGeom>
          <a:solidFill>
            <a:srgbClr val="47C6E8"/>
          </a:solidFill>
          <a:ln w="12700">
            <a:solidFill>
              <a:srgbClr val="47C6E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04688" y="3300984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784"/>
                </a:solidFill>
              </a:rPr>
              <a:t>Rp105rb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41248" y="38496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5313F"/>
                </a:solidFill>
              </a:rPr>
              <a:t>Cloud &amp; web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3035808" y="3867912"/>
            <a:ext cx="2331720" cy="146304"/>
          </a:xfrm>
          <a:prstGeom prst="rect">
            <a:avLst/>
          </a:prstGeom>
          <a:solidFill>
            <a:srgbClr val="DDEEF4"/>
          </a:solidFill>
          <a:ln w="12700">
            <a:solidFill>
              <a:srgbClr val="DDEEF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35808" y="3867912"/>
            <a:ext cx="1165860" cy="146304"/>
          </a:xfrm>
          <a:prstGeom prst="rect">
            <a:avLst/>
          </a:prstGeom>
          <a:solidFill>
            <a:srgbClr val="116E9C"/>
          </a:solidFill>
          <a:ln w="12700">
            <a:solidFill>
              <a:srgbClr val="116E9C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04688" y="383133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784"/>
                </a:solidFill>
              </a:rPr>
              <a:t>Rp500rb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41248" y="4379976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5313F"/>
                </a:solidFill>
              </a:rPr>
              <a:t>Workshop &amp; campaign kit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3035808" y="4398264"/>
            <a:ext cx="2331720" cy="146304"/>
          </a:xfrm>
          <a:prstGeom prst="rect">
            <a:avLst/>
          </a:prstGeom>
          <a:solidFill>
            <a:srgbClr val="DDEEF4"/>
          </a:solidFill>
          <a:ln w="12700">
            <a:solidFill>
              <a:srgbClr val="DDEEF4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35808" y="4398264"/>
            <a:ext cx="2296744" cy="146304"/>
          </a:xfrm>
          <a:prstGeom prst="rect">
            <a:avLst/>
          </a:prstGeom>
          <a:solidFill>
            <a:srgbClr val="6BD28D"/>
          </a:solidFill>
          <a:ln w="12700">
            <a:solidFill>
              <a:srgbClr val="6BD28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04688" y="436168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784"/>
                </a:solidFill>
              </a:rPr>
              <a:t>Rp985rb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41248" y="4910328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5313F"/>
                </a:solidFill>
              </a:rPr>
              <a:t>Operasional &amp; contingency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3035808" y="4928616"/>
            <a:ext cx="2331720" cy="146304"/>
          </a:xfrm>
          <a:prstGeom prst="rect">
            <a:avLst/>
          </a:prstGeom>
          <a:solidFill>
            <a:srgbClr val="DDEEF4"/>
          </a:solidFill>
          <a:ln w="12700">
            <a:solidFill>
              <a:srgbClr val="DDEEF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35808" y="4928616"/>
            <a:ext cx="816102" cy="146304"/>
          </a:xfrm>
          <a:prstGeom prst="rect">
            <a:avLst/>
          </a:prstGeom>
          <a:solidFill>
            <a:srgbClr val="F2C36B"/>
          </a:solidFill>
          <a:ln w="12700">
            <a:solidFill>
              <a:srgbClr val="F2C36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04688" y="4892040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784"/>
                </a:solidFill>
              </a:rPr>
              <a:t>Rp350rb</a:t>
            </a:r>
            <a:endParaRPr lang="en-US" sz="950" dirty="0"/>
          </a:p>
        </p:txBody>
      </p:sp>
      <p:pic>
        <p:nvPicPr>
          <p:cNvPr id="27" name="Image 0" descr="/mnt/data/dashboard_c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444752"/>
            <a:ext cx="4983480" cy="4370832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6711696" y="5193792"/>
            <a:ext cx="4443984" cy="393192"/>
          </a:xfrm>
          <a:prstGeom prst="roundRect">
            <a:avLst>
              <a:gd name="adj" fmla="val 23256"/>
            </a:avLst>
          </a:prstGeom>
          <a:solidFill>
            <a:srgbClr val="00364B">
              <a:alpha val="90000"/>
            </a:srgbClr>
          </a:solidFill>
          <a:ln w="12700">
            <a:solidFill>
              <a:srgbClr val="00364B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03720" y="5321808"/>
            <a:ext cx="4069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b="1" dirty="0">
                <a:solidFill>
                  <a:srgbClr val="FFFFFF"/>
                </a:solidFill>
              </a:rPr>
              <a:t>Investasi kecil untuk prototipe, edukasi, dan sistem pemantauan yang dapat dipakai ulang.</a:t>
            </a:r>
            <a:endParaRPr lang="en-US" sz="1030" dirty="0"/>
          </a:p>
        </p:txBody>
      </p:sp>
      <p:sp>
        <p:nvSpPr>
          <p:cNvPr id="30" name="Text 27"/>
          <p:cNvSpPr/>
          <p:nvPr/>
        </p:nvSpPr>
        <p:spPr>
          <a:xfrm>
            <a:off x="9646920" y="651967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7A6B1"/>
                </a:solidFill>
              </a:rPr>
              <a:t>Smart Water Monitor  ·  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lab_sid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63640" y="0"/>
            <a:ext cx="45720" cy="6858000"/>
          </a:xfrm>
          <a:prstGeom prst="rect">
            <a:avLst/>
          </a:prstGeom>
          <a:solidFill>
            <a:srgbClr val="63D6B8"/>
          </a:solidFill>
          <a:ln w="12700">
            <a:solidFill>
              <a:srgbClr val="63D6B8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97280" y="10058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0A7A7"/>
                </a:solidFill>
              </a:rPr>
              <a:t>Dampak yang Diharapkan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097280" y="1444752"/>
            <a:ext cx="4983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063B5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Siswa belajar teknologi lewat masalah nyata di sekolah.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1115568" y="27432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D28D"/>
                </a:solidFill>
              </a:rPr>
              <a:t>✓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81328" y="272491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3B52"/>
                </a:solidFill>
              </a:rPr>
              <a:t>Kesehatan lingkungan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3429000" y="272491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7784"/>
                </a:solidFill>
              </a:rPr>
              <a:t>Data kualitas air lebih mudah dipantau dan dipahami.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1115568" y="34930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D28D"/>
                </a:solidFill>
              </a:rPr>
              <a:t>✓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481328" y="347472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3B52"/>
                </a:solidFill>
              </a:rPr>
              <a:t>Keterampilan abad 21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429000" y="347472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7784"/>
                </a:solidFill>
              </a:rPr>
              <a:t>IoT, pemrograman web, analisis data, dan kolaborasi.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1115568" y="424281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D28D"/>
                </a:solidFill>
              </a:rPr>
              <a:t>✓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81328" y="4224528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3B52"/>
                </a:solidFill>
              </a:rPr>
              <a:t>Keberlanjutan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3429000" y="42245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5C7784"/>
                </a:solidFill>
              </a:rPr>
              <a:t>Sekolah memiliki SOP perawatan dan contoh projek yang bisa dikembangkan.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1097280" y="5285232"/>
            <a:ext cx="4526280" cy="384048"/>
          </a:xfrm>
          <a:prstGeom prst="roundRect">
            <a:avLst>
              <a:gd name="adj" fmla="val 28571"/>
            </a:avLst>
          </a:prstGeom>
          <a:solidFill>
            <a:srgbClr val="063B52"/>
          </a:solidFill>
          <a:ln w="12700">
            <a:solidFill>
              <a:srgbClr val="063B52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307592" y="5404104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</a:rPr>
              <a:t>Siap dikembangkan sebagai media edukasi dan monitoring sekolah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9646920" y="6519672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7A6B1"/>
                </a:solidFill>
              </a:rPr>
              <a:t>Smart Water Monitor  ·  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816</Words>
  <Application>Microsoft Office PowerPoint</Application>
  <PresentationFormat>Widescreen</PresentationFormat>
  <Paragraphs>208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Water Monitor</dc:title>
  <dc:subject>Smart Water Monitor Proposal Presentation</dc:subject>
  <dc:creator>OpenAI</dc:creator>
  <cp:lastModifiedBy>Ahmad Nursyifa</cp:lastModifiedBy>
  <cp:revision>3</cp:revision>
  <dcterms:created xsi:type="dcterms:W3CDTF">2026-08-10T00:25:10Z</dcterms:created>
  <dcterms:modified xsi:type="dcterms:W3CDTF">2026-08-13T03:30:42Z</dcterms:modified>
</cp:coreProperties>
</file>