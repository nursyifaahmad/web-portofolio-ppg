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7240"/>
            <a:ext cx="4343400" cy="5349240"/>
          </a:xfrm>
          <a:prstGeom prst="roundRect">
            <a:avLst>
              <a:gd name="adj" fmla="val 3789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0" y="777240"/>
            <a:ext cx="6309360" cy="5349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3970">
            <a:solidFill>
              <a:srgbClr val="D8E2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Pembelajaran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Sosial Emosional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9535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FF"/>
                </a:solidFill>
              </a:rPr>
              <a:t>CASEL • Studi Kasus • Rencana • Evaluasi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5285232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536752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PPG Informatika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35661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Dari konsep ke praktik kelas yang aman, reflektif, dan mendukung pertumbuhan murid.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23560" y="114300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4D"/>
                </a:solidFill>
              </a:rPr>
              <a:t>Kerangka CASEL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715000" y="1874520"/>
            <a:ext cx="2514600" cy="804672"/>
          </a:xfrm>
          <a:prstGeom prst="roundRect">
            <a:avLst>
              <a:gd name="adj" fmla="val 13636"/>
            </a:avLst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🌱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Kesadaran Diri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458200" y="1874520"/>
            <a:ext cx="2514600" cy="804672"/>
          </a:xfrm>
          <a:prstGeom prst="roundRect">
            <a:avLst>
              <a:gd name="adj" fmla="val 13636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0" y="21214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Manajemen Diri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715000" y="2971800"/>
            <a:ext cx="2514600" cy="804672"/>
          </a:xfrm>
          <a:prstGeom prst="roundRect">
            <a:avLst>
              <a:gd name="adj" fmla="val 13636"/>
            </a:avLst>
          </a:prstGeom>
          <a:solidFill>
            <a:srgbClr val="6EBE45"/>
          </a:solidFill>
          <a:ln w="12700">
            <a:solidFill>
              <a:srgbClr val="6EB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0" y="3218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Kesadaran Sosial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458200" y="2971800"/>
            <a:ext cx="2514600" cy="804672"/>
          </a:xfrm>
          <a:prstGeom prst="roundRect">
            <a:avLst>
              <a:gd name="adj" fmla="val 13636"/>
            </a:avLst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💬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44000" y="3218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Keterampilan Relasi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715000" y="4069080"/>
            <a:ext cx="2514600" cy="804672"/>
          </a:xfrm>
          <a:prstGeom prst="roundRect">
            <a:avLst>
              <a:gd name="adj" fmla="val 13636"/>
            </a:avLst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9592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🎯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00800" y="43159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Keputusan Bertanggung Jawab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5806440" y="5166360"/>
            <a:ext cx="539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B7B"/>
                </a:solidFill>
              </a:rPr>
              <a:t>Deck ini merangkum inti dokumen 1B–1E dan menata materi menjadi alur presentasi.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Peta Materi dari Dokumen 1B–1E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Alur bacaan diubah menjadi alur presentasi yang siap dipakai.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2331720" cy="29718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032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0391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63B6"/>
                </a:solidFill>
              </a:rPr>
              <a:t>1B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500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" y="2633472"/>
            <a:ext cx="1920240" cy="0"/>
          </a:xfrm>
          <a:prstGeom prst="line">
            <a:avLst/>
          </a:prstGeom>
          <a:noFill/>
          <a:ln w="25400">
            <a:solidFill>
              <a:srgbClr val="1E6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34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</a:rPr>
              <a:t>Komponen PSE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9848" y="3474720"/>
            <a:ext cx="1783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06B7B"/>
                </a:solidFill>
              </a:rPr>
              <a:t>Definisi SEL dan 5 kompetensi CASEL.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66160" y="1874520"/>
            <a:ext cx="2331720" cy="29718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0320">
            <a:solidFill>
              <a:srgbClr val="F58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20391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</a:rPr>
              <a:t>1C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3892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749040" y="2633472"/>
            <a:ext cx="1920240" cy="0"/>
          </a:xfrm>
          <a:prstGeom prst="line">
            <a:avLst/>
          </a:prstGeom>
          <a:noFill/>
          <a:ln w="25400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834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</a:rPr>
              <a:t>Studi Kasus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58768" y="3474720"/>
            <a:ext cx="1783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06B7B"/>
                </a:solidFill>
              </a:rPr>
              <a:t>Kelas gaduh, emosi calon guru, dan pilihan strategi.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1874520"/>
            <a:ext cx="2331720" cy="29718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0320">
            <a:solidFill>
              <a:srgbClr val="0F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0391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A9A"/>
                </a:solidFill>
              </a:rPr>
              <a:t>1D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2784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537960" y="2633472"/>
            <a:ext cx="1920240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834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</a:rPr>
              <a:t>Analisis &amp; Sintesis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47688" y="3474720"/>
            <a:ext cx="1783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06B7B"/>
                </a:solidFill>
              </a:rPr>
              <a:t>Rencana kompetensi PSE dan diskusi World Café.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0" y="1874520"/>
            <a:ext cx="2331720" cy="29718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0320">
            <a:solidFill>
              <a:srgbClr val="7251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20391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51B5"/>
                </a:solidFill>
              </a:rPr>
              <a:t>1E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71676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326880" y="2633472"/>
            <a:ext cx="1920240" cy="0"/>
          </a:xfrm>
          <a:prstGeom prst="line">
            <a:avLst/>
          </a:prstGeom>
          <a:noFill/>
          <a:ln w="25400">
            <a:solidFill>
              <a:srgbClr val="7251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2834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</a:rPr>
              <a:t>Penerapan &amp; Evaluasi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36608" y="3474720"/>
            <a:ext cx="17830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06B7B"/>
                </a:solidFill>
              </a:rPr>
              <a:t>Contoh program, rubrik, video praktik, refleksi.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286000" y="5577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Output deck: ringkas, visual, dan langsung dapat dipresentasikan.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Pembelajaran Sosial Emosional?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PSE membantu murid mengenali emosi, membangun relasi, mengambil keputusan, dan bertanggung jawab.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D"/>
                </a:solidFill>
              </a:rPr>
              <a:t>PSE adalah proses belajar untuk: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Mengenali &amp; mengelola emosi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Menyelesaikan masalah dengan sehat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4472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Berempati dan memahami orang lain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1056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Membuat keputusan yang tepat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690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7640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Bertanggung jawab terhadap tindakan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4800600" cy="4434840"/>
          </a:xfrm>
          <a:prstGeom prst="roundRect">
            <a:avLst>
              <a:gd name="adj" fmla="val 2062"/>
            </a:avLst>
          </a:prstGeom>
          <a:solidFill>
            <a:srgbClr val="EEF6FF"/>
          </a:solidFill>
          <a:ln w="15240">
            <a:solidFill>
              <a:srgbClr val="D8E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4D"/>
                </a:solidFill>
              </a:rPr>
              <a:t>Tujuan PSE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903720" y="251460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6609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35240" y="2633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3B6"/>
                </a:solidFill>
              </a:rPr>
              <a:t>Preventif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28986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6B7B"/>
                </a:solidFill>
              </a:rPr>
              <a:t>mencegah masalah perilaku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347472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F9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36210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35240" y="3593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A9A"/>
                </a:solidFill>
              </a:rPr>
              <a:t>Promotif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38587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6B7B"/>
                </a:solidFill>
              </a:rPr>
              <a:t>meningkatkan kompetensi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4434840"/>
            <a:ext cx="3886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582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4581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35240" y="4553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220"/>
                </a:solidFill>
              </a:rPr>
              <a:t>Kolaboratif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35240" y="4818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6B7B"/>
                </a:solidFill>
              </a:rPr>
              <a:t>melibatkan komunitas sekolah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Kerangka CASEL: 5 Kompetensi Inti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Kelima kompetensi bekerja bersama, bukan sebagai kemampuan yang terpisah.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pic>
        <p:nvPicPr>
          <p:cNvPr id="6" name="Image 0" descr="/mnt/data/casel_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8912"/>
            <a:ext cx="3840480" cy="38973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600200"/>
            <a:ext cx="294436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1E63B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29784" y="1828800"/>
            <a:ext cx="530352" cy="530352"/>
          </a:xfrm>
          <a:prstGeom prst="ellipse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9784" y="19293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9864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4D"/>
                </a:solidFill>
              </a:rPr>
              <a:t>Self-awareness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769864" y="2075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6B7B"/>
                </a:solidFill>
              </a:rPr>
              <a:t>Kesadaran diri terhadap emosi, pikiran, dan nilai.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8275320" y="1600200"/>
            <a:ext cx="294436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F582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21624" y="1828800"/>
            <a:ext cx="530352" cy="53035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21624" y="19293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061704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4D"/>
                </a:solidFill>
              </a:rPr>
              <a:t>Self-management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061704" y="2075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6B7B"/>
                </a:solidFill>
              </a:rPr>
              <a:t>Mengatur emosi, pikiran, dan perilaku secara efektif.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4983480" y="2898648"/>
            <a:ext cx="294436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6EBE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9784" y="3127248"/>
            <a:ext cx="530352" cy="530352"/>
          </a:xfrm>
          <a:prstGeom prst="ellipse">
            <a:avLst/>
          </a:prstGeom>
          <a:solidFill>
            <a:srgbClr val="6EBE45"/>
          </a:solidFill>
          <a:ln w="12700">
            <a:solidFill>
              <a:srgbClr val="6EBE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9784" y="32278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69864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4D"/>
                </a:solidFill>
              </a:rPr>
              <a:t>Social awareness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769864" y="3374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6B7B"/>
                </a:solidFill>
              </a:rPr>
              <a:t>Memahami perspektif berbeda dan berempati.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8275320" y="2898648"/>
            <a:ext cx="294436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0F9A9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21624" y="3127248"/>
            <a:ext cx="530352" cy="530352"/>
          </a:xfrm>
          <a:prstGeom prst="ellipse">
            <a:avLst/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21624" y="32278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061704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4D"/>
                </a:solidFill>
              </a:rPr>
              <a:t>Relationship skills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061704" y="3374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6B7B"/>
                </a:solidFill>
              </a:rPr>
              <a:t>Menjalin relasi sehat dan komunikasi efektif.</a:t>
            </a:r>
            <a:endParaRPr lang="en-US" sz="1060" dirty="0"/>
          </a:p>
        </p:txBody>
      </p:sp>
      <p:sp>
        <p:nvSpPr>
          <p:cNvPr id="27" name="Shape 24"/>
          <p:cNvSpPr/>
          <p:nvPr/>
        </p:nvSpPr>
        <p:spPr>
          <a:xfrm>
            <a:off x="4983480" y="4197096"/>
            <a:ext cx="294436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240">
            <a:solidFill>
              <a:srgbClr val="7251B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29784" y="4425696"/>
            <a:ext cx="530352" cy="530352"/>
          </a:xfrm>
          <a:prstGeom prst="ellipse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29784" y="45262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769864" y="4361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4D"/>
                </a:solidFill>
              </a:rPr>
              <a:t>Responsible decision-making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769864" y="4672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06B7B"/>
                </a:solidFill>
              </a:rPr>
              <a:t>Memilih tindakan konstruktif dan bertanggung jawab.</a:t>
            </a:r>
            <a:endParaRPr lang="en-US" sz="1060" dirty="0"/>
          </a:p>
        </p:txBody>
      </p:sp>
      <p:sp>
        <p:nvSpPr>
          <p:cNvPr id="32" name="Text 29"/>
          <p:cNvSpPr/>
          <p:nvPr/>
        </p:nvSpPr>
        <p:spPr>
          <a:xfrm>
            <a:off x="5074920" y="56692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</a:rPr>
              <a:t>CASEL juga menempatkan SEL dalam ekosistem: kelas, sekolah, keluarga, dan komunitas.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Tiga Jalur Penerapan PSE di Sekolah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PSE dapat dirancang sebagai rutinitas, diintegrasikan dalam pelajaran, dan dibangun sebagai budaya.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032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22128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63B6"/>
                </a:solidFill>
              </a:rPr>
              <a:t>Rutin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23444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B7B"/>
                </a:solidFill>
              </a:rPr>
              <a:t>Morning meeting, circle time, check-in emosi, tujuan harian.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0320">
            <a:solidFill>
              <a:srgbClr val="0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2128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🧑‍🏫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006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9A9A"/>
                </a:solidFill>
              </a:rPr>
              <a:t>Terintegrasi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98348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B7B"/>
                </a:solidFill>
              </a:rPr>
              <a:t>Diskusi kasus, kerja kelompok, role-play, refleksi dalam mapel.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0320">
            <a:solidFill>
              <a:srgbClr val="F58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2128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🏫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5496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8220"/>
                </a:solidFill>
              </a:rPr>
              <a:t>Budaya Sekolah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73252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B7B"/>
                </a:solidFill>
              </a:rPr>
              <a:t>Menyelesaikan masalah dengan damai, menghargai pendapat, komunikasi positif.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89788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4D"/>
                </a:solidFill>
              </a:rPr>
              <a:t>Prinsip: PSE tidak hanya “materi”, tetapi kebiasaan yang dialami murid secara konsisten.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Guru Perlu Menguasai PSE?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PSE berdampak langsung pada kesejahteraan guru, relasi kelas, dan profesionalitas.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4800600" cy="1417320"/>
          </a:xfrm>
          <a:prstGeom prst="roundRect">
            <a:avLst>
              <a:gd name="adj" fmla="val 6452"/>
            </a:avLst>
          </a:prstGeom>
          <a:solidFill>
            <a:srgbClr val="EEF6FF"/>
          </a:solidFill>
          <a:ln w="1651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84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💙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8308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Kesejahteraan Guru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331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Regulasi emosi membuat guru lebih tahan menghadapi stres.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4800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6510">
            <a:solidFill>
              <a:srgbClr val="0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842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Manajemen Kelas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331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Relasi yang positif memudahkan guru membangun iklim kelas.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4800600" cy="1417320"/>
          </a:xfrm>
          <a:prstGeom prst="roundRect">
            <a:avLst>
              <a:gd name="adj" fmla="val 6452"/>
            </a:avLst>
          </a:prstGeom>
          <a:solidFill>
            <a:srgbClr val="EEF6FF"/>
          </a:solidFill>
          <a:ln w="16510">
            <a:solidFill>
              <a:srgbClr val="F58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587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👀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8308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Modeling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Cara guru merespons konflik menjadi contoh bagi murid.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4800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6510">
            <a:solidFill>
              <a:srgbClr val="72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587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Profesionalitas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0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Komunikasi, empati, dan regulasi emosi adalah fondasi profesi guru.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94560" y="5650992"/>
            <a:ext cx="7680960" cy="502920"/>
          </a:xfrm>
          <a:prstGeom prst="roundRect">
            <a:avLst>
              <a:gd name="adj" fmla="val 21818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580644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Guru yang mampu mengelola dirinya lebih siap menciptakan ruang belajar yang aman dan suportif.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Studi Kasus: Calon Guru Menghadapi Kelas Gaduh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Kasus 1C digunakan untuk melatih analisis emosi dan strategi penyelesaian berbasis PSE.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4937760" cy="4434840"/>
          </a:xfrm>
          <a:prstGeom prst="roundRect">
            <a:avLst>
              <a:gd name="adj" fmla="val 2062"/>
            </a:avLst>
          </a:prstGeom>
          <a:solidFill>
            <a:srgbClr val="FCE9E6"/>
          </a:solidFill>
          <a:ln w="20320">
            <a:solidFill>
              <a:srgbClr val="E55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933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533D"/>
                </a:solidFill>
              </a:rPr>
              <a:t>Situasi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2743200"/>
            <a:ext cx="42062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4D"/>
                </a:solidFill>
              </a:rPr>
              <a:t>Calon guru PPL menghadapi kelas yang gaduh. Teguran biasa tidak berhasil. Ketika guru meninggikan suara, suasana justru makin ricuh.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4800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533D"/>
                </a:solidFill>
              </a:rPr>
              <a:t>Emosi guru: kesal, kecewa, dan terpancing emosi.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6510">
            <a:solidFill>
              <a:srgbClr val="D8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9659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4D"/>
                </a:solidFill>
              </a:rPr>
              <a:t>Analisis PSE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812280" y="260604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7FAFF"/>
          </a:solidFill>
          <a:ln w="13970">
            <a:solidFill>
              <a:srgbClr val="E55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7157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533D"/>
                </a:solidFill>
              </a:rPr>
              <a:t>Masalah utama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58200" y="27157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6B7B"/>
                </a:solidFill>
              </a:rPr>
              <a:t>Kelas tidak kondusif; respons guru memperkuat ketegangan.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812280" y="361188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7FAFF"/>
          </a:solidFill>
          <a:ln w="13970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721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</a:rPr>
              <a:t>Dampak sosial-emosional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58200" y="37216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6B7B"/>
                </a:solidFill>
              </a:rPr>
              <a:t>Guru stres; murid makin reaktif; relasi kelas melemah.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812280" y="461772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7FAFF"/>
          </a:solidFill>
          <a:ln w="13970">
            <a:solidFill>
              <a:srgbClr val="0F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7274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A9A"/>
                </a:solidFill>
              </a:rPr>
              <a:t>Kebutuhan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58200" y="47274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6B7B"/>
                </a:solidFill>
              </a:rPr>
              <a:t>Regulasi emosi, komunikasi asertif, dan kesepakatan kelas.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Alternatif ke Strategi Terpilih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Strategi penyelesaian perlu menautkan regulasi emosi guru dan partisipasi murid.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318211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778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🧘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55648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63B6"/>
                </a:solidFill>
              </a:rPr>
              <a:t>Regulasi Emosi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06B7B"/>
                </a:solidFill>
              </a:rPr>
              <a:t>Guru mengambil jeda, bernapas, lalu merespons lebih tenang.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318211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7780">
            <a:solidFill>
              <a:srgbClr val="0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04688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9A9A"/>
                </a:solidFill>
              </a:rPr>
              <a:t>Komunikasi Asertif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06B7B"/>
                </a:solidFill>
              </a:rPr>
              <a:t>Bahasa halus tetapi tegas: “Saya sulit menjelaskan kalau kalian ribut.”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18211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7780">
            <a:solidFill>
              <a:srgbClr val="F58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253728" y="2048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8220"/>
                </a:solidFill>
              </a:rPr>
              <a:t>Class Agreement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41080" y="2743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606B7B"/>
                </a:solidFill>
              </a:rPr>
              <a:t>Guru dan murid menyusun kesepakatan kelas yang dimiliki bersama.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 rot="5400000">
            <a:off x="5358384" y="4160520"/>
            <a:ext cx="1508760" cy="411480"/>
          </a:xfrm>
          <a:prstGeom prst="chevron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663440"/>
            <a:ext cx="7955280" cy="960120"/>
          </a:xfrm>
          <a:prstGeom prst="roundRect">
            <a:avLst>
              <a:gd name="adj" fmla="val 9524"/>
            </a:avLst>
          </a:prstGeom>
          <a:solidFill>
            <a:srgbClr val="0B1F4D"/>
          </a:solidFill>
          <a:ln w="1524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49560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Strategi terpilih: regulasi emosi guru → komunikasi asertif → kesepakatan kelas kolaboratif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Rencana Kompetensi PSE dalam Pembelajaran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Model rencana: perilaku PSE, keterkaitan dengan mapel, dan contoh perilaku guru.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pic>
        <p:nvPicPr>
          <p:cNvPr id="6" name="Image 0" descr="/mnt/data/rencana_ps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10661"/>
            <a:ext cx="4983480" cy="31853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64592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EEF6FF"/>
          </a:solidFill>
          <a:ln w="15240">
            <a:solidFill>
              <a:srgbClr val="D8E2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4D"/>
                </a:solidFill>
              </a:rPr>
              <a:t>Prinsip Penyusunan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812280" y="2542032"/>
            <a:ext cx="384048" cy="384048"/>
          </a:xfrm>
          <a:prstGeom prst="ellipse">
            <a:avLst/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26151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33488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6B7B"/>
                </a:solidFill>
              </a:rPr>
              <a:t>Tentukan kompetensi CASEL yang ingin dikembangkan.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12280" y="3255264"/>
            <a:ext cx="384048" cy="384048"/>
          </a:xfrm>
          <a:prstGeom prst="ellipse">
            <a:avLst/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332841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33488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6B7B"/>
                </a:solidFill>
              </a:rPr>
              <a:t>Hubungkan dengan aktivitas mata pelajaran.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12280" y="3968496"/>
            <a:ext cx="384048" cy="384048"/>
          </a:xfrm>
          <a:prstGeom prst="ellipse">
            <a:avLst/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40416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33488" y="4005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6B7B"/>
                </a:solidFill>
              </a:rPr>
              <a:t>Rancang peran guru sebagai model perilaku.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12280" y="4681728"/>
            <a:ext cx="384048" cy="384048"/>
          </a:xfrm>
          <a:prstGeom prst="ellipse">
            <a:avLst/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47548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333488" y="4718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6B7B"/>
                </a:solidFill>
              </a:rPr>
              <a:t>Akhiri dengan refleksi atau evaluasi singkat.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20840" y="5230368"/>
            <a:ext cx="4206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4D"/>
                </a:solidFill>
              </a:rPr>
              <a:t>Contoh transfer ke Informatika: murid melakukan refleksi emosi saat debugging, bekerja sama dalam proyek, dan mengambil keputusan etis saat menggunakan data.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Diskusi World Café: Merancang Dukungan untuk Guru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LK 1.1 meminta rencana program bagi guru yang kadang merasa kesal saat proses pendidikan berlangsung.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6510">
            <a:solidFill>
              <a:srgbClr val="E55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928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97510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Meja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9110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Pemicu Emosi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11680" y="22951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06B7B"/>
                </a:solidFill>
              </a:rPr>
              <a:t>Apa situasi kelas yang paling sering memicu emosi guru?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6510">
            <a:solidFill>
              <a:srgbClr val="1E63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8928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97510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Meja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19110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Strategi Regulasi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98080" y="22951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06B7B"/>
                </a:solidFill>
              </a:rPr>
              <a:t>Teknik jeda, napas, bahasa asertif, dan prosedur menenangkan kelas.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6510">
            <a:solidFill>
              <a:srgbClr val="0F9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385876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3941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Meja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Dukungan Pihak Lain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011680" y="426110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06B7B"/>
                </a:solidFill>
              </a:rPr>
              <a:t>Guru pamong, wali kelas, BK, rekan sejawat, orang tua, dan kepala sekolah.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263640" y="365760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6510">
            <a:solidFill>
              <a:srgbClr val="F582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85876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4536" y="3941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Meja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D"/>
                </a:solidFill>
              </a:rPr>
              <a:t>Tindak Lanjut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98080" y="426110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06B7B"/>
                </a:solidFill>
              </a:rPr>
              <a:t>Class agreement, jurnal refleksi, observasi sejawat, dan evaluasi praktik.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1097280" y="5870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1F4D"/>
                </a:solidFill>
              </a:rPr>
              <a:t>Format kerja: diskusi terbuka, fokus pada solusi, presentasi/gambar/role-play, lalu meminta umpan balik.</a:t>
            </a:r>
            <a:endParaRPr lang="en-US" sz="14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Contoh Penerapan PSE di Sekolah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Dokumen 1E menampilkan contoh aktivitas yang bisa diadaptasi sesuai jenjang.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2331720" cy="37033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651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21488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🌤️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41832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3B6"/>
                </a:solidFill>
              </a:rPr>
              <a:t>Morning Meeting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34930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06B7B"/>
                </a:solidFill>
              </a:rPr>
              <a:t>10–15 menit untuk menyapa, berbagi perasaan, dan menentukan tujuan harian.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566160" y="1783080"/>
            <a:ext cx="2331720" cy="3703320"/>
          </a:xfrm>
          <a:prstGeom prst="roundRect">
            <a:avLst>
              <a:gd name="adj" fmla="val 3922"/>
            </a:avLst>
          </a:prstGeom>
          <a:solidFill>
            <a:srgbClr val="EEF6FF"/>
          </a:solidFill>
          <a:ln w="16510">
            <a:solidFill>
              <a:srgbClr val="0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488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30752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A9A"/>
                </a:solidFill>
              </a:rPr>
              <a:t>Integrasi Tematik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58768" y="34930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06B7B"/>
                </a:solidFill>
              </a:rPr>
              <a:t>Pertanyaan reflektif, role-play, dan diskusi empati dalam mata pelajaran.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2331720" cy="37033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6510">
            <a:solidFill>
              <a:srgbClr val="F58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1488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19672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20"/>
                </a:solidFill>
              </a:rPr>
              <a:t>Proyek Anti-Perundungan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7688" y="34930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06B7B"/>
                </a:solidFill>
              </a:rPr>
              <a:t>Identifikasi masalah, dampak emosi korban, poster/video kampanye.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9144000" y="1783080"/>
            <a:ext cx="2331720" cy="3703320"/>
          </a:xfrm>
          <a:prstGeom prst="roundRect">
            <a:avLst>
              <a:gd name="adj" fmla="val 3922"/>
            </a:avLst>
          </a:prstGeom>
          <a:solidFill>
            <a:srgbClr val="EEF6FF"/>
          </a:solidFill>
          <a:ln w="16510">
            <a:solidFill>
              <a:srgbClr val="72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488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👪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08592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51B5"/>
                </a:solidFill>
              </a:rPr>
              <a:t>Kolaborasi Orang Tua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36608" y="349300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06B7B"/>
                </a:solidFill>
              </a:rPr>
              <a:t>Workshop parenting PSE untuk mendukung regulasi emosi di rumah.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Evaluasi Penerapan PSE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Evaluasi perlu melihat perencanaan, pelaksanaan, dan refleksi diri.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pic>
        <p:nvPicPr>
          <p:cNvPr id="6" name="Image 0" descr="/mnt/data/evaluasi_t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343" y="1508760"/>
            <a:ext cx="3792673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64592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240">
            <a:solidFill>
              <a:srgbClr val="D8E2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86600" y="20756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3B6"/>
                </a:solidFill>
              </a:rPr>
              <a:t>Perencanaan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086600" y="2404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6B7B"/>
                </a:solidFill>
              </a:rPr>
              <a:t>Tujuan &amp; indikator memuat SEL; strategi sesuai kebutuhan murid; asesmen jelas.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4922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86600" y="32186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A9A"/>
                </a:solidFill>
              </a:rPr>
              <a:t>Pelaksanaan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86600" y="3547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6B7B"/>
                </a:solidFill>
              </a:rPr>
              <a:t>Komunikasi positif, regulasi emosi, empati, dan pengelolaan kelas terlihat.</a:t>
            </a:r>
            <a:endParaRPr lang="en-US" sz="1160" dirty="0"/>
          </a:p>
        </p:txBody>
      </p:sp>
      <p:sp>
        <p:nvSpPr>
          <p:cNvPr id="14" name="Text 11"/>
          <p:cNvSpPr/>
          <p:nvPr/>
        </p:nvSpPr>
        <p:spPr>
          <a:xfrm>
            <a:off x="6492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🪞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86600" y="43616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8220"/>
                </a:solidFill>
              </a:rPr>
              <a:t>Refleksi Diri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086600" y="4690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6B7B"/>
                </a:solidFill>
              </a:rPr>
              <a:t>Guru mengenali pengalaman mengajar, respons murid, dan rencana perbaikan.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6446520" y="539496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5513832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Evaluasi bukan menghukum, tetapi memperbaiki praktik.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Rencana Aksi Calon Guru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960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B7B"/>
                </a:solidFill>
              </a:rPr>
              <a:t>Mengubah PSE dari konsep menjadi kebiasaan mengajar yang terlihat.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8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828800"/>
            <a:ext cx="1005840" cy="1005840"/>
          </a:xfrm>
          <a:prstGeom prst="ellipse">
            <a:avLst/>
          </a:prstGeom>
          <a:solidFill>
            <a:srgbClr val="1E63B6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0" y="2340864"/>
            <a:ext cx="1005840" cy="0"/>
          </a:xfrm>
          <a:prstGeom prst="line">
            <a:avLst/>
          </a:prstGeom>
          <a:noFill/>
          <a:ln w="25400">
            <a:solidFill>
              <a:srgbClr val="D8E2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4D"/>
                </a:solidFill>
              </a:rPr>
              <a:t>Mulai dengan sadar diri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B7B"/>
                </a:solidFill>
              </a:rPr>
              <a:t>Kenali emosi guru sebelum merespons kelas.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1005840" cy="1005840"/>
          </a:xfrm>
          <a:prstGeom prst="ellipse">
            <a:avLst/>
          </a:prstGeom>
          <a:solidFill>
            <a:srgbClr val="0F9A9A"/>
          </a:solidFill>
          <a:ln w="12700">
            <a:solidFill>
              <a:srgbClr val="0F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0" y="2340864"/>
            <a:ext cx="1005840" cy="0"/>
          </a:xfrm>
          <a:prstGeom prst="line">
            <a:avLst/>
          </a:prstGeom>
          <a:noFill/>
          <a:ln w="25400">
            <a:solidFill>
              <a:srgbClr val="D8E2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4D"/>
                </a:solidFill>
              </a:rPr>
              <a:t>Bangun bahasa kelas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3192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B7B"/>
                </a:solidFill>
              </a:rPr>
              <a:t>Gunakan komunikasi asertif, jelas, dan empatik.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1005840" cy="100584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0" y="2340864"/>
            <a:ext cx="1005840" cy="0"/>
          </a:xfrm>
          <a:prstGeom prst="line">
            <a:avLst/>
          </a:prstGeom>
          <a:noFill/>
          <a:ln w="25400">
            <a:solidFill>
              <a:srgbClr val="D8E2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4D"/>
                </a:solidFill>
              </a:rPr>
              <a:t>Libatkan murid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7512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B7B"/>
                </a:solidFill>
              </a:rPr>
              <a:t>Buat kesepakatan kelas dan ruang refleksi.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66960" y="1828800"/>
            <a:ext cx="1005840" cy="1005840"/>
          </a:xfrm>
          <a:prstGeom prst="ellipse">
            <a:avLst/>
          </a:prstGeom>
          <a:solidFill>
            <a:srgbClr val="7251B5"/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0" y="2340864"/>
            <a:ext cx="1005840" cy="0"/>
          </a:xfrm>
          <a:prstGeom prst="line">
            <a:avLst/>
          </a:prstGeom>
          <a:noFill/>
          <a:ln w="25400">
            <a:solidFill>
              <a:srgbClr val="D8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4D"/>
                </a:solidFill>
              </a:rPr>
              <a:t>Evaluasi praktik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1832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B7B"/>
                </a:solidFill>
              </a:rPr>
              <a:t>Gunakan rubrik, catatan, dan refleksi untuk perbaikan.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88720" y="4983480"/>
            <a:ext cx="9784080" cy="777240"/>
          </a:xfrm>
          <a:prstGeom prst="roundRect">
            <a:avLst>
              <a:gd name="adj" fmla="val 14118"/>
            </a:avLst>
          </a:prstGeom>
          <a:solidFill>
            <a:srgbClr val="EEF6FF"/>
          </a:solidFill>
          <a:ln w="12700">
            <a:solidFill>
              <a:srgbClr val="1E63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72768" y="523951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4D"/>
                </a:solidFill>
              </a:rPr>
              <a:t>Kunci akhir: PSE hadir dalam cara guru menyapa, menegur, mendengarkan, memberi umpan balik, dan menutup pembelajaran.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PPG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 CASEL - Studi Kasus - Penerapan - Evaluasi</dc:title>
  <dc:subject>Pembelajaran Sosial Emosional</dc:subject>
  <dc:creator>OpenAI</dc:creator>
  <cp:lastModifiedBy>OpenAI</cp:lastModifiedBy>
  <cp:revision>1</cp:revision>
  <dcterms:created xsi:type="dcterms:W3CDTF">2026-08-11T12:47:32Z</dcterms:created>
  <dcterms:modified xsi:type="dcterms:W3CDTF">2026-08-11T12:47:32Z</dcterms:modified>
</cp:coreProperties>
</file>