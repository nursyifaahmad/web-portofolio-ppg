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65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Sampaikan bahwa presentasi ini merangkum LK 2.1, 2.2, dan 2.3, lalu ditutup dengan rencana pengembangan diri sebagai calon guru yang sedang PPL.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alurnya singkat. Tekankan bahwa rubrik terbesar adalah penguasaan materi, maka slide fokus pada benang merah, bukan detail panjang semua jawaban.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slide ini sebagai jembatan. Keteladanan tidak hanya nasihat, tetapi respons nyata saat kelas gaduh, murid salah, atau guru sedang tertekan.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keempat EMC² dengan bahasa sendiri. Kaitkan dengan contoh kelas: tidak langsung menyalahkan murid, memberi jeda, lalu memilih tindakan yang mendidik.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setuju bukan berarti semua kasus diselesaikan persis sama. Prinsipnya menjaga martabat, tetapi strategi tetap menyesuaikan risiko dan kebutuhan murid.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dengan wajar, tidak harus dramatis. Pengalaman PPL menjadi bukti penguasaan materi dan membuat presentasi terasa hidup.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 dua strategi yang paling realistis untuk ditekankan saat presentasi: refleksi singkat dan umpan balik dari guru pamong.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bahwa sekolah mendukung bukan dengan menuntut guru selalu sempurna, tetapi dengan budaya komunikasi, forum belajar, dan sistem yang manusiawi.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bagian film, tidak perlu sinopsis panjang. Ambil satu pesan dari tiap film dan hubungkan langsung ke 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dari kiri ke kanan. Ini membantu rubrik penguasaan materi dan insight karena mengubah jawaban panjang menjadi kerangka yang mudah dipahami.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slide ini untuk memenuhi aspek interaksi. Minta audiens mengangkat jari A/B/C atau menjawab cepat. Setelah itu, jelaskan mengapa B paling selaras dengan 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menjawab pertanyaan akhir pada Aktivitas 2.4: bagaimana upaya pengembangan diri agar menjadi guru teladan. Sampaikan sebagai komitmen pribadi, bukan klaim sudah ideal.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Sampaikan insight dengan singkat dan buka sesi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soft_illustration_style_classroom_scene_o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0080"/>
            <a:ext cx="5577840" cy="5257800"/>
          </a:xfrm>
          <a:prstGeom prst="roundRect">
            <a:avLst>
              <a:gd name="adj" fmla="val 3130"/>
            </a:avLst>
          </a:prstGeom>
          <a:solidFill>
            <a:srgbClr val="FFF8ED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id-ID" dirty="0"/>
          </a:p>
        </p:txBody>
      </p:sp>
      <p:sp>
        <p:nvSpPr>
          <p:cNvPr id="7" name="Text 4"/>
          <p:cNvSpPr/>
          <p:nvPr/>
        </p:nvSpPr>
        <p:spPr>
          <a:xfrm>
            <a:off x="868680" y="1463040"/>
            <a:ext cx="48463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 untuk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Mengembangkan Diri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Guru sebagai Teladan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96112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6D3C"/>
                </a:solidFill>
              </a:rPr>
              <a:t>Aktivitas 2.4 · Pembelajaran Sosial Emosional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4096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150" dirty="0">
                <a:solidFill>
                  <a:srgbClr val="6F655B"/>
                </a:solidFill>
              </a:rPr>
              <a:t>Ahmad Nursyifa</a:t>
            </a:r>
            <a:br>
              <a:rPr lang="id-ID" sz="1150" dirty="0">
                <a:solidFill>
                  <a:srgbClr val="6F655B"/>
                </a:solidFill>
              </a:rPr>
            </a:br>
            <a:r>
              <a:rPr lang="en-US" sz="1150" dirty="0">
                <a:solidFill>
                  <a:srgbClr val="6F655B"/>
                </a:solidFill>
              </a:rPr>
              <a:t>Farid </a:t>
            </a:r>
            <a:r>
              <a:rPr lang="en-US" sz="1150" dirty="0" err="1">
                <a:solidFill>
                  <a:srgbClr val="6F655B"/>
                </a:solidFill>
              </a:rPr>
              <a:t>Taufik</a:t>
            </a:r>
            <a:r>
              <a:rPr lang="en-US" sz="1150" dirty="0">
                <a:solidFill>
                  <a:srgbClr val="6F655B"/>
                </a:solidFill>
              </a:rPr>
              <a:t> </a:t>
            </a:r>
            <a:r>
              <a:rPr lang="en-US" sz="1150" dirty="0" err="1">
                <a:solidFill>
                  <a:srgbClr val="6F655B"/>
                </a:solidFill>
              </a:rPr>
              <a:t>Nugraha</a:t>
            </a:r>
            <a:endParaRPr lang="id-ID" sz="1150" dirty="0">
              <a:solidFill>
                <a:srgbClr val="6F655B"/>
              </a:solidFill>
            </a:endParaRPr>
          </a:p>
          <a:p>
            <a:pPr marL="0" indent="0">
              <a:buNone/>
            </a:pPr>
            <a:r>
              <a:rPr lang="id-ID" sz="1150" dirty="0">
                <a:solidFill>
                  <a:srgbClr val="6F655B"/>
                </a:solidFill>
              </a:rPr>
              <a:t>Fikri Hadi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6112" y="4709160"/>
            <a:ext cx="4526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D2A26"/>
                </a:solidFill>
              </a:rPr>
              <a:t>Benang merah: guru teladan bukan guru yang selalu sempurna, tetapi guru yang sadar diri, mampu menjaga relasi, dan berani memperbaiki diri.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Arah Presentasi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Disusun mengikuti rubrik: materi, interaksi, insight, dan sumber.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3063240"/>
            <a:ext cx="9966960" cy="0"/>
          </a:xfrm>
          <a:prstGeom prst="line">
            <a:avLst/>
          </a:prstGeom>
          <a:noFill/>
          <a:ln w="38100">
            <a:solidFill>
              <a:srgbClr val="D6A14B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1097280" cy="1097280"/>
          </a:xfrm>
          <a:prstGeom prst="ellipse">
            <a:avLst/>
          </a:prstGeom>
          <a:solidFill>
            <a:srgbClr val="2F6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A26"/>
                </a:solidFill>
              </a:rPr>
              <a:t>LK 2.1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397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55B"/>
                </a:solidFill>
              </a:rPr>
              <a:t>EMC²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1097280" cy="1097280"/>
          </a:xfrm>
          <a:prstGeom prst="ellipse">
            <a:avLst/>
          </a:prstGeom>
          <a:solidFill>
            <a:srgbClr val="C76D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A26"/>
                </a:solidFill>
              </a:rPr>
              <a:t>LK 2.2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397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55B"/>
                </a:solidFill>
              </a:rPr>
              <a:t>Kasus amplop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2331720"/>
            <a:ext cx="1097280" cy="1097280"/>
          </a:xfrm>
          <a:prstGeom prst="ellipse">
            <a:avLst/>
          </a:prstGeom>
          <a:solidFill>
            <a:srgbClr val="2F6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6636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A26"/>
                </a:solidFill>
              </a:rPr>
              <a:t>LK 2.3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397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55B"/>
                </a:solidFill>
              </a:rPr>
              <a:t>PPL &amp; teladan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2331720"/>
            <a:ext cx="1097280" cy="1097280"/>
          </a:xfrm>
          <a:prstGeom prst="ellipse">
            <a:avLst/>
          </a:prstGeom>
          <a:solidFill>
            <a:srgbClr val="C76D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8952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A26"/>
                </a:solidFill>
              </a:rPr>
              <a:t>Film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397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55B"/>
                </a:solidFill>
              </a:rPr>
              <a:t>Agen perubahan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378440" y="2331720"/>
            <a:ext cx="1097280" cy="1097280"/>
          </a:xfrm>
          <a:prstGeom prst="ellipse">
            <a:avLst/>
          </a:prstGeom>
          <a:solidFill>
            <a:srgbClr val="2F6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7552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A26"/>
                </a:solidFill>
              </a:rPr>
              <a:t>Rencana diri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0" y="3977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55B"/>
                </a:solidFill>
              </a:rPr>
              <a:t>Langkah konkret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" y="5074920"/>
            <a:ext cx="10195560" cy="685800"/>
          </a:xfrm>
          <a:prstGeom prst="roundRect">
            <a:avLst>
              <a:gd name="adj" fmla="val 18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5248656"/>
            <a:ext cx="9646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5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 presentasi: tidak membacakan LK, tetapi mengangkat inti pembelajaran dan contoh nyata selama PPL.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Benang Merah dari LK 2.1–2.3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PSE membuat keteladanan terlihat dalam respons harian guru.</a:t>
            </a:r>
            <a:endParaRPr lang="en-US" sz="1150" dirty="0"/>
          </a:p>
        </p:txBody>
      </p:sp>
      <p:pic>
        <p:nvPicPr>
          <p:cNvPr id="4" name="Image 0" descr="/mnt/data/wide_colorful_paper_cut_flat_vector_illustration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577840" cy="3136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325880"/>
            <a:ext cx="4892040" cy="4297680"/>
          </a:xfrm>
          <a:prstGeom prst="roundRect">
            <a:avLst>
              <a:gd name="adj" fmla="val 3830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12280" y="1709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6D3C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52360" y="1627632"/>
            <a:ext cx="33375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Sadar sebelum bereaksi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70648" y="1938528"/>
            <a:ext cx="338328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belajar memberi jeda ketika emosi naik.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2825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F73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52360" y="2743200"/>
            <a:ext cx="33375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Tegas tanpa menjatuhkan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70648" y="3054096"/>
            <a:ext cx="338328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Perilaku dikoreksi, martabat murid tetap dijaga.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12280" y="39410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A14B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52360" y="3858768"/>
            <a:ext cx="33375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Relasi menjadi jalan masuk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70648" y="4169664"/>
            <a:ext cx="338328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Murid lebih mudah belajar saat merasa aman.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2.1–2.2 dan LK 2.3 tentang EMC², kasus amplop, serta refleksi PPL.</a:t>
            </a:r>
            <a:endParaRPr lang="en-US" sz="730" dirty="0"/>
          </a:p>
        </p:txBody>
      </p:sp>
      <p:sp>
        <p:nvSpPr>
          <p:cNvPr id="16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LK 2.1 — EMC² sebagai Bekal Guru Teladan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Empathy · Mindfulness · Compassion · Critical Inquiry</a:t>
            </a:r>
            <a:endParaRPr lang="en-US" sz="1150" dirty="0"/>
          </a:p>
        </p:txBody>
      </p:sp>
      <p:pic>
        <p:nvPicPr>
          <p:cNvPr id="4" name="Image 0" descr="/mnt/data/a_warm_conceptual_classroom_illustration_infograp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17320"/>
            <a:ext cx="5303520" cy="298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280160"/>
            <a:ext cx="4389120" cy="658368"/>
          </a:xfrm>
          <a:prstGeom prst="roundRect">
            <a:avLst>
              <a:gd name="adj" fmla="val 19444"/>
            </a:avLst>
          </a:prstGeom>
          <a:solidFill>
            <a:srgbClr val="C76D3C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1399032"/>
            <a:ext cx="12344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83880" y="1362456"/>
            <a:ext cx="2542032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memahami keadaan murid sebelum memberi label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400800" y="2176272"/>
            <a:ext cx="4389120" cy="658368"/>
          </a:xfrm>
          <a:prstGeom prst="roundRect">
            <a:avLst>
              <a:gd name="adj" fmla="val 19444"/>
            </a:avLst>
          </a:prstGeom>
          <a:solidFill>
            <a:srgbClr val="78946D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295144"/>
            <a:ext cx="12344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Mindfulness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83880" y="2258568"/>
            <a:ext cx="2542032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menyadari emosi diri dan memberi jeda respons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400800" y="3072384"/>
            <a:ext cx="4389120" cy="658368"/>
          </a:xfrm>
          <a:prstGeom prst="roundRect">
            <a:avLst>
              <a:gd name="adj" fmla="val 19444"/>
            </a:avLst>
          </a:prstGeom>
          <a:solidFill>
            <a:srgbClr val="C9897A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3191256"/>
            <a:ext cx="12344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Compassion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83880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kepedulian yang berubah menjadi bantuan nyata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0" y="3968496"/>
            <a:ext cx="4389120" cy="658368"/>
          </a:xfrm>
          <a:prstGeom prst="roundRect">
            <a:avLst>
              <a:gd name="adj" fmla="val 19444"/>
            </a:avLst>
          </a:prstGeom>
          <a:solidFill>
            <a:srgbClr val="2F6F73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4087368"/>
            <a:ext cx="12344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Inquiry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83880" y="4050792"/>
            <a:ext cx="2542032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mengajak murid bertanya, memeriksa bukti, dan tidak asal percaya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960120" y="4983480"/>
            <a:ext cx="10332720" cy="566928"/>
          </a:xfrm>
          <a:prstGeom prst="roundRect">
            <a:avLst>
              <a:gd name="adj" fmla="val 20968"/>
            </a:avLst>
          </a:prstGeom>
          <a:solidFill>
            <a:srgbClr val="355A43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5111496"/>
            <a:ext cx="996696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Intinya: guru tidak berhenti pada “saya tahu teori”, tetapi melatih cara hadir yang lebih tenang, peduli, dan reflektif.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Acuan konsep: LK 2.1; UNESCO MGIEP tentang EMC² sebagai kerangka SEL.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LK 2.2 — Kasus Amplop SPP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Keteladanan terlihat ketika guru memilih menjaga martabat murid.</a:t>
            </a:r>
            <a:endParaRPr lang="en-US" sz="1150" dirty="0"/>
          </a:p>
        </p:txBody>
      </p:sp>
      <p:pic>
        <p:nvPicPr>
          <p:cNvPr id="4" name="Image 0" descr="/mnt/data/a_warm_softly_lit_illustration_of_a_classroom_int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44752"/>
            <a:ext cx="5212080" cy="29352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417320"/>
            <a:ext cx="4983480" cy="4206240"/>
          </a:xfrm>
          <a:prstGeom prst="roundRect">
            <a:avLst>
              <a:gd name="adj" fmla="val 3913"/>
            </a:avLst>
          </a:prstGeom>
          <a:solidFill>
            <a:srgbClr val="FFFFFF">
              <a:alpha val="99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84848" y="1719072"/>
            <a:ext cx="411480" cy="411480"/>
          </a:xfrm>
          <a:prstGeom prst="ellipse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84848" y="1810512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60920" y="1682496"/>
            <a:ext cx="27432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A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Situasi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1993392"/>
            <a:ext cx="35204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murid kehilangan uang SPP; suasana kelas rentan panik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784848" y="2743200"/>
            <a:ext cx="411480" cy="4114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2834640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60920" y="2706624"/>
            <a:ext cx="27432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 guru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6092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mencari bukti tanpa mempermalukan pelaku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6784848" y="3767328"/>
            <a:ext cx="411480" cy="411480"/>
          </a:xfrm>
          <a:prstGeom prst="ellipse">
            <a:avLst/>
          </a:prstGeom>
          <a:solidFill>
            <a:srgbClr val="C76D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38587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60920" y="3730752"/>
            <a:ext cx="27432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Dampak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60920" y="4041648"/>
            <a:ext cx="35204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kelas tetap aman; murid mendapat ruang untuk berubah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6748272" y="48828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A26"/>
                </a:solidFill>
              </a:rPr>
              <a:t>Kunci PSE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4882896"/>
            <a:ext cx="2788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5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self-management + social awareness + relationship skills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2.2 Analisis Kasus.</a:t>
            </a:r>
            <a:endParaRPr lang="en-US" sz="730" dirty="0"/>
          </a:p>
        </p:txBody>
      </p:sp>
      <p:sp>
        <p:nvSpPr>
          <p:cNvPr id="21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LK 2.3 — Tantangan Nyata Saat PPL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Kelas tidak selalu ideal; di sanalah keteladanan diuji.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" y="1417320"/>
            <a:ext cx="4389120" cy="4389120"/>
          </a:xfrm>
          <a:prstGeom prst="arc">
            <a:avLst/>
          </a:prstGeom>
          <a:noFill/>
          <a:ln w="127000">
            <a:solidFill>
              <a:srgbClr val="78946D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36192"/>
            <a:ext cx="3794760" cy="3794760"/>
          </a:xfrm>
          <a:prstGeom prst="roundRect">
            <a:avLst>
              <a:gd name="adj" fmla="val 4819"/>
            </a:avLst>
          </a:prstGeom>
          <a:solidFill>
            <a:srgbClr val="2F6F73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47088"/>
            <a:ext cx="3017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PPL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487168"/>
            <a:ext cx="2926080" cy="11704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beberapa murid terus mengobrol, saya sempat kesal. Saya memilih berhenti sebentar, mendekat, lalu meminta perhatian tanpa mempermalukan mereka.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4068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D2A26"/>
                </a:solidFill>
              </a:rPr>
              <a:t>Pelajaran kecil yang terasa besar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40680" y="2468880"/>
            <a:ext cx="320040" cy="320040"/>
          </a:xfrm>
          <a:prstGeom prst="chevron">
            <a:avLst/>
          </a:prstGeom>
          <a:solidFill>
            <a:srgbClr val="C76D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6168" y="2404872"/>
            <a:ext cx="5029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Teguran dari depan kelas sering membuat murid defensif.</a:t>
            </a:r>
            <a:endParaRPr lang="en-US" sz="1480" dirty="0"/>
          </a:p>
        </p:txBody>
      </p:sp>
      <p:sp>
        <p:nvSpPr>
          <p:cNvPr id="11" name="Shape 9"/>
          <p:cNvSpPr/>
          <p:nvPr/>
        </p:nvSpPr>
        <p:spPr>
          <a:xfrm>
            <a:off x="5440680" y="3337560"/>
            <a:ext cx="320040" cy="320040"/>
          </a:xfrm>
          <a:prstGeom prst="chevron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Mendekat dan berbicara pelan lebih mudah menjaga suasana.</a:t>
            </a:r>
            <a:endParaRPr lang="en-US" sz="1480" dirty="0"/>
          </a:p>
        </p:txBody>
      </p:sp>
      <p:sp>
        <p:nvSpPr>
          <p:cNvPr id="13" name="Shape 11"/>
          <p:cNvSpPr/>
          <p:nvPr/>
        </p:nvSpPr>
        <p:spPr>
          <a:xfrm>
            <a:off x="5440680" y="4206240"/>
            <a:ext cx="320040" cy="320040"/>
          </a:xfrm>
          <a:prstGeom prst="chevron">
            <a:avLst/>
          </a:prstGeom>
          <a:solidFill>
            <a:srgbClr val="78946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4142232"/>
            <a:ext cx="5029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Kadang murid tidak “melawan”; mereka hanya butuh ritme belajar yang berbeda.</a:t>
            </a:r>
            <a:endParaRPr lang="en-US" sz="1480" dirty="0"/>
          </a:p>
        </p:txBody>
      </p:sp>
      <p:sp>
        <p:nvSpPr>
          <p:cNvPr id="15" name="Shape 13"/>
          <p:cNvSpPr/>
          <p:nvPr/>
        </p:nvSpPr>
        <p:spPr>
          <a:xfrm>
            <a:off x="5440680" y="5230368"/>
            <a:ext cx="53949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5349240"/>
            <a:ext cx="502920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Tantangan utama: membedakan tegas karena mendidik dan reaktif karena kesal.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2.3 bagian tantangan guru menjadi teladan selama PPL.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 Menguatkan Diri sebagai Guru Teladan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Dibangun lewat kebiasaan kecil, bukan menunggu menjadi “sempurna”.</a:t>
            </a:r>
            <a:endParaRPr lang="en-US" sz="1150" dirty="0"/>
          </a:p>
        </p:txBody>
      </p:sp>
      <p:pic>
        <p:nvPicPr>
          <p:cNvPr id="4" name="Image 0" descr="/mnt/data/a_warm_cozy_stylized_paper_cut_illustration_scen_batch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4800600" cy="2697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53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6D3C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1554480"/>
            <a:ext cx="685800" cy="0"/>
          </a:xfrm>
          <a:prstGeom prst="line">
            <a:avLst/>
          </a:prstGeom>
          <a:noFill/>
          <a:ln w="19050">
            <a:solidFill>
              <a:srgbClr val="DDD1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74520" y="1307592"/>
            <a:ext cx="4343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 5 menit setelah mengajar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92808" y="1645920"/>
            <a:ext cx="42519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berjalan baik? Apa respons saya yang perlu diperbaiki?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822960" y="23134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F73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63040" y="2514600"/>
            <a:ext cx="685800" cy="0"/>
          </a:xfrm>
          <a:prstGeom prst="line">
            <a:avLst/>
          </a:prstGeom>
          <a:noFill/>
          <a:ln w="19050">
            <a:solidFill>
              <a:srgbClr val="DDD1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74520" y="2267712"/>
            <a:ext cx="4343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emosi sebelum masuk kelas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892808" y="2606040"/>
            <a:ext cx="42519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Lelah, terburu-buru, atau sudah siap? Ritme bicara menyesuaikan.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822960" y="3273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6D3C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463040" y="3474720"/>
            <a:ext cx="685800" cy="0"/>
          </a:xfrm>
          <a:prstGeom prst="line">
            <a:avLst/>
          </a:prstGeom>
          <a:noFill/>
          <a:ln w="19050">
            <a:solidFill>
              <a:srgbClr val="DDD1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74520" y="3227832"/>
            <a:ext cx="4343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Minta umpan balik terarah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892808" y="3566160"/>
            <a:ext cx="42519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Minta guru pamong melihat satu aspek: teguran, instruksi, atau respons pada jawaban salah.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822960" y="4233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F73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463040" y="4434840"/>
            <a:ext cx="685800" cy="0"/>
          </a:xfrm>
          <a:prstGeom prst="line">
            <a:avLst/>
          </a:prstGeom>
          <a:noFill/>
          <a:ln w="19050">
            <a:solidFill>
              <a:srgbClr val="DDD1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74520" y="4187952"/>
            <a:ext cx="4343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Jaga kesesuaian ucapan dan tindakan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892808" y="4526280"/>
            <a:ext cx="42519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Tepat waktu, mendengarkan murid, berani mengakui kesalahan.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6629400" y="4343400"/>
            <a:ext cx="4800600" cy="868680"/>
          </a:xfrm>
          <a:prstGeom prst="roundRect">
            <a:avLst>
              <a:gd name="adj" fmla="val 16842"/>
            </a:avLst>
          </a:prstGeom>
          <a:solidFill>
            <a:srgbClr val="355A43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4590288"/>
            <a:ext cx="420624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pengembangan: stabil dalam emosi, hangat dalam relasi, jelas dalam batas.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2.3 bagian strategi meningkatkan kompetensi sebagai guru teladan.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Sekolah Juga Perlu Menjadi Ruang Teladan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Guru lebih kuat bila budaya sekolah mendukung praktik PSE.</a:t>
            </a:r>
            <a:endParaRPr lang="en-US" sz="1150" dirty="0"/>
          </a:p>
        </p:txBody>
      </p:sp>
      <p:pic>
        <p:nvPicPr>
          <p:cNvPr id="4" name="Image 0" descr="/mnt/data/wide_colorful_paper_cut_flat_vector_illustration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63040"/>
            <a:ext cx="4846320" cy="2724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1554480"/>
            <a:ext cx="4160520" cy="4160520"/>
          </a:xfrm>
          <a:prstGeom prst="ellipse">
            <a:avLst/>
          </a:prstGeom>
          <a:solidFill>
            <a:srgbClr val="D6A14B">
              <a:alpha val="25000"/>
            </a:srgbClr>
          </a:solidFill>
          <a:ln w="19050">
            <a:solidFill>
              <a:srgbClr val="D6A1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5920" y="2057400"/>
            <a:ext cx="3154680" cy="3154680"/>
          </a:xfrm>
          <a:prstGeom prst="ellipse">
            <a:avLst/>
          </a:prstGeom>
          <a:solidFill>
            <a:srgbClr val="78946D">
              <a:alpha val="30000"/>
            </a:srgbClr>
          </a:solidFill>
          <a:ln w="19050">
            <a:solidFill>
              <a:srgbClr val="7894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94560" y="2606040"/>
            <a:ext cx="2057400" cy="2057400"/>
          </a:xfrm>
          <a:prstGeom prst="ellipse">
            <a:avLst/>
          </a:prstGeom>
          <a:solidFill>
            <a:srgbClr val="2F6F73">
              <a:alpha val="90000"/>
            </a:srgbClr>
          </a:solidFill>
          <a:ln w="15240">
            <a:solidFill>
              <a:srgbClr val="2F6F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78608" y="3026664"/>
            <a:ext cx="1280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Budaya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sekolah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1207008"/>
            <a:ext cx="49834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 memberi contoh komunikasi yang santun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8720" y="5760720"/>
            <a:ext cx="42976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Forum kasus nyata: guru, BK, wali kelas, pamong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04688" y="4315968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Beban kerja wajar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04688" y="475488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Disiplin konsisten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20840" y="4315968"/>
            <a:ext cx="4572000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4526280"/>
            <a:ext cx="41605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5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Keteladanan tidak akan kuat jika hanya bergantung pada satu guru. Ia harus menjadi kebiasaan orang dewasa di sekolah.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2.3 bagian dukungan sekolah agar guru menjadi teladan.</a:t>
            </a:r>
            <a:endParaRPr lang="en-US" sz="730" dirty="0"/>
          </a:p>
        </p:txBody>
      </p:sp>
      <p:sp>
        <p:nvSpPr>
          <p:cNvPr id="16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Refleksi Film — Guru sebagai Agen Perubahan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Bukan meniru tokoh film, tetapi mengambil nilai yang relevan untuk kelas nyata.</a:t>
            </a:r>
            <a:endParaRPr lang="en-US" sz="1150" dirty="0"/>
          </a:p>
        </p:txBody>
      </p:sp>
      <p:pic>
        <p:nvPicPr>
          <p:cNvPr id="4" name="Image 0" descr="/mnt/data/a_warm_paper_collage_illustration_style_scene_of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17320"/>
            <a:ext cx="4800600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417320"/>
            <a:ext cx="539496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06440" y="1417320"/>
            <a:ext cx="109728" cy="950976"/>
          </a:xfrm>
          <a:prstGeom prst="rect">
            <a:avLst/>
          </a:prstGeom>
          <a:solidFill>
            <a:srgbClr val="C76D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563624"/>
            <a:ext cx="237744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Laskar Pelangi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9048" y="1874520"/>
            <a:ext cx="4800600" cy="283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menjaga harapan murid di tengah keterbatasan. Teladan tampak dari konsistensi hadir dan percaya pada potensi murid.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806440" y="2587752"/>
            <a:ext cx="539496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06440" y="2587752"/>
            <a:ext cx="109728" cy="950976"/>
          </a:xfrm>
          <a:prstGeom prst="rect">
            <a:avLst/>
          </a:prstGeom>
          <a:solidFill>
            <a:srgbClr val="2F6F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734056"/>
            <a:ext cx="237744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Negeri 5 Menara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9048" y="3044952"/>
            <a:ext cx="4800600" cy="283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membangun disiplin yang memberi arah, bukan sekadar rasa takut. Murid belajar daya juang dan kebersamaan.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806440" y="3758184"/>
            <a:ext cx="539496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06440" y="3758184"/>
            <a:ext cx="109728" cy="950976"/>
          </a:xfrm>
          <a:prstGeom prst="rect">
            <a:avLst/>
          </a:prstGeom>
          <a:solidFill>
            <a:srgbClr val="78946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3904488"/>
            <a:ext cx="237744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89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Sekolah Rimba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99048" y="4215384"/>
            <a:ext cx="4800600" cy="283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mendengar konteks murid lebih dulu. Perubahan dilakukan bersama, bukan dipaksakan dari luar.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41248" y="4800600"/>
            <a:ext cx="10149840" cy="548640"/>
          </a:xfrm>
          <a:prstGeom prst="roundRect">
            <a:avLst>
              <a:gd name="adj" fmla="val 20000"/>
            </a:avLst>
          </a:prstGeom>
          <a:solidFill>
            <a:srgbClr val="C76D3C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4956048"/>
            <a:ext cx="97383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Insight: guru sebagai agen perubahan tidak selalu paling dominan; justru ia membuat murid semakin sadar, berdaya, dan percaya diri.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2.3 bagian refleksi film Laskar Pelangi, Negeri 5 Menara, dan Sekolah Rimba.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Bagaimana PSE Membentuk Karakter Guru Teladan?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Dari kesadaran diri menuju keputusan yang lebih mendidik.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920240" y="2834640"/>
            <a:ext cx="1188720" cy="0"/>
          </a:xfrm>
          <a:prstGeom prst="line">
            <a:avLst/>
          </a:prstGeom>
          <a:noFill/>
          <a:ln w="38100">
            <a:solidFill>
              <a:srgbClr val="D6A14B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14800" y="2834640"/>
            <a:ext cx="1188720" cy="0"/>
          </a:xfrm>
          <a:prstGeom prst="line">
            <a:avLst/>
          </a:prstGeom>
          <a:noFill/>
          <a:ln w="38100">
            <a:solidFill>
              <a:srgbClr val="D6A14B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09360" y="2834640"/>
            <a:ext cx="1188720" cy="0"/>
          </a:xfrm>
          <a:prstGeom prst="line">
            <a:avLst/>
          </a:prstGeom>
          <a:noFill/>
          <a:ln w="38100">
            <a:solidFill>
              <a:srgbClr val="D6A14B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2834640"/>
            <a:ext cx="1188720" cy="0"/>
          </a:xfrm>
          <a:prstGeom prst="line">
            <a:avLst/>
          </a:prstGeom>
          <a:noFill/>
          <a:ln w="38100">
            <a:solidFill>
              <a:srgbClr val="D6A14B">
                <a:alpha val="8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4088" y="2057400"/>
            <a:ext cx="1426464" cy="1426464"/>
          </a:xfrm>
          <a:prstGeom prst="ellipse">
            <a:avLst/>
          </a:prstGeom>
          <a:solidFill>
            <a:srgbClr val="2F6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450592"/>
            <a:ext cx="120700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Sadar diri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66928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mengenali emosi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898648" y="2057400"/>
            <a:ext cx="1426464" cy="1426464"/>
          </a:xfrm>
          <a:prstGeom prst="ellipse">
            <a:avLst/>
          </a:prstGeom>
          <a:solidFill>
            <a:srgbClr val="C76D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2450592"/>
            <a:ext cx="120700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Jeda respons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761488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impulsif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93208" y="2057400"/>
            <a:ext cx="1426464" cy="1426464"/>
          </a:xfrm>
          <a:prstGeom prst="ellipse">
            <a:avLst/>
          </a:prstGeom>
          <a:solidFill>
            <a:srgbClr val="2F6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2450592"/>
            <a:ext cx="120700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Empati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956048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kebutuhan murid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287768" y="2057400"/>
            <a:ext cx="1426464" cy="1426464"/>
          </a:xfrm>
          <a:prstGeom prst="ellipse">
            <a:avLst/>
          </a:prstGeom>
          <a:solidFill>
            <a:srgbClr val="C76D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7496" y="2450592"/>
            <a:ext cx="120700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 jelas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150608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tegas tanpa merendahkan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482328" y="2057400"/>
            <a:ext cx="1426464" cy="1426464"/>
          </a:xfrm>
          <a:prstGeom prst="ellipse">
            <a:avLst/>
          </a:prstGeom>
          <a:solidFill>
            <a:srgbClr val="2F6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2056" y="2450592"/>
            <a:ext cx="120700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Relasi aman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9345168" y="3749040"/>
            <a:ext cx="17373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murid berani belajar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143000" y="4754880"/>
            <a:ext cx="99212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5001768"/>
            <a:ext cx="9372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35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Keteladanan menjadi nyata ketika murid melihat guru mengelola emosi, menghargai orang lain, dan tetap bertanggung jawab saat menghadapi konflik.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621792" y="614476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D8070"/>
                </a:solidFill>
              </a:rPr>
              <a:t>Sumber isi: LK 2.3 bagian pengaruh PSE terhadap karakter guru sebagai teladan.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Interaksi Singkat untuk Audiens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Pilih respons guru yang paling mendidik.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61320" cy="868680"/>
          </a:xfrm>
          <a:prstGeom prst="roundRect">
            <a:avLst>
              <a:gd name="adj" fmla="val 14737"/>
            </a:avLst>
          </a:prstGeom>
          <a:solidFill>
            <a:srgbClr val="2F6F73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00784"/>
            <a:ext cx="992124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Situasi: kelas gaduh, dua murid tetap bercanda saat instruksi tugas sedang diberikan.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78892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3054096"/>
            <a:ext cx="530352" cy="530352"/>
          </a:xfrm>
          <a:prstGeom prst="ellipse">
            <a:avLst/>
          </a:prstGeom>
          <a:solidFill>
            <a:srgbClr val="C76D3C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3182112"/>
            <a:ext cx="530352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2990088"/>
            <a:ext cx="1874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Menegur keras dari depan kelas agar semua diam.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4709160" y="278892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3054096"/>
            <a:ext cx="530352" cy="530352"/>
          </a:xfrm>
          <a:prstGeom prst="ellipse">
            <a:avLst/>
          </a:prstGeom>
          <a:solidFill>
            <a:srgbClr val="78946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3182112"/>
            <a:ext cx="530352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2990088"/>
            <a:ext cx="1874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 beberapa detik, mendekat, lalu memberi instruksi singkat dengan suara rendah.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458200" y="2788920"/>
            <a:ext cx="320040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59368" y="3054096"/>
            <a:ext cx="530352" cy="530352"/>
          </a:xfrm>
          <a:prstGeom prst="ellipse">
            <a:avLst/>
          </a:prstGeom>
          <a:solidFill>
            <a:srgbClr val="C76D3C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3182112"/>
            <a:ext cx="530352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0" y="2990088"/>
            <a:ext cx="18745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Mengabaikan karena takut suasana menjadi tegang.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1920240" y="4892040"/>
            <a:ext cx="8321040" cy="530352"/>
          </a:xfrm>
          <a:prstGeom prst="roundRect">
            <a:avLst>
              <a:gd name="adj" fmla="val 20690"/>
            </a:avLst>
          </a:prstGeom>
          <a:solidFill>
            <a:srgbClr val="D6A14B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5056632"/>
            <a:ext cx="78638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D2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 diskusi: respons terbaik bukan yang paling cepat, tetapi yang menjaga tujuan belajar dan martabat murid.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D2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Upaya Pengembangan Diri Setelah Aktivitas 2.4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953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F655B"/>
                </a:solidFill>
              </a:rPr>
              <a:t>Rencana kecil yang bisa langsung saya latih selama PPL.</a:t>
            </a:r>
            <a:endParaRPr lang="en-US" sz="1150" dirty="0"/>
          </a:p>
        </p:txBody>
      </p:sp>
      <p:pic>
        <p:nvPicPr>
          <p:cNvPr id="4" name="Image 0" descr="/mnt/data/a_warm_cozy_stylized_paper_cut_illustration_scen_batch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937760" cy="2779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280160"/>
            <a:ext cx="4892040" cy="585216"/>
          </a:xfrm>
          <a:prstGeom prst="roundRect">
            <a:avLst>
              <a:gd name="adj" fmla="val 20313"/>
            </a:avLst>
          </a:prstGeom>
          <a:solidFill>
            <a:srgbClr val="FFFFFF"/>
          </a:solidFill>
          <a:ln w="10160">
            <a:solidFill>
              <a:srgbClr val="DDD1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1371600"/>
            <a:ext cx="18745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selesai mengajar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66760" y="1371600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mencatat satu momen emosi dan satu perbaikan.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2148840"/>
            <a:ext cx="4892040" cy="585216"/>
          </a:xfrm>
          <a:prstGeom prst="roundRect">
            <a:avLst>
              <a:gd name="adj" fmla="val 20313"/>
            </a:avLst>
          </a:prstGeom>
          <a:solidFill>
            <a:srgbClr val="FFF0DE"/>
          </a:solidFill>
          <a:ln w="10160">
            <a:solidFill>
              <a:srgbClr val="DDD1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2240280"/>
            <a:ext cx="18745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pekan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2240280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meminta umpan balik guru pamong pada satu aspek interaksi.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3017520"/>
            <a:ext cx="4892040" cy="585216"/>
          </a:xfrm>
          <a:prstGeom prst="roundRect">
            <a:avLst>
              <a:gd name="adj" fmla="val 20313"/>
            </a:avLst>
          </a:prstGeom>
          <a:solidFill>
            <a:srgbClr val="FFFFFF"/>
          </a:solidFill>
          <a:ln w="10160">
            <a:solidFill>
              <a:srgbClr val="DDD1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3108960"/>
            <a:ext cx="18745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kelas sulit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66760" y="3108960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mengambil jeda, mendekat, lalu menegur tanpa mempermalukan.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3886200"/>
            <a:ext cx="4892040" cy="585216"/>
          </a:xfrm>
          <a:prstGeom prst="roundRect">
            <a:avLst>
              <a:gd name="adj" fmla="val 20313"/>
            </a:avLst>
          </a:prstGeom>
          <a:solidFill>
            <a:srgbClr val="FFF0DE"/>
          </a:solidFill>
          <a:ln w="10160">
            <a:solidFill>
              <a:srgbClr val="DDD1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977640"/>
            <a:ext cx="18745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ada murid bermasalah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66760" y="3977640"/>
            <a:ext cx="233172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mendengar alasan lebih dulu sebelum menyimpulkan.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60120" y="4892040"/>
            <a:ext cx="10195560" cy="640080"/>
          </a:xfrm>
          <a:prstGeom prst="roundRect">
            <a:avLst>
              <a:gd name="adj" fmla="val 18571"/>
            </a:avLst>
          </a:prstGeom>
          <a:solidFill>
            <a:srgbClr val="355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4440" y="5084064"/>
            <a:ext cx="964692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pribadi: menjadi guru yang lebih tenang saat ditekan, lebih adil saat menilai, dan lebih sadar saat mengambil keputusan.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2.4 PSE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73">
              <a:alpha val="9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A26"/>
                </a:solidFill>
              </a:rPr>
              <a:t>Kesimpulan &amp; Sumber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44200" cy="1097280"/>
          </a:xfrm>
          <a:prstGeom prst="roundRect">
            <a:avLst>
              <a:gd name="adj" fmla="val 15000"/>
            </a:avLst>
          </a:prstGeom>
          <a:solidFill>
            <a:srgbClr val="C76D3C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27632"/>
            <a:ext cx="10149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 membantu guru menjadi teladan karena melatih cara hadir: sadar diri, peduli, mampu menjaga relasi, dan berani mengambil keputusan yang memanusiakan murid.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F73"/>
                </a:solidFill>
              </a:rPr>
              <a:t>Sumber / Referensi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310128"/>
            <a:ext cx="109728" cy="109728"/>
          </a:xfrm>
          <a:prstGeom prst="ellipse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200400"/>
            <a:ext cx="99669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Lembar Kerja 2.1 dan 2.2 — Pertanyaan Pemahaman Materi &amp; Analisis Kasus PSE, 2026.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39312"/>
            <a:ext cx="99669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Lembar Kerja 2.3 — Karakteristik Guru sebagai Teladan, 2026.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14400" y="4187952"/>
            <a:ext cx="109728" cy="109728"/>
          </a:xfrm>
          <a:prstGeom prst="ellipse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078224"/>
            <a:ext cx="99669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CASEL. (2024/2025). Social and Emotional Learning framework: self-awareness, self-management, social awareness, relationship skills, responsible decision-making.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14400" y="4626864"/>
            <a:ext cx="109728" cy="109728"/>
          </a:xfrm>
          <a:prstGeom prst="ellipse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517136"/>
            <a:ext cx="99669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UNESCO MGIEP. (2022–2026). Social and Emotional Learning / EMC²: empathy, mindfulness, compassion, critical inquiry.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14400" y="5065776"/>
            <a:ext cx="109728" cy="109728"/>
          </a:xfrm>
          <a:prstGeom prst="ellipse">
            <a:avLst/>
          </a:prstGeom>
          <a:solidFill>
            <a:srgbClr val="D6A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956048"/>
            <a:ext cx="996696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Kemdikdasmen/PPG. (2026). Aktivitas 2.4 PSE untuk Mengembangkan Diri Guru sebagai Teladan.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583680" y="548640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355A43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5632704"/>
            <a:ext cx="40690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 — mari lanjutkan lewat diskusi.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DD1BF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492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6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disusun sesuai rubrik referensi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0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76D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1487</Words>
  <Application>Microsoft Office PowerPoint</Application>
  <PresentationFormat>Widescreen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PPG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 untuk Mengembangkan Diri Guru Sebagai Teladan</dc:title>
  <dc:subject>Aktivitas 2.4 PSE untuk Mengembangkan Diri Guru sebagai Teladan</dc:subject>
  <dc:creator>Farid Taufik Nugraha</dc:creator>
  <cp:lastModifiedBy>Ahmad Nursyifa</cp:lastModifiedBy>
  <cp:revision>2</cp:revision>
  <dcterms:created xsi:type="dcterms:W3CDTF">2026-08-09T13:52:43Z</dcterms:created>
  <dcterms:modified xsi:type="dcterms:W3CDTF">2026-08-10T08:18:32Z</dcterms:modified>
</cp:coreProperties>
</file>