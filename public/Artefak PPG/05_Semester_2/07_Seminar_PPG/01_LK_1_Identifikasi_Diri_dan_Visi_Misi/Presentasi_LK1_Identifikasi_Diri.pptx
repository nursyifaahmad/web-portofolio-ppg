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826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ly_detailed_digital_illustr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94944"/>
            <a:ext cx="2834640" cy="310896"/>
          </a:xfrm>
          <a:prstGeom prst="rect">
            <a:avLst/>
          </a:prstGeom>
          <a:solidFill>
            <a:srgbClr val="061B2B">
              <a:alpha val="82000"/>
            </a:srgbClr>
          </a:solidFill>
          <a:ln>
            <a:solidFill>
              <a:srgbClr val="061B2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lvl="1"/>
            <a:r>
              <a:rPr lang="en-US" sz="1300" b="1" dirty="0">
                <a:solidFill>
                  <a:srgbClr val="FDBA22"/>
                </a:solidFill>
              </a:rPr>
              <a:t>IDENTIFIKASI DIRI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051560"/>
            <a:ext cx="6720840" cy="1417320"/>
          </a:xfrm>
          <a:prstGeom prst="rect">
            <a:avLst/>
          </a:prstGeom>
          <a:solidFill>
            <a:srgbClr val="061B2B">
              <a:alpha val="80000"/>
            </a:srgbClr>
          </a:solidFill>
          <a:ln>
            <a:solidFill>
              <a:srgbClr val="061B2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lvl="1"/>
            <a:r>
              <a:rPr lang="en-US" sz="3900" b="1" dirty="0">
                <a:solidFill>
                  <a:srgbClr val="FFFFFF"/>
                </a:solidFill>
              </a:rPr>
              <a:t>Visi, Misi, dan Tujuan</a:t>
            </a:r>
            <a:endParaRPr lang="en-US" sz="3900" dirty="0"/>
          </a:p>
          <a:p>
            <a:pPr lvl="1"/>
            <a:r>
              <a:rPr lang="en-US" sz="3900" b="1" dirty="0">
                <a:solidFill>
                  <a:srgbClr val="FFFFFF"/>
                </a:solidFill>
              </a:rPr>
              <a:t>Calon Guru Informatika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713232" y="2697480"/>
            <a:ext cx="1554480" cy="0"/>
          </a:xfrm>
          <a:prstGeom prst="line">
            <a:avLst/>
          </a:prstGeom>
          <a:noFill/>
          <a:ln w="50800">
            <a:solidFill>
              <a:srgbClr val="FDBA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2971800"/>
            <a:ext cx="4846320" cy="621792"/>
          </a:xfrm>
          <a:prstGeom prst="rect">
            <a:avLst/>
          </a:prstGeom>
          <a:solidFill>
            <a:srgbClr val="061B2B">
              <a:alpha val="72000"/>
            </a:srgbClr>
          </a:solidFill>
          <a:ln>
            <a:solidFill>
              <a:srgbClr val="061B2B">
                <a:alpha val="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lvl="1"/>
            <a:r>
              <a:rPr lang="en-US" sz="1550" dirty="0">
                <a:solidFill>
                  <a:srgbClr val="DCEFFF"/>
                </a:solidFill>
              </a:rPr>
              <a:t>Seminar Pendidikan Profesi Guru</a:t>
            </a:r>
            <a:endParaRPr lang="en-US" sz="1550" dirty="0"/>
          </a:p>
          <a:p>
            <a:pPr lvl="1"/>
            <a:r>
              <a:rPr lang="en-US" sz="1550" dirty="0">
                <a:solidFill>
                  <a:srgbClr val="DCEFFF"/>
                </a:solidFill>
              </a:rPr>
              <a:t>Ahmad Nursyifa - Informatika, PPG UPI 2026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13232" y="3858768"/>
            <a:ext cx="3017520" cy="274320"/>
          </a:xfrm>
          <a:prstGeom prst="rect">
            <a:avLst/>
          </a:prstGeom>
          <a:solidFill>
            <a:srgbClr val="FFF4D3"/>
          </a:solidFill>
          <a:ln>
            <a:solidFill>
              <a:srgbClr val="FFF4D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E59"/>
                </a:solidFill>
              </a:rPr>
              <a:t>PANDAI • TAAT • BERDAMPAK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Besar Identifikasi Diri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A75"/>
                </a:solidFill>
              </a:rPr>
              <a:t>Dari visi pribadi menuju tindakan nyata di kelas Informatika.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243584"/>
            <a:ext cx="1188720" cy="0"/>
          </a:xfrm>
          <a:prstGeom prst="line">
            <a:avLst/>
          </a:prstGeom>
          <a:noFill/>
          <a:ln w="38100">
            <a:solidFill>
              <a:srgbClr val="FDBA22"/>
            </a:solidFill>
            <a:prstDash val="solid"/>
          </a:ln>
        </p:spPr>
      </p:sp>
      <p:pic>
        <p:nvPicPr>
          <p:cNvPr id="6" name="Image 0" descr="/mnt/data/lk1_renders/p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019" y="914400"/>
            <a:ext cx="3778881" cy="5340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BA6"/>
                </a:solidFill>
              </a:rPr>
              <a:t>Inti LK 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2176272"/>
            <a:ext cx="347472" cy="347472"/>
          </a:xfrm>
          <a:prstGeom prst="ellipse">
            <a:avLst/>
          </a:prstGeom>
          <a:solidFill>
            <a:srgbClr val="0EABA6"/>
          </a:solidFill>
          <a:ln w="12700">
            <a:solidFill>
              <a:srgbClr val="0EAB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1945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61288" y="2148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59"/>
                </a:solidFill>
              </a:rPr>
              <a:t>Visi pendidikan Indonesia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61288" y="2478024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Pendidikan yang humanis, inklusif, berbasis teknologi, dan menyiapkan generasi berkarakter.</a:t>
            </a:r>
            <a:endParaRPr lang="en-US" sz="1270" dirty="0"/>
          </a:p>
        </p:txBody>
      </p:sp>
      <p:sp>
        <p:nvSpPr>
          <p:cNvPr id="12" name="Shape 9"/>
          <p:cNvSpPr/>
          <p:nvPr/>
        </p:nvSpPr>
        <p:spPr>
          <a:xfrm>
            <a:off x="685800" y="3255264"/>
            <a:ext cx="347472" cy="347472"/>
          </a:xfrm>
          <a:prstGeom prst="ellipse">
            <a:avLst/>
          </a:prstGeom>
          <a:solidFill>
            <a:srgbClr val="0C6BB8"/>
          </a:solidFill>
          <a:ln w="12700">
            <a:solidFill>
              <a:srgbClr val="0C6B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2735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61288" y="3227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59"/>
                </a:solidFill>
              </a:rPr>
              <a:t>Visi calon guru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61288" y="3557016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Menjadi guru Informatika profesional yang menuntun murid menjadi PANDAI.</a:t>
            </a:r>
            <a:endParaRPr lang="en-US" sz="1270" dirty="0"/>
          </a:p>
        </p:txBody>
      </p:sp>
      <p:sp>
        <p:nvSpPr>
          <p:cNvPr id="16" name="Shape 13"/>
          <p:cNvSpPr/>
          <p:nvPr/>
        </p:nvSpPr>
        <p:spPr>
          <a:xfrm>
            <a:off x="685800" y="4334256"/>
            <a:ext cx="347472" cy="347472"/>
          </a:xfrm>
          <a:prstGeom prst="ellipse">
            <a:avLst/>
          </a:prstGeom>
          <a:solidFill>
            <a:srgbClr val="FDBA22"/>
          </a:solidFill>
          <a:ln w="12700">
            <a:solidFill>
              <a:srgbClr val="FDBA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35254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61288" y="43068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59"/>
                </a:solidFill>
              </a:rPr>
              <a:t>Langkah pencapaian visi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61288" y="463600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Mewujudkannya melalui praktik, proyek digital, etika teknologi, studi kasus, dan karya bermanfaat.</a:t>
            </a:r>
            <a:endParaRPr lang="en-US" sz="12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2800" b="1" dirty="0">
                <a:solidFill>
                  <a:srgbClr val="0B2E59"/>
                </a:solidFill>
                <a:latin typeface="Arial" pitchFamily="34" charset="0"/>
                <a:cs typeface="Arial" pitchFamily="34" charset="-120"/>
              </a:rPr>
              <a:t>Visi Menjalani Hidup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A75"/>
                </a:solidFill>
              </a:rPr>
              <a:t>Nilai personal yang memperkuat arah menjadi pendidik yang bermanfaat.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243584"/>
            <a:ext cx="1188720" cy="0"/>
          </a:xfrm>
          <a:prstGeom prst="line">
            <a:avLst/>
          </a:prstGeom>
          <a:noFill/>
          <a:ln w="38100">
            <a:solidFill>
              <a:srgbClr val="FDBA22"/>
            </a:solidFill>
            <a:prstDash val="solid"/>
          </a:ln>
        </p:spPr>
      </p:sp>
      <p:pic>
        <p:nvPicPr>
          <p:cNvPr id="6" name="Image 0" descr="/mnt/data/lk1_renders/pag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999793"/>
            <a:ext cx="3703320" cy="52333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4813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2E59"/>
                </a:solidFill>
              </a:rPr>
              <a:t>TAAT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86384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EABA6"/>
                </a:solidFill>
              </a:rPr>
              <a:t>Taqwa • Akhlaq • Adaptasi • Terampil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822960" y="2770632"/>
            <a:ext cx="5715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F9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2898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BA6"/>
                </a:solidFill>
              </a:rPr>
              <a:t>Taqwa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377440" y="28712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E6A75"/>
                </a:solidFill>
              </a:rPr>
              <a:t>Nilai spiritual menjadi landasan dalam belajar dan berperilaku.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22960" y="3465576"/>
            <a:ext cx="5715000" cy="502920"/>
          </a:xfrm>
          <a:prstGeom prst="roundRect">
            <a:avLst/>
          </a:prstGeom>
          <a:solidFill>
            <a:srgbClr val="ECFAF9"/>
          </a:solidFill>
          <a:ln w="12700">
            <a:solidFill>
              <a:srgbClr val="DDEFF9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3593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DBA22"/>
                </a:solidFill>
              </a:rPr>
              <a:t>Akhlaq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377440" y="35661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E6A75"/>
                </a:solidFill>
              </a:rPr>
              <a:t>Jujur, peduli, bertanggung jawab, dan menghargai sesama.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822960" y="4160520"/>
            <a:ext cx="5715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F9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4288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6BB8"/>
                </a:solidFill>
              </a:rPr>
              <a:t>Adaptasi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377440" y="42611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E6A75"/>
                </a:solidFill>
              </a:rPr>
              <a:t>Siap menghadapi perubahan ilmu, teknologi, dan lingkungan sosial.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2960" y="4855464"/>
            <a:ext cx="5715000" cy="502920"/>
          </a:xfrm>
          <a:prstGeom prst="roundRect">
            <a:avLst/>
          </a:prstGeom>
          <a:solidFill>
            <a:srgbClr val="ECFAF9"/>
          </a:solidFill>
          <a:ln w="12700">
            <a:solidFill>
              <a:srgbClr val="DDEFF9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" y="4983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5DFD"/>
                </a:solidFill>
              </a:rPr>
              <a:t>Terampil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377440" y="49560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E6A75"/>
                </a:solidFill>
              </a:rPr>
              <a:t>Menguasai kemampuan akademik, praktis, dan keterampilan abad 21.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 Pendidikan Indonesia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A75"/>
                </a:solidFill>
              </a:rPr>
              <a:t>Pendidikan yang memanusiakan, membuka akses, dan relevan dengan zaman digital.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243584"/>
            <a:ext cx="1188720" cy="0"/>
          </a:xfrm>
          <a:prstGeom prst="line">
            <a:avLst/>
          </a:prstGeom>
          <a:noFill/>
          <a:ln w="38100">
            <a:solidFill>
              <a:srgbClr val="FDBA22"/>
            </a:solidFill>
            <a:prstDash val="solid"/>
          </a:ln>
        </p:spPr>
      </p:sp>
      <p:pic>
        <p:nvPicPr>
          <p:cNvPr id="6" name="Image 0" descr="/mnt/data/a_clean_modern_digital_illustration_3d_ish_vector_batch_2.png"/>
          <p:cNvPicPr>
            <a:picLocks noChangeAspect="1"/>
          </p:cNvPicPr>
          <p:nvPr/>
        </p:nvPicPr>
        <p:blipFill>
          <a:blip r:embed="rId3"/>
          <a:srcRect l="16294" r="16294"/>
          <a:stretch/>
        </p:blipFill>
        <p:spPr>
          <a:xfrm>
            <a:off x="594360" y="1508760"/>
            <a:ext cx="498348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212080" cy="932688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DCEEF8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2E59"/>
                </a:solidFill>
              </a:rPr>
              <a:t>“Mewujudkan pendidikan Indonesia yang humanis, inklusif, dan berbasis teknologi.”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035040" y="2788920"/>
            <a:ext cx="5166360" cy="868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DDEF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2788920"/>
            <a:ext cx="100584" cy="868680"/>
          </a:xfrm>
          <a:prstGeom prst="rect">
            <a:avLst/>
          </a:prstGeom>
          <a:solidFill>
            <a:srgbClr val="0EABA6"/>
          </a:solidFill>
          <a:ln w="12700">
            <a:solidFill>
              <a:srgbClr val="0EAB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36208" y="292608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59"/>
                </a:solidFill>
              </a:rPr>
              <a:t>Humanis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36207" y="3182112"/>
            <a:ext cx="42435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5"/>
                </a:solidFill>
              </a:rPr>
              <a:t>Pembelajaran menghargai potensi dan kebutuhan setiap murid.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39" y="3865626"/>
            <a:ext cx="5212079" cy="868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DDEF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865626"/>
            <a:ext cx="100584" cy="868680"/>
          </a:xfrm>
          <a:prstGeom prst="rect">
            <a:avLst/>
          </a:prstGeom>
          <a:solidFill>
            <a:srgbClr val="0C6BB8"/>
          </a:solidFill>
          <a:ln w="12700">
            <a:solidFill>
              <a:srgbClr val="0C6B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6208" y="4002786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59"/>
                </a:solidFill>
              </a:rPr>
              <a:t>Inklusif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36208" y="4258818"/>
            <a:ext cx="3490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5"/>
                </a:solidFill>
              </a:rPr>
              <a:t>Ruang belajar memberi kesempatan berkembang bagi semua.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4942332"/>
            <a:ext cx="5166360" cy="868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DDEF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4942332"/>
            <a:ext cx="100584" cy="868680"/>
          </a:xfrm>
          <a:prstGeom prst="rect">
            <a:avLst/>
          </a:prstGeom>
          <a:solidFill>
            <a:srgbClr val="6D5DFD"/>
          </a:solidFill>
          <a:ln w="12700">
            <a:solidFill>
              <a:srgbClr val="6D5DF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6208" y="5079492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59"/>
                </a:solidFill>
              </a:rPr>
              <a:t>Berbasis Teknologi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36208" y="5335524"/>
            <a:ext cx="4404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5"/>
                </a:solidFill>
              </a:rPr>
              <a:t>Informatika menjadi jalan untuk berpikir kritis dan berkarya.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 Calon Guru Informatika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A75"/>
                </a:solidFill>
              </a:rPr>
              <a:t>PANDAI menjadi arah karakter dan kompetensi murid yang ingin dituntun.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243584"/>
            <a:ext cx="1188720" cy="0"/>
          </a:xfrm>
          <a:prstGeom prst="line">
            <a:avLst/>
          </a:prstGeom>
          <a:noFill/>
          <a:ln w="38100">
            <a:solidFill>
              <a:srgbClr val="FDBA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B2E59"/>
                </a:solidFill>
              </a:rPr>
              <a:t>PANDAI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E6A75"/>
                </a:solidFill>
              </a:rPr>
              <a:t>Paham Teknologi • Akhlaq Mulia • Nalar Kritis • Disiplin • Adaptif • Inovatif</a:t>
            </a:r>
            <a:endParaRPr lang="en-US" sz="1500" dirty="0"/>
          </a:p>
        </p:txBody>
      </p:sp>
      <p:pic>
        <p:nvPicPr>
          <p:cNvPr id="8" name="Image 0" descr="/mnt/data/a_bright_modern_classroom_learning_scene_a_group_batch_1.png"/>
          <p:cNvPicPr>
            <a:picLocks noChangeAspect="1"/>
          </p:cNvPicPr>
          <p:nvPr/>
        </p:nvPicPr>
        <p:blipFill>
          <a:blip r:embed="rId3"/>
          <a:srcRect l="15853" r="15853"/>
          <a:stretch/>
        </p:blipFill>
        <p:spPr>
          <a:xfrm>
            <a:off x="6629400" y="1234440"/>
            <a:ext cx="493776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29400" y="1234440"/>
            <a:ext cx="4937760" cy="4069080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D8EF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3154680"/>
            <a:ext cx="384048" cy="384048"/>
          </a:xfrm>
          <a:prstGeom prst="ellipse">
            <a:avLst/>
          </a:prstGeom>
          <a:solidFill>
            <a:srgbClr val="0EABA6"/>
          </a:solidFill>
          <a:ln w="12700">
            <a:solidFill>
              <a:srgbClr val="0EABA6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6384" y="3172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316382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2E59"/>
                </a:solidFill>
              </a:rPr>
              <a:t>Paham Teknologi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1261872" y="340156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E6A75"/>
                </a:solidFill>
              </a:rPr>
              <a:t>Mampu menggunakan teknologi secara bermakna.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786384" y="3867912"/>
            <a:ext cx="384048" cy="384048"/>
          </a:xfrm>
          <a:prstGeom prst="ellipse">
            <a:avLst/>
          </a:prstGeom>
          <a:solidFill>
            <a:srgbClr val="FDBA22"/>
          </a:solidFill>
          <a:ln w="12700">
            <a:solidFill>
              <a:srgbClr val="FDBA22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6384" y="38862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61872" y="387705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2E59"/>
                </a:solidFill>
              </a:rPr>
              <a:t>Akhlaq Mulia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1261872" y="4114800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E6A75"/>
                </a:solidFill>
              </a:rPr>
              <a:t>Beretika dan bertanggung jawab di dunia digital.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86384" y="4581144"/>
            <a:ext cx="384048" cy="384048"/>
          </a:xfrm>
          <a:prstGeom prst="ellipse">
            <a:avLst/>
          </a:prstGeom>
          <a:solidFill>
            <a:srgbClr val="0C6BB8"/>
          </a:solidFill>
          <a:ln w="12700">
            <a:solidFill>
              <a:srgbClr val="0C6BB8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86384" y="45994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61872" y="459028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2E59"/>
                </a:solidFill>
              </a:rPr>
              <a:t>Nalar Kritis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1261872" y="4828032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E6A75"/>
                </a:solidFill>
              </a:rPr>
              <a:t>Mampu menimbang informasi dan memecahkan masalah.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3666744" y="3154680"/>
            <a:ext cx="384048" cy="384048"/>
          </a:xfrm>
          <a:prstGeom prst="ellipse">
            <a:avLst/>
          </a:prstGeom>
          <a:solidFill>
            <a:srgbClr val="6D5DFD"/>
          </a:solidFill>
          <a:ln w="12700">
            <a:solidFill>
              <a:srgbClr val="6D5DFD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666744" y="3172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142232" y="316382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2E59"/>
                </a:solidFill>
              </a:rPr>
              <a:t>Disiplin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142232" y="340156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E6A75"/>
                </a:solidFill>
              </a:rPr>
              <a:t>Konsisten dalam belajar, berkarya, dan menjaga aturan.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3666744" y="3867912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666744" y="38862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142232" y="387705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2E59"/>
                </a:solidFill>
              </a:rPr>
              <a:t>Adaptif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4142232" y="4114800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E6A75"/>
                </a:solidFill>
              </a:rPr>
              <a:t>Siap menghadapi perubahan ilmu dan sosial.</a:t>
            </a:r>
            <a:endParaRPr lang="en-US" sz="870" dirty="0"/>
          </a:p>
        </p:txBody>
      </p:sp>
      <p:sp>
        <p:nvSpPr>
          <p:cNvPr id="30" name="Shape 27"/>
          <p:cNvSpPr/>
          <p:nvPr/>
        </p:nvSpPr>
        <p:spPr>
          <a:xfrm>
            <a:off x="3666744" y="4581144"/>
            <a:ext cx="384048" cy="3840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666744" y="45994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142232" y="459028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2E59"/>
                </a:solidFill>
              </a:rPr>
              <a:t>Inovatif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4142232" y="4828032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E6A75"/>
                </a:solidFill>
              </a:rPr>
              <a:t>Menciptakan karya digital yang bermanfaat.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 Pembelajaran Informatika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A75"/>
                </a:solidFill>
              </a:rPr>
              <a:t>Enam misi yang menghubungkan pembelajaran, karakter, dan karya digital.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243584"/>
            <a:ext cx="1188720" cy="0"/>
          </a:xfrm>
          <a:prstGeom prst="line">
            <a:avLst/>
          </a:prstGeom>
          <a:noFill/>
          <a:ln w="38100">
            <a:solidFill>
              <a:srgbClr val="FDBA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36192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8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691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BA6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6733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2E59"/>
                </a:solidFill>
              </a:rPr>
              <a:t>Pembelajaran bermutu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932688" y="2112264"/>
            <a:ext cx="713232" cy="0"/>
          </a:xfrm>
          <a:prstGeom prst="line">
            <a:avLst/>
          </a:prstGeom>
          <a:noFill/>
          <a:ln w="25400">
            <a:solidFill>
              <a:srgbClr val="0EAB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3113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Informatika berkualitas dan inovatif berbasis teknologi terkini.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34840" y="1536192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8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6008" y="1691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6BB8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6733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2E59"/>
                </a:solidFill>
              </a:rPr>
              <a:t>Karakter &amp; akhlak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4636008" y="2112264"/>
            <a:ext cx="713232" cy="0"/>
          </a:xfrm>
          <a:prstGeom prst="line">
            <a:avLst/>
          </a:prstGeom>
          <a:noFill/>
          <a:ln w="25400">
            <a:solidFill>
              <a:srgbClr val="0C6B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223113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Nilai positif diintegrasikan dalam pengalaman belajar.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138160" y="1536192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8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9328" y="1691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BA22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16733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2E59"/>
                </a:solidFill>
              </a:rPr>
              <a:t>Nalar komputasional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8339328" y="2112264"/>
            <a:ext cx="713232" cy="0"/>
          </a:xfrm>
          <a:prstGeom prst="line">
            <a:avLst/>
          </a:prstGeom>
          <a:noFill/>
          <a:ln w="25400">
            <a:solidFill>
              <a:srgbClr val="FDB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223113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Murid dilatih berpikir logis, analitis, dan memecahkan masalah.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31520" y="3685032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8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2688" y="3840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D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8221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2E59"/>
                </a:solidFill>
              </a:rPr>
              <a:t>Etika digital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932688" y="4261104"/>
            <a:ext cx="713232" cy="0"/>
          </a:xfrm>
          <a:prstGeom prst="line">
            <a:avLst/>
          </a:prstGeom>
          <a:noFill/>
          <a:ln w="25400">
            <a:solidFill>
              <a:srgbClr val="6D5D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37997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Teknologi digunakan secara bijak, aman, dan bertanggung jawab.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434840" y="3685032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8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36008" y="3840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38221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2E59"/>
                </a:solidFill>
              </a:rPr>
              <a:t>Adaptasi &amp; kreativitas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4636008" y="4261104"/>
            <a:ext cx="71323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437997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Murid siap menghadapi perubahan teknologi dan ilmu.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138160" y="3685032"/>
            <a:ext cx="3154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8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39328" y="3840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7185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61120" y="38221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2E59"/>
                </a:solidFill>
              </a:rPr>
              <a:t>Inovasi kolaboratif</a:t>
            </a:r>
            <a:endParaRPr lang="en-US" sz="1420" dirty="0"/>
          </a:p>
        </p:txBody>
      </p:sp>
      <p:sp>
        <p:nvSpPr>
          <p:cNvPr id="34" name="Shape 32"/>
          <p:cNvSpPr/>
          <p:nvPr/>
        </p:nvSpPr>
        <p:spPr>
          <a:xfrm>
            <a:off x="8339328" y="4261104"/>
            <a:ext cx="713232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437997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Karya digital dibuat bersama dan memberi manfaat.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untuk Murid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A75"/>
                </a:solidFill>
              </a:rPr>
              <a:t>Tujuan akhir bukan hanya bisa memakai teknologi, tetapi mampu berpikir dan berkontribusi.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243584"/>
            <a:ext cx="1188720" cy="0"/>
          </a:xfrm>
          <a:prstGeom prst="line">
            <a:avLst/>
          </a:prstGeom>
          <a:noFill/>
          <a:ln w="38100">
            <a:solidFill>
              <a:srgbClr val="FDBA22"/>
            </a:solidFill>
            <a:prstDash val="solid"/>
          </a:ln>
        </p:spPr>
      </p:sp>
      <p:pic>
        <p:nvPicPr>
          <p:cNvPr id="6" name="Image 0" descr="/mnt/data/lk1_renders/pag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504" y="896112"/>
            <a:ext cx="3785352" cy="5349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481328"/>
            <a:ext cx="347472" cy="347472"/>
          </a:xfrm>
          <a:prstGeom prst="ellipse">
            <a:avLst/>
          </a:prstGeom>
          <a:solidFill>
            <a:srgbClr val="0EABA6"/>
          </a:solidFill>
          <a:ln w="12700">
            <a:solidFill>
              <a:srgbClr val="0EAB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49961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43584" y="14630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2E59"/>
                </a:solidFill>
              </a:rPr>
              <a:t>Memahami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3246120" y="14630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Konsep dasar informatika dan teknologi secara mendalam.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1243584" y="1911096"/>
            <a:ext cx="5349240" cy="0"/>
          </a:xfrm>
          <a:prstGeom prst="line">
            <a:avLst/>
          </a:prstGeom>
          <a:noFill/>
          <a:ln w="12700">
            <a:solidFill>
              <a:srgbClr val="E2F1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194560"/>
            <a:ext cx="347472" cy="347472"/>
          </a:xfrm>
          <a:prstGeom prst="ellipse">
            <a:avLst/>
          </a:prstGeom>
          <a:solidFill>
            <a:srgbClr val="0C6BB8"/>
          </a:solidFill>
          <a:ln w="12700">
            <a:solidFill>
              <a:srgbClr val="0C6B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2128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43584" y="21762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2E59"/>
                </a:solidFill>
              </a:rPr>
              <a:t>Berkarakter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3246120" y="217627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Jujur, kuat, dan berintegritas di dunia digital.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243584" y="2624328"/>
            <a:ext cx="5349240" cy="0"/>
          </a:xfrm>
          <a:prstGeom prst="line">
            <a:avLst/>
          </a:prstGeom>
          <a:noFill/>
          <a:ln w="12700">
            <a:solidFill>
              <a:srgbClr val="E2F1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2907792"/>
            <a:ext cx="347472" cy="347472"/>
          </a:xfrm>
          <a:prstGeom prst="ellipse">
            <a:avLst/>
          </a:prstGeom>
          <a:solidFill>
            <a:srgbClr val="FDBA22"/>
          </a:solidFill>
          <a:ln w="12700">
            <a:solidFill>
              <a:srgbClr val="FDBA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29260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43584" y="288950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2E59"/>
                </a:solidFill>
              </a:rPr>
              <a:t>Menganalisis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3246120" y="2889504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Mengevaluasi dan menciptakan solusi kreatif.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1243584" y="3337560"/>
            <a:ext cx="5349240" cy="0"/>
          </a:xfrm>
          <a:prstGeom prst="line">
            <a:avLst/>
          </a:prstGeom>
          <a:noFill/>
          <a:ln w="12700">
            <a:solidFill>
              <a:srgbClr val="E2F1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3621024"/>
            <a:ext cx="347472" cy="347472"/>
          </a:xfrm>
          <a:prstGeom prst="ellipse">
            <a:avLst/>
          </a:prstGeom>
          <a:solidFill>
            <a:srgbClr val="6D5DFD"/>
          </a:solidFill>
          <a:ln w="12700">
            <a:solidFill>
              <a:srgbClr val="6D5DF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6393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243584" y="360273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2E59"/>
                </a:solidFill>
              </a:rPr>
              <a:t>Mandiri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3246120" y="360273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Disiplin, bertanggung jawab dalam belajar dan bekerja.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1243584" y="4050792"/>
            <a:ext cx="5349240" cy="0"/>
          </a:xfrm>
          <a:prstGeom prst="line">
            <a:avLst/>
          </a:prstGeom>
          <a:noFill/>
          <a:ln w="12700">
            <a:solidFill>
              <a:srgbClr val="E2F1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334256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435254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243584" y="43159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2E59"/>
                </a:solidFill>
              </a:rPr>
              <a:t>Beradaptasi</a:t>
            </a:r>
            <a:endParaRPr lang="en-US" sz="1320" dirty="0"/>
          </a:p>
        </p:txBody>
      </p:sp>
      <p:sp>
        <p:nvSpPr>
          <p:cNvPr id="30" name="Text 27"/>
          <p:cNvSpPr/>
          <p:nvPr/>
        </p:nvSpPr>
        <p:spPr>
          <a:xfrm>
            <a:off x="3246120" y="431596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Cepat menyesuaikan diri dengan teknologi baru.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1243584" y="4764024"/>
            <a:ext cx="5349240" cy="0"/>
          </a:xfrm>
          <a:prstGeom prst="line">
            <a:avLst/>
          </a:prstGeom>
          <a:noFill/>
          <a:ln w="12700">
            <a:solidFill>
              <a:srgbClr val="E2F1F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" y="5047488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0657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243584" y="50292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2E59"/>
                </a:solidFill>
              </a:rPr>
              <a:t>Berkarya</a:t>
            </a:r>
            <a:endParaRPr lang="en-US" sz="1320" dirty="0"/>
          </a:p>
        </p:txBody>
      </p:sp>
      <p:sp>
        <p:nvSpPr>
          <p:cNvPr id="35" name="Text 32"/>
          <p:cNvSpPr/>
          <p:nvPr/>
        </p:nvSpPr>
        <p:spPr>
          <a:xfrm>
            <a:off x="3246120" y="502920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E6A75"/>
                </a:solidFill>
              </a:rPr>
              <a:t>Menghasilkan karya inovatif yang berdampak positif.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Mencapai Visi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A75"/>
                </a:solidFill>
              </a:rPr>
              <a:t>Cara kerja di kelas: dari konsep menjadi praktik, proyek, dan karya nyata.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243584"/>
            <a:ext cx="1188720" cy="0"/>
          </a:xfrm>
          <a:prstGeom prst="line">
            <a:avLst/>
          </a:prstGeom>
          <a:noFill/>
          <a:ln w="38100">
            <a:solidFill>
              <a:srgbClr val="FDBA22"/>
            </a:solidFill>
            <a:prstDash val="solid"/>
          </a:ln>
        </p:spPr>
      </p:sp>
      <p:pic>
        <p:nvPicPr>
          <p:cNvPr id="6" name="Image 0" descr="/mnt/data/a_clean_modern_digital_illustration_3d_ish_vector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75193"/>
            <a:ext cx="4800600" cy="270177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463040"/>
            <a:ext cx="480060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D8EF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1490472"/>
            <a:ext cx="411480" cy="411480"/>
          </a:xfrm>
          <a:prstGeom prst="ellipse">
            <a:avLst/>
          </a:prstGeom>
          <a:solidFill>
            <a:srgbClr val="0EABA6"/>
          </a:solidFill>
          <a:ln w="12700">
            <a:solidFill>
              <a:srgbClr val="0EABA6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1508760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89888" y="15087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</a:rPr>
              <a:t>Praktik &amp; proyek digital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89888" y="1773936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6A75"/>
                </a:solidFill>
              </a:rPr>
              <a:t>Murid mencoba, membuat, dan memperbaiki karya.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41248" y="2276856"/>
            <a:ext cx="411480" cy="411480"/>
          </a:xfrm>
          <a:prstGeom prst="ellipse">
            <a:avLst/>
          </a:prstGeom>
          <a:solidFill>
            <a:srgbClr val="0C6BB8"/>
          </a:solidFill>
          <a:ln w="12700">
            <a:solidFill>
              <a:srgbClr val="0C6BB8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1248" y="2295144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89888" y="2295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</a:rPr>
              <a:t>Etika teknologi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89888" y="2560320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6A75"/>
                </a:solidFill>
              </a:rPr>
              <a:t>Penggunaan digital diarahkan aman dan bertanggung jawab.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41248" y="3063240"/>
            <a:ext cx="411480" cy="411480"/>
          </a:xfrm>
          <a:prstGeom prst="ellipse">
            <a:avLst/>
          </a:prstGeom>
          <a:solidFill>
            <a:srgbClr val="FDBA22"/>
          </a:solidFill>
          <a:ln w="12700">
            <a:solidFill>
              <a:srgbClr val="FDBA22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1248" y="308152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89888" y="30815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</a:rPr>
              <a:t>Studi kasus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89888" y="3346704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6A75"/>
                </a:solidFill>
              </a:rPr>
              <a:t>Masalah nyata dipakai untuk melatih logika dan analisis.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3849624"/>
            <a:ext cx="411480" cy="411480"/>
          </a:xfrm>
          <a:prstGeom prst="ellipse">
            <a:avLst/>
          </a:prstGeom>
          <a:solidFill>
            <a:srgbClr val="6D5DFD"/>
          </a:solidFill>
          <a:ln w="12700">
            <a:solidFill>
              <a:srgbClr val="6D5DFD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41248" y="386791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89888" y="38679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</a:rPr>
              <a:t>Disiplin berkarya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89888" y="4133088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6A75"/>
                </a:solidFill>
              </a:rPr>
              <a:t>Konsistensi dibangun melalui proses dan target yang jelas.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41248" y="4636008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905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41248" y="4654296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389888" y="46542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</a:rPr>
              <a:t>Adaptasi perkembangan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389888" y="4919472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6A75"/>
                </a:solidFill>
              </a:rPr>
              <a:t>Murid dikenalkan pada perubahan ilmu, sosial, dan teknologi.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841248" y="5623560"/>
            <a:ext cx="5486400" cy="594360"/>
          </a:xfrm>
          <a:prstGeom prst="rect">
            <a:avLst/>
          </a:prstGeom>
          <a:solidFill>
            <a:srgbClr val="FFF8E3">
              <a:alpha val="92000"/>
            </a:srgbClr>
          </a:solidFill>
          <a:ln>
            <a:solidFill>
              <a:srgbClr val="DCEEF8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F2937"/>
                </a:solidFill>
              </a:rPr>
              <a:t>Targetnya: murid tidak hanya tahu, tetapi terbiasa berpikir, memilih sikap, dan menghasilkan karya.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/>
          <p:cNvSpPr/>
          <p:nvPr/>
        </p:nvSpPr>
        <p:spPr>
          <a:xfrm>
            <a:off x="4238960" y="3223260"/>
            <a:ext cx="3714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DBA22"/>
                </a:solidFill>
              </a:rPr>
              <a:t>Terima</a:t>
            </a:r>
            <a:r>
              <a:rPr lang="en-US" sz="4000" b="1" dirty="0">
                <a:solidFill>
                  <a:srgbClr val="FDBA22"/>
                </a:solidFill>
              </a:rPr>
              <a:t> </a:t>
            </a:r>
            <a:r>
              <a:rPr lang="id-ID" sz="4000" b="1" dirty="0">
                <a:solidFill>
                  <a:srgbClr val="FDBA22"/>
                </a:solidFill>
              </a:rPr>
              <a:t>K</a:t>
            </a:r>
            <a:r>
              <a:rPr lang="en-US" sz="4000" b="1" dirty="0" err="1">
                <a:solidFill>
                  <a:srgbClr val="FDBA22"/>
                </a:solidFill>
              </a:rPr>
              <a:t>asih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588</Words>
  <Application>Microsoft Office PowerPoint</Application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Universitas Pendidikan Indonesia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Identifikasi Diri - Visi, Misi, dan Tujuan Calon Guru Informatika</dc:title>
  <dc:subject>Presentasi LK 1 Identifikasi Diri</dc:subject>
  <dc:creator>OpenAI</dc:creator>
  <cp:lastModifiedBy>Ahmad Nursyifa</cp:lastModifiedBy>
  <cp:revision>2</cp:revision>
  <dcterms:created xsi:type="dcterms:W3CDTF">2026-08-10T00:38:18Z</dcterms:created>
  <dcterms:modified xsi:type="dcterms:W3CDTF">2026-08-10T02:07:41Z</dcterms:modified>
</cp:coreProperties>
</file>