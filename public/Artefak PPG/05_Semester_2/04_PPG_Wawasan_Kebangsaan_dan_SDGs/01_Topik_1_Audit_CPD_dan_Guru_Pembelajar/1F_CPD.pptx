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8" r:id="rId3"/>
    <p:sldId id="259" r:id="rId4"/>
    <p:sldId id="260" r:id="rId5"/>
    <p:sldId id="261" r:id="rId6"/>
    <p:sldId id="262" r:id="rId7"/>
    <p:sldId id="263" r:id="rId8"/>
    <p:sldId id="264"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2125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kasus ini menunjukkan guru baru yang merasa CPD hanya beban karena identik dengan sertifikat. Gagasan utama presentasi adalah mengembalikan CPD pada makna aslinya: belajar profesional yang dekat dengan masalah kelas dan dilakukan bersama ekosistem sekolah.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kasus ini, kita tidak boleh menyederhanakan masalah menjadi kurang motivasi. Guru baru sedang mengalami beban kerja tinggi dan CPD yang dipahami sebagai administratif. Strategi harus realistis, ringan, dan langsung menolong masalah pembelajaran.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menggunakan siklus Kolb karena kasus meminta analisis pengalaman, refleksi, konsep, dan eksperimen. Dengan Kolb, guru tidak belajar secara abstrak, tetapi selalu berangkat dari pengalaman konkret di kelas.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Pengalaman konkret adalah beban kerja, CPD administratif, keragaman siswa, dan hasil formatif yang belum memuaskan. Pertanyaan refleksi diarahkan pada bukti: bagian mana yang belum dipahami, siswa mana yang membutuhkan dukungan, dan apakah strategi guru terlalu seragam.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tahap konsep, guru perlu mempelajari strategi yang relevan dan dapat langsung dicoba. Konsep yang dipilih adalah asesmen formatif, diferensiasi sederhana, teaching at the right level, lesson study, dan coaching klinis.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Eksperimen harus realistis bagi guru baru. Kami merancang eksperimen empat minggu: membaca data awal, mencoba strategi, memberi dukungan berbasis kebutuhan, lalu mengevaluasi dampak.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menjawab instruksi tugas: rancang dukungan komunitas belajar agar guru tidak belajar sendirian. Dukungan sekolah terdiri dari mentor, triad observasi, diskusi mingguan, bank praktik baik, dan peran kepala sekolah.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indikator CPD harus bisa diamati. Ada bukti guru, bukti siswa, dan bukti komunitas. Dengan demikian CPD tidak berhenti sebagai aktivitas administratif, tetapi menjadi ekosistem belajar profesional di sekolah.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0"/>
            <a:ext cx="12191695" cy="118872"/>
          </a:xfrm>
          <a:prstGeom prst="rect">
            <a:avLst/>
          </a:prstGeom>
          <a:solidFill>
            <a:srgbClr val="0B6B78"/>
          </a:solidFill>
          <a:ln w="12700">
            <a:solidFill>
              <a:srgbClr val="0B6B78">
                <a:alpha val="0"/>
              </a:srgbClr>
            </a:solidFill>
            <a:prstDash val="solid"/>
          </a:ln>
        </p:spPr>
      </p:sp>
      <p:pic>
        <p:nvPicPr>
          <p:cNvPr id="4" name="Image 0" descr="/mnt/data/crop_cover.png"/>
          <p:cNvPicPr>
            <a:picLocks noChangeAspect="1"/>
          </p:cNvPicPr>
          <p:nvPr/>
        </p:nvPicPr>
        <p:blipFill>
          <a:blip r:embed="rId3"/>
          <a:stretch>
            <a:fillRect/>
          </a:stretch>
        </p:blipFill>
        <p:spPr>
          <a:xfrm>
            <a:off x="6492240" y="164592"/>
            <a:ext cx="5669280" cy="6172200"/>
          </a:xfrm>
          <a:prstGeom prst="rect">
            <a:avLst/>
          </a:prstGeom>
        </p:spPr>
      </p:pic>
      <p:sp>
        <p:nvSpPr>
          <p:cNvPr id="5" name="Shape 2"/>
          <p:cNvSpPr/>
          <p:nvPr/>
        </p:nvSpPr>
        <p:spPr>
          <a:xfrm>
            <a:off x="0" y="164592"/>
            <a:ext cx="6473952" cy="6172200"/>
          </a:xfrm>
          <a:prstGeom prst="rect">
            <a:avLst/>
          </a:prstGeom>
          <a:solidFill>
            <a:srgbClr val="FFF8EA"/>
          </a:solidFill>
          <a:ln w="12700">
            <a:solidFill>
              <a:srgbClr val="FFF8EA">
                <a:alpha val="0"/>
              </a:srgbClr>
            </a:solidFill>
            <a:prstDash val="solid"/>
          </a:ln>
        </p:spPr>
      </p:sp>
      <p:sp>
        <p:nvSpPr>
          <p:cNvPr id="6" name="Text 3"/>
          <p:cNvSpPr/>
          <p:nvPr/>
        </p:nvSpPr>
        <p:spPr>
          <a:xfrm>
            <a:off x="685800" y="667512"/>
            <a:ext cx="4160520" cy="310896"/>
          </a:xfrm>
          <a:prstGeom prst="rect">
            <a:avLst/>
          </a:prstGeom>
          <a:solidFill>
            <a:srgbClr val="DDF4EF"/>
          </a:solidFill>
          <a:ln>
            <a:solidFill>
              <a:srgbClr val="DDF4EF">
                <a:alpha val="0"/>
              </a:srgbClr>
            </a:solidFill>
          </a:ln>
        </p:spPr>
        <p:txBody>
          <a:bodyPr wrap="square" lIns="381" tIns="381" rIns="381" bIns="381" rtlCol="0" anchor="ctr">
            <a:normAutofit/>
          </a:bodyPr>
          <a:lstStyle/>
          <a:p>
            <a:pPr marL="0" indent="0" algn="ctr">
              <a:buNone/>
            </a:pPr>
            <a:r>
              <a:rPr lang="en-US" sz="1150" b="1" dirty="0">
                <a:solidFill>
                  <a:srgbClr val="0B6B78"/>
                </a:solidFill>
                <a:latin typeface="Aptos" pitchFamily="34" charset="0"/>
                <a:ea typeface="Aptos" pitchFamily="34" charset="-122"/>
                <a:cs typeface="Aptos" pitchFamily="34" charset="-120"/>
              </a:rPr>
              <a:t>DISKUSI 1.F • STRATEGI CPD BERBASIS SEKOLAH</a:t>
            </a:r>
            <a:endParaRPr lang="en-US" sz="1150" dirty="0"/>
          </a:p>
        </p:txBody>
      </p:sp>
      <p:sp>
        <p:nvSpPr>
          <p:cNvPr id="7" name="Text 4"/>
          <p:cNvSpPr/>
          <p:nvPr/>
        </p:nvSpPr>
        <p:spPr>
          <a:xfrm>
            <a:off x="685800" y="1243584"/>
            <a:ext cx="5577840" cy="1133856"/>
          </a:xfrm>
          <a:prstGeom prst="rect">
            <a:avLst/>
          </a:prstGeom>
          <a:noFill/>
          <a:ln/>
        </p:spPr>
        <p:txBody>
          <a:bodyPr wrap="square" lIns="0" tIns="0" rIns="0" bIns="0" rtlCol="0" anchor="ctr">
            <a:normAutofit lnSpcReduction="10000"/>
          </a:bodyPr>
          <a:lstStyle/>
          <a:p>
            <a:pPr marL="0" indent="0">
              <a:buNone/>
            </a:pPr>
            <a:r>
              <a:rPr lang="en-US" sz="4100" b="1" dirty="0">
                <a:solidFill>
                  <a:srgbClr val="0B2545"/>
                </a:solidFill>
                <a:latin typeface="Aptos Display" pitchFamily="34" charset="0"/>
                <a:ea typeface="Aptos Display" pitchFamily="34" charset="-122"/>
                <a:cs typeface="Aptos Display" pitchFamily="34" charset="-120"/>
              </a:rPr>
              <a:t>Guru Pembelajar</a:t>
            </a:r>
            <a:endParaRPr lang="en-US" sz="4100" dirty="0"/>
          </a:p>
          <a:p>
            <a:pPr marL="0" indent="0">
              <a:buNone/>
            </a:pPr>
            <a:r>
              <a:rPr lang="en-US" sz="4100" b="1" dirty="0">
                <a:solidFill>
                  <a:srgbClr val="0B2545"/>
                </a:solidFill>
                <a:latin typeface="Aptos Display" pitchFamily="34" charset="0"/>
                <a:ea typeface="Aptos Display" pitchFamily="34" charset="-122"/>
                <a:cs typeface="Aptos Display" pitchFamily="34" charset="-120"/>
              </a:rPr>
              <a:t>Sepanjang Hayat</a:t>
            </a:r>
            <a:endParaRPr lang="en-US" sz="4100" dirty="0"/>
          </a:p>
        </p:txBody>
      </p:sp>
      <p:sp>
        <p:nvSpPr>
          <p:cNvPr id="10" name="Text 7"/>
          <p:cNvSpPr/>
          <p:nvPr/>
        </p:nvSpPr>
        <p:spPr>
          <a:xfrm>
            <a:off x="685800" y="2846714"/>
            <a:ext cx="5074920" cy="1219436"/>
          </a:xfrm>
          <a:prstGeom prst="rect">
            <a:avLst/>
          </a:prstGeom>
          <a:solidFill>
            <a:srgbClr val="FFEFC7"/>
          </a:solidFill>
          <a:ln>
            <a:solidFill>
              <a:srgbClr val="FFEFC7">
                <a:alpha val="0"/>
              </a:srgbClr>
            </a:solidFill>
          </a:ln>
        </p:spPr>
        <p:txBody>
          <a:bodyPr wrap="square" lIns="1270" tIns="1270" rIns="1270" bIns="1270" rtlCol="0" anchor="ctr">
            <a:noAutofit/>
          </a:bodyPr>
          <a:lstStyle/>
          <a:p>
            <a:pPr marL="0" indent="0">
              <a:buNone/>
            </a:pPr>
            <a:r>
              <a:rPr lang="en-US" sz="1400" b="1" dirty="0" err="1">
                <a:solidFill>
                  <a:srgbClr val="0B2545"/>
                </a:solidFill>
                <a:latin typeface="Aptos" pitchFamily="34" charset="0"/>
                <a:ea typeface="Aptos" pitchFamily="34" charset="-122"/>
                <a:cs typeface="Aptos" pitchFamily="34" charset="-120"/>
              </a:rPr>
              <a:t>Anggota</a:t>
            </a:r>
            <a:r>
              <a:rPr lang="en-US" sz="1400" b="1" dirty="0">
                <a:solidFill>
                  <a:srgbClr val="0B2545"/>
                </a:solidFill>
                <a:latin typeface="Aptos" pitchFamily="34" charset="0"/>
                <a:ea typeface="Aptos" pitchFamily="34" charset="-122"/>
                <a:cs typeface="Aptos" pitchFamily="34" charset="-120"/>
              </a:rPr>
              <a:t> </a:t>
            </a:r>
            <a:r>
              <a:rPr lang="en-US" sz="1400" b="1" dirty="0" err="1">
                <a:solidFill>
                  <a:srgbClr val="0B2545"/>
                </a:solidFill>
                <a:latin typeface="Aptos" pitchFamily="34" charset="0"/>
                <a:ea typeface="Aptos" pitchFamily="34" charset="-122"/>
                <a:cs typeface="Aptos" pitchFamily="34" charset="-120"/>
              </a:rPr>
              <a:t>Kelompok</a:t>
            </a:r>
            <a:r>
              <a:rPr lang="en-US" sz="1400" b="1" dirty="0">
                <a:solidFill>
                  <a:srgbClr val="0B2545"/>
                </a:solidFill>
                <a:latin typeface="Aptos" pitchFamily="34" charset="0"/>
                <a:ea typeface="Aptos" pitchFamily="34" charset="-122"/>
                <a:cs typeface="Aptos" pitchFamily="34" charset="-120"/>
              </a:rPr>
              <a:t>:</a:t>
            </a:r>
          </a:p>
          <a:p>
            <a:pPr marL="342900" indent="-342900">
              <a:buAutoNum type="arabicPeriod"/>
            </a:pPr>
            <a:r>
              <a:rPr lang="en-US" sz="1400" b="1" dirty="0">
                <a:solidFill>
                  <a:srgbClr val="0B2545"/>
                </a:solidFill>
                <a:latin typeface="Aptos" pitchFamily="34" charset="0"/>
                <a:ea typeface="Aptos" pitchFamily="34" charset="-122"/>
              </a:rPr>
              <a:t>Dian Budi </a:t>
            </a:r>
            <a:r>
              <a:rPr lang="en-US" sz="1400" b="1" dirty="0" err="1">
                <a:solidFill>
                  <a:srgbClr val="0B2545"/>
                </a:solidFill>
                <a:latin typeface="Aptos" pitchFamily="34" charset="0"/>
                <a:ea typeface="Aptos" pitchFamily="34" charset="-122"/>
              </a:rPr>
              <a:t>Elnursa</a:t>
            </a:r>
            <a:r>
              <a:rPr lang="en-US" sz="1400" b="1" dirty="0">
                <a:solidFill>
                  <a:srgbClr val="0B2545"/>
                </a:solidFill>
                <a:latin typeface="Aptos" pitchFamily="34" charset="0"/>
                <a:ea typeface="Aptos" pitchFamily="34" charset="-122"/>
              </a:rPr>
              <a:t> (2530682)</a:t>
            </a:r>
          </a:p>
          <a:p>
            <a:pPr marL="342900" indent="-342900">
              <a:buAutoNum type="arabicPeriod"/>
            </a:pPr>
            <a:r>
              <a:rPr lang="en-US" sz="1400" b="1" dirty="0" err="1">
                <a:solidFill>
                  <a:srgbClr val="0B2545"/>
                </a:solidFill>
                <a:latin typeface="Aptos" pitchFamily="34" charset="0"/>
                <a:ea typeface="Aptos" pitchFamily="34" charset="-122"/>
              </a:rPr>
              <a:t>Anthonio</a:t>
            </a:r>
            <a:r>
              <a:rPr lang="en-US" sz="1400" b="1" dirty="0">
                <a:solidFill>
                  <a:srgbClr val="0B2545"/>
                </a:solidFill>
                <a:latin typeface="Aptos" pitchFamily="34" charset="0"/>
                <a:ea typeface="Aptos" pitchFamily="34" charset="-122"/>
              </a:rPr>
              <a:t> Akbar (2530710)</a:t>
            </a:r>
          </a:p>
          <a:p>
            <a:pPr marL="342900" indent="-342900">
              <a:buAutoNum type="arabicPeriod"/>
            </a:pPr>
            <a:r>
              <a:rPr lang="en-US" sz="1400" b="1" dirty="0" err="1">
                <a:solidFill>
                  <a:srgbClr val="0B2545"/>
                </a:solidFill>
                <a:latin typeface="Aptos" pitchFamily="34" charset="0"/>
                <a:ea typeface="Aptos" pitchFamily="34" charset="-122"/>
              </a:rPr>
              <a:t>Ulfa</a:t>
            </a:r>
            <a:r>
              <a:rPr lang="en-US" sz="1400" b="1" dirty="0">
                <a:solidFill>
                  <a:srgbClr val="0B2545"/>
                </a:solidFill>
                <a:latin typeface="Aptos" pitchFamily="34" charset="0"/>
                <a:ea typeface="Aptos" pitchFamily="34" charset="-122"/>
              </a:rPr>
              <a:t> </a:t>
            </a:r>
            <a:r>
              <a:rPr lang="en-US" sz="1400" b="1" dirty="0" err="1">
                <a:solidFill>
                  <a:srgbClr val="0B2545"/>
                </a:solidFill>
                <a:latin typeface="Aptos" pitchFamily="34" charset="0"/>
                <a:ea typeface="Aptos" pitchFamily="34" charset="-122"/>
              </a:rPr>
              <a:t>Mardatillah</a:t>
            </a:r>
            <a:r>
              <a:rPr lang="en-US" sz="1400" b="1" dirty="0">
                <a:solidFill>
                  <a:srgbClr val="0B2545"/>
                </a:solidFill>
                <a:latin typeface="Aptos" pitchFamily="34" charset="0"/>
                <a:ea typeface="Aptos" pitchFamily="34" charset="-122"/>
              </a:rPr>
              <a:t> (2530701)</a:t>
            </a:r>
          </a:p>
          <a:p>
            <a:pPr marL="342900" indent="-342900">
              <a:buAutoNum type="arabicPeriod"/>
            </a:pPr>
            <a:r>
              <a:rPr lang="en-US" sz="1400" b="1" dirty="0">
                <a:solidFill>
                  <a:srgbClr val="0B2545"/>
                </a:solidFill>
                <a:latin typeface="Aptos" pitchFamily="34" charset="0"/>
                <a:ea typeface="Aptos" pitchFamily="34" charset="-122"/>
              </a:rPr>
              <a:t>Ahmad </a:t>
            </a:r>
            <a:r>
              <a:rPr lang="en-US" sz="1400" b="1" dirty="0" err="1">
                <a:solidFill>
                  <a:srgbClr val="0B2545"/>
                </a:solidFill>
                <a:latin typeface="Aptos" pitchFamily="34" charset="0"/>
                <a:ea typeface="Aptos" pitchFamily="34" charset="-122"/>
              </a:rPr>
              <a:t>Nursyifa</a:t>
            </a:r>
            <a:r>
              <a:rPr lang="en-US" sz="1400" b="1" dirty="0">
                <a:solidFill>
                  <a:srgbClr val="0B2545"/>
                </a:solidFill>
                <a:latin typeface="Aptos" pitchFamily="34" charset="0"/>
                <a:ea typeface="Aptos" pitchFamily="34" charset="-122"/>
              </a:rPr>
              <a:t> (2530712)</a:t>
            </a:r>
          </a:p>
          <a:p>
            <a:pPr marL="342900" indent="-342900">
              <a:buAutoNum type="arabicPeriod"/>
            </a:pPr>
            <a:r>
              <a:rPr lang="en-US" sz="1400" b="1" dirty="0">
                <a:solidFill>
                  <a:srgbClr val="0B2545"/>
                </a:solidFill>
                <a:latin typeface="Aptos" pitchFamily="34" charset="0"/>
                <a:ea typeface="Aptos" pitchFamily="34" charset="-122"/>
              </a:rPr>
              <a:t>Farid </a:t>
            </a:r>
            <a:r>
              <a:rPr lang="en-US" sz="1400" b="1" dirty="0" err="1">
                <a:solidFill>
                  <a:srgbClr val="0B2545"/>
                </a:solidFill>
                <a:latin typeface="Aptos" pitchFamily="34" charset="0"/>
                <a:ea typeface="Aptos" pitchFamily="34" charset="-122"/>
              </a:rPr>
              <a:t>Taufik</a:t>
            </a:r>
            <a:r>
              <a:rPr lang="en-US" sz="1400" b="1" dirty="0">
                <a:solidFill>
                  <a:srgbClr val="0B2545"/>
                </a:solidFill>
                <a:latin typeface="Aptos" pitchFamily="34" charset="0"/>
                <a:ea typeface="Aptos" pitchFamily="34" charset="-122"/>
              </a:rPr>
              <a:t> </a:t>
            </a:r>
            <a:r>
              <a:rPr lang="en-US" sz="1400" b="1" dirty="0" err="1">
                <a:solidFill>
                  <a:srgbClr val="0B2545"/>
                </a:solidFill>
                <a:latin typeface="Aptos" pitchFamily="34" charset="0"/>
                <a:ea typeface="Aptos" pitchFamily="34" charset="-122"/>
              </a:rPr>
              <a:t>Nugraha</a:t>
            </a:r>
            <a:r>
              <a:rPr lang="id-ID" sz="1400" b="1">
                <a:solidFill>
                  <a:srgbClr val="0B2545"/>
                </a:solidFill>
                <a:latin typeface="Aptos" pitchFamily="34" charset="0"/>
                <a:ea typeface="Aptos" pitchFamily="34" charset="-122"/>
              </a:rPr>
              <a:t> (2530705)</a:t>
            </a:r>
            <a:endParaRPr lang="en-US" sz="1400" b="1" dirty="0">
              <a:solidFill>
                <a:srgbClr val="0B2545"/>
              </a:solidFill>
              <a:latin typeface="Aptos" pitchFamily="34" charset="0"/>
              <a:ea typeface="Aptos" pitchFamily="34" charset="-122"/>
            </a:endParaRPr>
          </a:p>
        </p:txBody>
      </p:sp>
      <p:sp>
        <p:nvSpPr>
          <p:cNvPr id="11" name="Shape 8"/>
          <p:cNvSpPr/>
          <p:nvPr/>
        </p:nvSpPr>
        <p:spPr>
          <a:xfrm>
            <a:off x="594360" y="6473952"/>
            <a:ext cx="10972800" cy="0"/>
          </a:xfrm>
          <a:prstGeom prst="line">
            <a:avLst/>
          </a:prstGeom>
          <a:noFill/>
          <a:ln w="12700">
            <a:solidFill>
              <a:srgbClr val="D5E0DE"/>
            </a:solidFill>
            <a:prstDash val="solid"/>
          </a:ln>
        </p:spPr>
      </p:sp>
      <p:sp>
        <p:nvSpPr>
          <p:cNvPr id="12" name="Text 9"/>
          <p:cNvSpPr/>
          <p:nvPr/>
        </p:nvSpPr>
        <p:spPr>
          <a:xfrm>
            <a:off x="594360" y="6556248"/>
            <a:ext cx="7498080" cy="146304"/>
          </a:xfrm>
          <a:prstGeom prst="rect">
            <a:avLst/>
          </a:prstGeom>
          <a:noFill/>
          <a:ln/>
        </p:spPr>
        <p:txBody>
          <a:bodyPr wrap="square" lIns="0" tIns="0" rIns="0" bIns="0" rtlCol="0" anchor="ctr"/>
          <a:lstStyle/>
          <a:p>
            <a:pPr marL="0" indent="0">
              <a:buNone/>
            </a:pPr>
            <a:r>
              <a:rPr lang="en-US" sz="730" dirty="0">
                <a:solidFill>
                  <a:srgbClr val="60737A"/>
                </a:solidFill>
              </a:rPr>
              <a:t>1.F Diskusi • Guru Pembelajar Sepanjang Hayat dalam Ekosistem Sekolah</a:t>
            </a:r>
            <a:endParaRPr lang="en-US" sz="73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0"/>
            <a:ext cx="12191695" cy="118872"/>
          </a:xfrm>
          <a:prstGeom prst="rect">
            <a:avLst/>
          </a:prstGeom>
          <a:solidFill>
            <a:srgbClr val="0B6B78"/>
          </a:solidFill>
          <a:ln w="12700">
            <a:solidFill>
              <a:srgbClr val="0B6B78">
                <a:alpha val="0"/>
              </a:srgbClr>
            </a:solidFill>
            <a:prstDash val="solid"/>
          </a:ln>
        </p:spPr>
      </p:sp>
      <p:sp>
        <p:nvSpPr>
          <p:cNvPr id="4" name="Text 2"/>
          <p:cNvSpPr/>
          <p:nvPr/>
        </p:nvSpPr>
        <p:spPr>
          <a:xfrm>
            <a:off x="621792" y="310896"/>
            <a:ext cx="8046720" cy="237744"/>
          </a:xfrm>
          <a:prstGeom prst="rect">
            <a:avLst/>
          </a:prstGeom>
          <a:noFill/>
          <a:ln/>
        </p:spPr>
        <p:txBody>
          <a:bodyPr wrap="square" lIns="0" tIns="0" rIns="0" bIns="0" rtlCol="0" anchor="ctr"/>
          <a:lstStyle/>
          <a:p>
            <a:pPr marL="0" indent="0">
              <a:buNone/>
            </a:pPr>
            <a:r>
              <a:rPr lang="en-US" sz="950" b="1" dirty="0">
                <a:solidFill>
                  <a:srgbClr val="0B6B78"/>
                </a:solidFill>
              </a:rPr>
              <a:t>ANALISIS KASUS</a:t>
            </a:r>
            <a:endParaRPr lang="en-US" sz="950" dirty="0"/>
          </a:p>
        </p:txBody>
      </p:sp>
      <p:sp>
        <p:nvSpPr>
          <p:cNvPr id="5" name="Text 3"/>
          <p:cNvSpPr/>
          <p:nvPr/>
        </p:nvSpPr>
        <p:spPr>
          <a:xfrm>
            <a:off x="594360" y="498348"/>
            <a:ext cx="10972800" cy="475488"/>
          </a:xfrm>
          <a:prstGeom prst="rect">
            <a:avLst/>
          </a:prstGeom>
          <a:noFill/>
          <a:ln/>
        </p:spPr>
        <p:txBody>
          <a:bodyPr wrap="square" lIns="0" tIns="0" rIns="0" bIns="0" rtlCol="0" anchor="ctr">
            <a:normAutofit/>
          </a:bodyPr>
          <a:lstStyle/>
          <a:p>
            <a:pPr marL="0" indent="0" algn="ctr">
              <a:buNone/>
            </a:pPr>
            <a:r>
              <a:rPr lang="en-US" sz="2850" b="1" dirty="0" err="1">
                <a:solidFill>
                  <a:srgbClr val="0B2545"/>
                </a:solidFill>
                <a:latin typeface="Aptos Display" pitchFamily="34" charset="0"/>
                <a:ea typeface="Aptos Display" pitchFamily="34" charset="-122"/>
                <a:cs typeface="Aptos Display" pitchFamily="34" charset="-120"/>
              </a:rPr>
              <a:t>Bukan</a:t>
            </a:r>
            <a:r>
              <a:rPr lang="en-US" sz="2850" b="1" dirty="0">
                <a:solidFill>
                  <a:srgbClr val="0B2545"/>
                </a:solidFill>
                <a:latin typeface="Aptos Display" pitchFamily="34" charset="0"/>
                <a:ea typeface="Aptos Display" pitchFamily="34" charset="-122"/>
                <a:cs typeface="Aptos Display" pitchFamily="34" charset="-120"/>
              </a:rPr>
              <a:t> guru “malas belajar”</a:t>
            </a:r>
            <a:endParaRPr lang="en-US" sz="2850" dirty="0"/>
          </a:p>
        </p:txBody>
      </p:sp>
      <p:sp>
        <p:nvSpPr>
          <p:cNvPr id="6" name="Text 4"/>
          <p:cNvSpPr/>
          <p:nvPr/>
        </p:nvSpPr>
        <p:spPr>
          <a:xfrm>
            <a:off x="612648" y="1143000"/>
            <a:ext cx="10607040" cy="292608"/>
          </a:xfrm>
          <a:prstGeom prst="rect">
            <a:avLst/>
          </a:prstGeom>
          <a:noFill/>
          <a:ln/>
        </p:spPr>
        <p:txBody>
          <a:bodyPr wrap="square" lIns="0" tIns="0" rIns="0" bIns="0" rtlCol="0" anchor="ctr">
            <a:normAutofit/>
          </a:bodyPr>
          <a:lstStyle/>
          <a:p>
            <a:pPr marL="0" indent="0">
              <a:buNone/>
            </a:pPr>
            <a:r>
              <a:rPr lang="en-US" sz="1350" dirty="0">
                <a:solidFill>
                  <a:srgbClr val="263238"/>
                </a:solidFill>
              </a:rPr>
              <a:t>Guru baru terjepit antara beban mengajar, CPD administratif, dan kebutuhan siswa yang beragam.</a:t>
            </a:r>
            <a:endParaRPr lang="en-US" sz="1350" dirty="0"/>
          </a:p>
        </p:txBody>
      </p:sp>
      <p:pic>
        <p:nvPicPr>
          <p:cNvPr id="7" name="Image 0" descr="/mnt/data/crop_case.png"/>
          <p:cNvPicPr>
            <a:picLocks noChangeAspect="1"/>
          </p:cNvPicPr>
          <p:nvPr/>
        </p:nvPicPr>
        <p:blipFill>
          <a:blip r:embed="rId3"/>
          <a:stretch>
            <a:fillRect/>
          </a:stretch>
        </p:blipFill>
        <p:spPr>
          <a:xfrm>
            <a:off x="7360920" y="1536192"/>
            <a:ext cx="4343400" cy="2999232"/>
          </a:xfrm>
          <a:prstGeom prst="rect">
            <a:avLst/>
          </a:prstGeom>
        </p:spPr>
      </p:pic>
      <p:sp>
        <p:nvSpPr>
          <p:cNvPr id="8" name="Text 5"/>
          <p:cNvSpPr/>
          <p:nvPr/>
        </p:nvSpPr>
        <p:spPr>
          <a:xfrm>
            <a:off x="685800" y="1627632"/>
            <a:ext cx="2148840" cy="347472"/>
          </a:xfrm>
          <a:prstGeom prst="rect">
            <a:avLst/>
          </a:prstGeom>
          <a:solidFill>
            <a:srgbClr val="FFEFC7"/>
          </a:solidFill>
          <a:ln>
            <a:solidFill>
              <a:srgbClr val="FFEFC7">
                <a:alpha val="0"/>
              </a:srgbClr>
            </a:solidFill>
          </a:ln>
        </p:spPr>
        <p:txBody>
          <a:bodyPr wrap="square" lIns="1270" tIns="1270" rIns="1270" bIns="1270" rtlCol="0" anchor="ctr">
            <a:normAutofit/>
          </a:bodyPr>
          <a:lstStyle/>
          <a:p>
            <a:pPr marL="0" indent="0" algn="ctr">
              <a:buNone/>
            </a:pPr>
            <a:r>
              <a:rPr lang="en-US" sz="1500" b="1" dirty="0" err="1">
                <a:solidFill>
                  <a:srgbClr val="0B2545"/>
                </a:solidFill>
                <a:latin typeface="Aptos" pitchFamily="34" charset="0"/>
                <a:ea typeface="Aptos" pitchFamily="34" charset="-122"/>
                <a:cs typeface="Aptos" pitchFamily="34" charset="-120"/>
              </a:rPr>
              <a:t>Masalah</a:t>
            </a:r>
            <a:r>
              <a:rPr lang="en-US" sz="1500" b="1" dirty="0">
                <a:solidFill>
                  <a:srgbClr val="0B2545"/>
                </a:solidFill>
                <a:latin typeface="Aptos" pitchFamily="34" charset="0"/>
                <a:ea typeface="Aptos" pitchFamily="34" charset="-122"/>
                <a:cs typeface="Aptos" pitchFamily="34" charset="-120"/>
              </a:rPr>
              <a:t> </a:t>
            </a:r>
            <a:r>
              <a:rPr lang="en-US" sz="1500" b="1" dirty="0" err="1">
                <a:solidFill>
                  <a:srgbClr val="0B2545"/>
                </a:solidFill>
                <a:latin typeface="Aptos" pitchFamily="34" charset="0"/>
                <a:ea typeface="Aptos" pitchFamily="34" charset="-122"/>
                <a:cs typeface="Aptos" pitchFamily="34" charset="-120"/>
              </a:rPr>
              <a:t>Dasar</a:t>
            </a:r>
            <a:endParaRPr lang="en-US" sz="1500" dirty="0"/>
          </a:p>
        </p:txBody>
      </p:sp>
      <p:sp>
        <p:nvSpPr>
          <p:cNvPr id="9" name="Text 6"/>
          <p:cNvSpPr/>
          <p:nvPr/>
        </p:nvSpPr>
        <p:spPr>
          <a:xfrm>
            <a:off x="685800" y="2130552"/>
            <a:ext cx="5577840" cy="438912"/>
          </a:xfrm>
          <a:prstGeom prst="rect">
            <a:avLst/>
          </a:prstGeom>
          <a:noFill/>
          <a:ln/>
        </p:spPr>
        <p:txBody>
          <a:bodyPr wrap="square" lIns="0" tIns="0" rIns="0" bIns="0" rtlCol="0" anchor="ctr">
            <a:normAutofit fontScale="92500" lnSpcReduction="10000"/>
          </a:bodyPr>
          <a:lstStyle/>
          <a:p>
            <a:pPr marL="0" indent="0">
              <a:buNone/>
            </a:pPr>
            <a:r>
              <a:rPr lang="en-US" sz="1680" dirty="0">
                <a:solidFill>
                  <a:srgbClr val="263238"/>
                </a:solidFill>
              </a:rPr>
              <a:t>CPD terasa sebagai tambahan beban karena dimaknai hanya sebagai pengumpulan sertifikat.</a:t>
            </a:r>
            <a:endParaRPr lang="en-US" sz="1680" dirty="0"/>
          </a:p>
        </p:txBody>
      </p:sp>
      <p:sp>
        <p:nvSpPr>
          <p:cNvPr id="10" name="Text 7"/>
          <p:cNvSpPr/>
          <p:nvPr/>
        </p:nvSpPr>
        <p:spPr>
          <a:xfrm>
            <a:off x="685800" y="2907792"/>
            <a:ext cx="1828800" cy="347472"/>
          </a:xfrm>
          <a:prstGeom prst="rect">
            <a:avLst/>
          </a:prstGeom>
          <a:solidFill>
            <a:srgbClr val="DDF4EF"/>
          </a:solidFill>
          <a:ln>
            <a:solidFill>
              <a:srgbClr val="DDF4EF">
                <a:alpha val="0"/>
              </a:srgbClr>
            </a:solidFill>
          </a:ln>
        </p:spPr>
        <p:txBody>
          <a:bodyPr wrap="square" lIns="1270" tIns="1270" rIns="1270" bIns="1270" rtlCol="0" anchor="ctr">
            <a:normAutofit/>
          </a:bodyPr>
          <a:lstStyle/>
          <a:p>
            <a:pPr marL="0" indent="0" algn="ctr">
              <a:buNone/>
            </a:pPr>
            <a:r>
              <a:rPr lang="en-US" sz="1500" b="1" dirty="0">
                <a:solidFill>
                  <a:srgbClr val="0B2545"/>
                </a:solidFill>
                <a:latin typeface="Aptos" pitchFamily="34" charset="0"/>
                <a:ea typeface="Aptos" pitchFamily="34" charset="-122"/>
                <a:cs typeface="Aptos" pitchFamily="34" charset="-120"/>
              </a:rPr>
              <a:t>Masalah inti</a:t>
            </a:r>
            <a:endParaRPr lang="en-US" sz="1500" dirty="0"/>
          </a:p>
        </p:txBody>
      </p:sp>
      <p:sp>
        <p:nvSpPr>
          <p:cNvPr id="11" name="Text 8"/>
          <p:cNvSpPr/>
          <p:nvPr/>
        </p:nvSpPr>
        <p:spPr>
          <a:xfrm>
            <a:off x="685800" y="3410712"/>
            <a:ext cx="5577840" cy="621792"/>
          </a:xfrm>
          <a:prstGeom prst="rect">
            <a:avLst/>
          </a:prstGeom>
          <a:noFill/>
          <a:ln/>
        </p:spPr>
        <p:txBody>
          <a:bodyPr wrap="square" lIns="0" tIns="0" rIns="0" bIns="0" rtlCol="0" anchor="ctr">
            <a:normAutofit fontScale="92500" lnSpcReduction="20000"/>
          </a:bodyPr>
          <a:lstStyle/>
          <a:p>
            <a:pPr marL="0" indent="0">
              <a:buNone/>
            </a:pPr>
            <a:r>
              <a:rPr lang="en-US" sz="1680" dirty="0">
                <a:solidFill>
                  <a:srgbClr val="263238"/>
                </a:solidFill>
              </a:rPr>
              <a:t>Guru belum punya sistem belajar profesional yang langsung membantu masalah kelas: variasi kemampuan siswa dan hasil formatif yang rendah.</a:t>
            </a:r>
            <a:endParaRPr lang="en-US" sz="1680" dirty="0"/>
          </a:p>
        </p:txBody>
      </p:sp>
      <p:sp>
        <p:nvSpPr>
          <p:cNvPr id="12" name="Text 9"/>
          <p:cNvSpPr/>
          <p:nvPr/>
        </p:nvSpPr>
        <p:spPr>
          <a:xfrm>
            <a:off x="685800" y="4389120"/>
            <a:ext cx="1828800" cy="347472"/>
          </a:xfrm>
          <a:prstGeom prst="rect">
            <a:avLst/>
          </a:prstGeom>
          <a:solidFill>
            <a:srgbClr val="DCEEF7"/>
          </a:solidFill>
          <a:ln>
            <a:solidFill>
              <a:srgbClr val="DCEEF7">
                <a:alpha val="0"/>
              </a:srgbClr>
            </a:solidFill>
          </a:ln>
        </p:spPr>
        <p:txBody>
          <a:bodyPr wrap="square" lIns="1270" tIns="1270" rIns="1270" bIns="1270" rtlCol="0" anchor="ctr">
            <a:normAutofit/>
          </a:bodyPr>
          <a:lstStyle/>
          <a:p>
            <a:pPr marL="0" indent="0" algn="ctr">
              <a:buNone/>
            </a:pPr>
            <a:r>
              <a:rPr lang="en-US" sz="1500" b="1" dirty="0">
                <a:solidFill>
                  <a:srgbClr val="0B2545"/>
                </a:solidFill>
                <a:latin typeface="Aptos" pitchFamily="34" charset="0"/>
                <a:ea typeface="Aptos" pitchFamily="34" charset="-122"/>
                <a:cs typeface="Aptos" pitchFamily="34" charset="-120"/>
              </a:rPr>
              <a:t>Arah strategi</a:t>
            </a:r>
            <a:endParaRPr lang="en-US" sz="1500" dirty="0"/>
          </a:p>
        </p:txBody>
      </p:sp>
      <p:sp>
        <p:nvSpPr>
          <p:cNvPr id="13" name="Text 10"/>
          <p:cNvSpPr/>
          <p:nvPr/>
        </p:nvSpPr>
        <p:spPr>
          <a:xfrm>
            <a:off x="685800" y="4892040"/>
            <a:ext cx="5766515" cy="621792"/>
          </a:xfrm>
          <a:prstGeom prst="rect">
            <a:avLst/>
          </a:prstGeom>
          <a:noFill/>
          <a:ln/>
        </p:spPr>
        <p:txBody>
          <a:bodyPr wrap="square" lIns="0" tIns="0" rIns="0" bIns="0" rtlCol="0" anchor="ctr">
            <a:normAutofit fontScale="92500" lnSpcReduction="20000"/>
          </a:bodyPr>
          <a:lstStyle/>
          <a:p>
            <a:pPr marL="0" indent="0">
              <a:buNone/>
            </a:pPr>
            <a:r>
              <a:rPr lang="en-US" sz="1680" b="1" dirty="0">
                <a:solidFill>
                  <a:srgbClr val="0B2545"/>
                </a:solidFill>
              </a:rPr>
              <a:t>CPD menjadi siklus kecil: membaca bukti kelas → refleksi → belajar konsep → mencoba strategi → mengevaluasi dampaknya.</a:t>
            </a:r>
            <a:endParaRPr lang="en-US" sz="1680" dirty="0"/>
          </a:p>
        </p:txBody>
      </p:sp>
      <p:sp>
        <p:nvSpPr>
          <p:cNvPr id="14" name="Text 11"/>
          <p:cNvSpPr/>
          <p:nvPr/>
        </p:nvSpPr>
        <p:spPr>
          <a:xfrm>
            <a:off x="7360920" y="4892040"/>
            <a:ext cx="4343400" cy="566928"/>
          </a:xfrm>
          <a:prstGeom prst="rect">
            <a:avLst/>
          </a:prstGeom>
          <a:solidFill>
            <a:srgbClr val="FFFFFF"/>
          </a:solidFill>
          <a:ln>
            <a:solidFill>
              <a:srgbClr val="FFFFFF">
                <a:alpha val="0"/>
              </a:srgbClr>
            </a:solidFill>
          </a:ln>
          <a:effectLst>
            <a:outerShdw blurRad="15240" dist="13970" dir="2700000" algn="bl" rotWithShape="0">
              <a:srgbClr val="000000">
                <a:alpha val="13000"/>
              </a:srgbClr>
            </a:outerShdw>
          </a:effectLst>
        </p:spPr>
        <p:txBody>
          <a:bodyPr wrap="square" lIns="1270" tIns="1270" rIns="1270" bIns="1270" rtlCol="0" anchor="ctr">
            <a:normAutofit lnSpcReduction="10000"/>
          </a:bodyPr>
          <a:lstStyle/>
          <a:p>
            <a:pPr marL="0" indent="0" algn="ctr">
              <a:buNone/>
            </a:pPr>
            <a:r>
              <a:rPr lang="en-US" sz="1350" b="1" dirty="0">
                <a:solidFill>
                  <a:srgbClr val="0B2545"/>
                </a:solidFill>
                <a:latin typeface="Aptos" pitchFamily="34" charset="0"/>
                <a:ea typeface="Aptos" pitchFamily="34" charset="-122"/>
                <a:cs typeface="Aptos" pitchFamily="34" charset="-120"/>
              </a:rPr>
              <a:t>Sudut pandang: beban guru dikurangi dengan CPD yang masuk ke rutinitas mengajar, bukan ditambahkan di luar kelas.</a:t>
            </a:r>
            <a:endParaRPr lang="en-US" sz="1350" dirty="0"/>
          </a:p>
        </p:txBody>
      </p:sp>
      <p:sp>
        <p:nvSpPr>
          <p:cNvPr id="15" name="Shape 12"/>
          <p:cNvSpPr/>
          <p:nvPr/>
        </p:nvSpPr>
        <p:spPr>
          <a:xfrm>
            <a:off x="594360" y="6473952"/>
            <a:ext cx="10972800" cy="0"/>
          </a:xfrm>
          <a:prstGeom prst="line">
            <a:avLst/>
          </a:prstGeom>
          <a:noFill/>
          <a:ln w="12700">
            <a:solidFill>
              <a:srgbClr val="D5E0DE"/>
            </a:solidFill>
            <a:prstDash val="solid"/>
          </a:ln>
        </p:spPr>
      </p:sp>
      <p:sp>
        <p:nvSpPr>
          <p:cNvPr id="16" name="Text 13"/>
          <p:cNvSpPr/>
          <p:nvPr/>
        </p:nvSpPr>
        <p:spPr>
          <a:xfrm>
            <a:off x="594360" y="6556248"/>
            <a:ext cx="7498080" cy="146304"/>
          </a:xfrm>
          <a:prstGeom prst="rect">
            <a:avLst/>
          </a:prstGeom>
          <a:noFill/>
          <a:ln/>
        </p:spPr>
        <p:txBody>
          <a:bodyPr wrap="square" lIns="0" tIns="0" rIns="0" bIns="0" rtlCol="0" anchor="ctr"/>
          <a:lstStyle/>
          <a:p>
            <a:pPr marL="0" indent="0">
              <a:buNone/>
            </a:pPr>
            <a:r>
              <a:rPr lang="en-US" sz="730" dirty="0">
                <a:solidFill>
                  <a:srgbClr val="60737A"/>
                </a:solidFill>
              </a:rPr>
              <a:t>1.F Diskusi • Guru Pembelajar Sepanjang Hayat dalam Ekosistem Sekolah</a:t>
            </a:r>
            <a:endParaRPr lang="en-US" sz="73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0"/>
            <a:ext cx="12191695" cy="118872"/>
          </a:xfrm>
          <a:prstGeom prst="rect">
            <a:avLst/>
          </a:prstGeom>
          <a:solidFill>
            <a:srgbClr val="0B6B78"/>
          </a:solidFill>
          <a:ln w="12700">
            <a:solidFill>
              <a:srgbClr val="0B6B78">
                <a:alpha val="0"/>
              </a:srgbClr>
            </a:solidFill>
            <a:prstDash val="solid"/>
          </a:ln>
        </p:spPr>
      </p:sp>
      <p:sp>
        <p:nvSpPr>
          <p:cNvPr id="4" name="Text 2"/>
          <p:cNvSpPr/>
          <p:nvPr/>
        </p:nvSpPr>
        <p:spPr>
          <a:xfrm>
            <a:off x="621792" y="310896"/>
            <a:ext cx="8046720" cy="237744"/>
          </a:xfrm>
          <a:prstGeom prst="rect">
            <a:avLst/>
          </a:prstGeom>
          <a:noFill/>
          <a:ln/>
        </p:spPr>
        <p:txBody>
          <a:bodyPr wrap="square" lIns="0" tIns="0" rIns="0" bIns="0" rtlCol="0" anchor="ctr"/>
          <a:lstStyle/>
          <a:p>
            <a:pPr marL="0" indent="0">
              <a:buNone/>
            </a:pPr>
            <a:r>
              <a:rPr lang="en-US" sz="950" b="1" dirty="0">
                <a:solidFill>
                  <a:srgbClr val="0B6B78"/>
                </a:solidFill>
              </a:rPr>
              <a:t>KERANGKA ANALISIS</a:t>
            </a:r>
            <a:endParaRPr lang="en-US" sz="950" dirty="0"/>
          </a:p>
        </p:txBody>
      </p:sp>
      <p:sp>
        <p:nvSpPr>
          <p:cNvPr id="5" name="Text 3"/>
          <p:cNvSpPr/>
          <p:nvPr/>
        </p:nvSpPr>
        <p:spPr>
          <a:xfrm>
            <a:off x="594360" y="612648"/>
            <a:ext cx="10972800" cy="475488"/>
          </a:xfrm>
          <a:prstGeom prst="rect">
            <a:avLst/>
          </a:prstGeom>
          <a:noFill/>
          <a:ln/>
        </p:spPr>
        <p:txBody>
          <a:bodyPr wrap="square" lIns="0" tIns="0" rIns="0" bIns="0" rtlCol="0" anchor="ctr">
            <a:normAutofit/>
          </a:bodyPr>
          <a:lstStyle/>
          <a:p>
            <a:pPr marL="0" indent="0">
              <a:buNone/>
            </a:pPr>
            <a:r>
              <a:rPr lang="en-US" sz="2850" b="1" dirty="0">
                <a:solidFill>
                  <a:srgbClr val="0B2545"/>
                </a:solidFill>
                <a:latin typeface="Aptos Display" pitchFamily="34" charset="0"/>
                <a:ea typeface="Aptos Display" pitchFamily="34" charset="-122"/>
                <a:cs typeface="Aptos Display" pitchFamily="34" charset="-120"/>
              </a:rPr>
              <a:t>Siklus Kolb: dari pengalaman menjadi perbaikan</a:t>
            </a:r>
            <a:endParaRPr lang="en-US" sz="2850" dirty="0"/>
          </a:p>
        </p:txBody>
      </p:sp>
      <p:sp>
        <p:nvSpPr>
          <p:cNvPr id="6" name="Text 4"/>
          <p:cNvSpPr/>
          <p:nvPr/>
        </p:nvSpPr>
        <p:spPr>
          <a:xfrm>
            <a:off x="612648" y="1143000"/>
            <a:ext cx="10607040" cy="292608"/>
          </a:xfrm>
          <a:prstGeom prst="rect">
            <a:avLst/>
          </a:prstGeom>
          <a:noFill/>
          <a:ln/>
        </p:spPr>
        <p:txBody>
          <a:bodyPr wrap="square" lIns="0" tIns="0" rIns="0" bIns="0" rtlCol="0" anchor="ctr">
            <a:normAutofit/>
          </a:bodyPr>
          <a:lstStyle/>
          <a:p>
            <a:pPr marL="0" indent="0">
              <a:buNone/>
            </a:pPr>
            <a:r>
              <a:rPr lang="en-US" sz="1350" dirty="0">
                <a:solidFill>
                  <a:srgbClr val="263238"/>
                </a:solidFill>
              </a:rPr>
              <a:t>Empat tahap membuat guru belajar dari kelas sendiri, bukan sekadar hadir dalam pelatihan.</a:t>
            </a:r>
            <a:endParaRPr lang="en-US" sz="1350" dirty="0"/>
          </a:p>
        </p:txBody>
      </p:sp>
      <p:pic>
        <p:nvPicPr>
          <p:cNvPr id="7" name="Image 0" descr="/mnt/data/crop_cycle.png"/>
          <p:cNvPicPr>
            <a:picLocks noChangeAspect="1"/>
          </p:cNvPicPr>
          <p:nvPr/>
        </p:nvPicPr>
        <p:blipFill>
          <a:blip r:embed="rId3"/>
          <a:stretch>
            <a:fillRect/>
          </a:stretch>
        </p:blipFill>
        <p:spPr>
          <a:xfrm>
            <a:off x="6080760" y="1627632"/>
            <a:ext cx="5349240" cy="3694176"/>
          </a:xfrm>
          <a:prstGeom prst="rect">
            <a:avLst/>
          </a:prstGeom>
        </p:spPr>
      </p:pic>
      <p:sp>
        <p:nvSpPr>
          <p:cNvPr id="8" name="Text 5"/>
          <p:cNvSpPr/>
          <p:nvPr/>
        </p:nvSpPr>
        <p:spPr>
          <a:xfrm>
            <a:off x="777240" y="1600200"/>
            <a:ext cx="384048" cy="384048"/>
          </a:xfrm>
          <a:prstGeom prst="rect">
            <a:avLst/>
          </a:prstGeom>
          <a:solidFill>
            <a:srgbClr val="F3B233"/>
          </a:solidFill>
          <a:ln>
            <a:solidFill>
              <a:srgbClr val="F3B233">
                <a:alpha val="0"/>
              </a:srgbClr>
            </a:solidFill>
          </a:ln>
        </p:spPr>
        <p:txBody>
          <a:bodyPr wrap="square" lIns="0" tIns="0" rIns="0" bIns="0" rtlCol="0" anchor="ctr">
            <a:normAutofit/>
          </a:bodyPr>
          <a:lstStyle/>
          <a:p>
            <a:pPr marL="0" indent="0" algn="ctr">
              <a:buNone/>
            </a:pPr>
            <a:r>
              <a:rPr lang="en-US" sz="1500" b="1" dirty="0">
                <a:solidFill>
                  <a:srgbClr val="0B2545"/>
                </a:solidFill>
                <a:latin typeface="Aptos" pitchFamily="34" charset="0"/>
                <a:ea typeface="Aptos" pitchFamily="34" charset="-122"/>
                <a:cs typeface="Aptos" pitchFamily="34" charset="-120"/>
              </a:rPr>
              <a:t>1</a:t>
            </a:r>
            <a:endParaRPr lang="en-US" sz="1500" dirty="0"/>
          </a:p>
        </p:txBody>
      </p:sp>
      <p:sp>
        <p:nvSpPr>
          <p:cNvPr id="9" name="Text 6"/>
          <p:cNvSpPr/>
          <p:nvPr/>
        </p:nvSpPr>
        <p:spPr>
          <a:xfrm>
            <a:off x="1280160" y="1591056"/>
            <a:ext cx="4480560" cy="237744"/>
          </a:xfrm>
          <a:prstGeom prst="rect">
            <a:avLst/>
          </a:prstGeom>
          <a:noFill/>
          <a:ln/>
        </p:spPr>
        <p:txBody>
          <a:bodyPr wrap="square" lIns="0" tIns="0" rIns="0" bIns="0" rtlCol="0" anchor="ctr">
            <a:normAutofit/>
          </a:bodyPr>
          <a:lstStyle/>
          <a:p>
            <a:pPr marL="0" indent="0">
              <a:buNone/>
            </a:pPr>
            <a:r>
              <a:rPr lang="en-US" sz="1500" b="1" dirty="0">
                <a:solidFill>
                  <a:srgbClr val="0B2545"/>
                </a:solidFill>
              </a:rPr>
              <a:t>Pengalaman Konkret</a:t>
            </a:r>
            <a:endParaRPr lang="en-US" sz="1500" dirty="0"/>
          </a:p>
        </p:txBody>
      </p:sp>
      <p:sp>
        <p:nvSpPr>
          <p:cNvPr id="10" name="Text 7"/>
          <p:cNvSpPr/>
          <p:nvPr/>
        </p:nvSpPr>
        <p:spPr>
          <a:xfrm>
            <a:off x="1280160" y="1874520"/>
            <a:ext cx="4480560" cy="411480"/>
          </a:xfrm>
          <a:prstGeom prst="rect">
            <a:avLst/>
          </a:prstGeom>
          <a:noFill/>
          <a:ln/>
        </p:spPr>
        <p:txBody>
          <a:bodyPr wrap="square" lIns="0" tIns="0" rIns="0" bIns="0" rtlCol="0" anchor="ctr">
            <a:normAutofit/>
          </a:bodyPr>
          <a:lstStyle/>
          <a:p>
            <a:pPr marL="0" indent="0">
              <a:buNone/>
            </a:pPr>
            <a:r>
              <a:rPr lang="en-US" sz="1220" dirty="0">
                <a:solidFill>
                  <a:srgbClr val="263238"/>
                </a:solidFill>
              </a:rPr>
              <a:t>Apa yang benar-benar terjadi di kelas?</a:t>
            </a:r>
            <a:endParaRPr lang="en-US" sz="1220" dirty="0"/>
          </a:p>
        </p:txBody>
      </p:sp>
      <p:sp>
        <p:nvSpPr>
          <p:cNvPr id="11" name="Text 8"/>
          <p:cNvSpPr/>
          <p:nvPr/>
        </p:nvSpPr>
        <p:spPr>
          <a:xfrm>
            <a:off x="777240" y="2542032"/>
            <a:ext cx="384048" cy="384048"/>
          </a:xfrm>
          <a:prstGeom prst="rect">
            <a:avLst/>
          </a:prstGeom>
          <a:solidFill>
            <a:srgbClr val="F3B233"/>
          </a:solidFill>
          <a:ln>
            <a:solidFill>
              <a:srgbClr val="F3B233">
                <a:alpha val="0"/>
              </a:srgbClr>
            </a:solidFill>
          </a:ln>
        </p:spPr>
        <p:txBody>
          <a:bodyPr wrap="square" lIns="0" tIns="0" rIns="0" bIns="0" rtlCol="0" anchor="ctr">
            <a:normAutofit/>
          </a:bodyPr>
          <a:lstStyle/>
          <a:p>
            <a:pPr marL="0" indent="0" algn="ctr">
              <a:buNone/>
            </a:pPr>
            <a:r>
              <a:rPr lang="en-US" sz="1500" b="1" dirty="0">
                <a:solidFill>
                  <a:srgbClr val="0B2545"/>
                </a:solidFill>
                <a:latin typeface="Aptos" pitchFamily="34" charset="0"/>
                <a:ea typeface="Aptos" pitchFamily="34" charset="-122"/>
                <a:cs typeface="Aptos" pitchFamily="34" charset="-120"/>
              </a:rPr>
              <a:t>2</a:t>
            </a:r>
            <a:endParaRPr lang="en-US" sz="1500" dirty="0"/>
          </a:p>
        </p:txBody>
      </p:sp>
      <p:sp>
        <p:nvSpPr>
          <p:cNvPr id="12" name="Text 9"/>
          <p:cNvSpPr/>
          <p:nvPr/>
        </p:nvSpPr>
        <p:spPr>
          <a:xfrm>
            <a:off x="1280160" y="2532888"/>
            <a:ext cx="4480560" cy="237744"/>
          </a:xfrm>
          <a:prstGeom prst="rect">
            <a:avLst/>
          </a:prstGeom>
          <a:noFill/>
          <a:ln/>
        </p:spPr>
        <p:txBody>
          <a:bodyPr wrap="square" lIns="0" tIns="0" rIns="0" bIns="0" rtlCol="0" anchor="ctr">
            <a:normAutofit/>
          </a:bodyPr>
          <a:lstStyle/>
          <a:p>
            <a:pPr marL="0" indent="0">
              <a:buNone/>
            </a:pPr>
            <a:r>
              <a:rPr lang="en-US" sz="1500" b="1" dirty="0">
                <a:solidFill>
                  <a:srgbClr val="0B2545"/>
                </a:solidFill>
              </a:rPr>
              <a:t>Refleksi</a:t>
            </a:r>
            <a:endParaRPr lang="en-US" sz="1500" dirty="0"/>
          </a:p>
        </p:txBody>
      </p:sp>
      <p:sp>
        <p:nvSpPr>
          <p:cNvPr id="13" name="Text 10"/>
          <p:cNvSpPr/>
          <p:nvPr/>
        </p:nvSpPr>
        <p:spPr>
          <a:xfrm>
            <a:off x="1280160" y="2816352"/>
            <a:ext cx="4480560" cy="411480"/>
          </a:xfrm>
          <a:prstGeom prst="rect">
            <a:avLst/>
          </a:prstGeom>
          <a:noFill/>
          <a:ln/>
        </p:spPr>
        <p:txBody>
          <a:bodyPr wrap="square" lIns="0" tIns="0" rIns="0" bIns="0" rtlCol="0" anchor="ctr">
            <a:normAutofit/>
          </a:bodyPr>
          <a:lstStyle/>
          <a:p>
            <a:pPr marL="0" indent="0">
              <a:buNone/>
            </a:pPr>
            <a:r>
              <a:rPr lang="en-US" sz="1220" dirty="0">
                <a:solidFill>
                  <a:srgbClr val="263238"/>
                </a:solidFill>
              </a:rPr>
              <a:t>Apa maknanya? Bukti mana yang menguatkan?</a:t>
            </a:r>
            <a:endParaRPr lang="en-US" sz="1220" dirty="0"/>
          </a:p>
        </p:txBody>
      </p:sp>
      <p:sp>
        <p:nvSpPr>
          <p:cNvPr id="14" name="Text 11"/>
          <p:cNvSpPr/>
          <p:nvPr/>
        </p:nvSpPr>
        <p:spPr>
          <a:xfrm>
            <a:off x="777240" y="3483864"/>
            <a:ext cx="384048" cy="384048"/>
          </a:xfrm>
          <a:prstGeom prst="rect">
            <a:avLst/>
          </a:prstGeom>
          <a:solidFill>
            <a:srgbClr val="F3B233"/>
          </a:solidFill>
          <a:ln>
            <a:solidFill>
              <a:srgbClr val="F3B233">
                <a:alpha val="0"/>
              </a:srgbClr>
            </a:solidFill>
          </a:ln>
        </p:spPr>
        <p:txBody>
          <a:bodyPr wrap="square" lIns="0" tIns="0" rIns="0" bIns="0" rtlCol="0" anchor="ctr">
            <a:normAutofit/>
          </a:bodyPr>
          <a:lstStyle/>
          <a:p>
            <a:pPr marL="0" indent="0" algn="ctr">
              <a:buNone/>
            </a:pPr>
            <a:r>
              <a:rPr lang="en-US" sz="1500" b="1" dirty="0">
                <a:solidFill>
                  <a:srgbClr val="0B2545"/>
                </a:solidFill>
                <a:latin typeface="Aptos" pitchFamily="34" charset="0"/>
                <a:ea typeface="Aptos" pitchFamily="34" charset="-122"/>
                <a:cs typeface="Aptos" pitchFamily="34" charset="-120"/>
              </a:rPr>
              <a:t>3</a:t>
            </a:r>
            <a:endParaRPr lang="en-US" sz="1500" dirty="0"/>
          </a:p>
        </p:txBody>
      </p:sp>
      <p:sp>
        <p:nvSpPr>
          <p:cNvPr id="15" name="Text 12"/>
          <p:cNvSpPr/>
          <p:nvPr/>
        </p:nvSpPr>
        <p:spPr>
          <a:xfrm>
            <a:off x="1280160" y="3474720"/>
            <a:ext cx="4480560" cy="237744"/>
          </a:xfrm>
          <a:prstGeom prst="rect">
            <a:avLst/>
          </a:prstGeom>
          <a:noFill/>
          <a:ln/>
        </p:spPr>
        <p:txBody>
          <a:bodyPr wrap="square" lIns="0" tIns="0" rIns="0" bIns="0" rtlCol="0" anchor="ctr">
            <a:normAutofit/>
          </a:bodyPr>
          <a:lstStyle/>
          <a:p>
            <a:pPr marL="0" indent="0">
              <a:buNone/>
            </a:pPr>
            <a:r>
              <a:rPr lang="en-US" sz="1500" b="1" dirty="0">
                <a:solidFill>
                  <a:srgbClr val="0B2545"/>
                </a:solidFill>
              </a:rPr>
              <a:t>Konsep</a:t>
            </a:r>
            <a:endParaRPr lang="en-US" sz="1500" dirty="0"/>
          </a:p>
        </p:txBody>
      </p:sp>
      <p:sp>
        <p:nvSpPr>
          <p:cNvPr id="16" name="Text 13"/>
          <p:cNvSpPr/>
          <p:nvPr/>
        </p:nvSpPr>
        <p:spPr>
          <a:xfrm>
            <a:off x="1280160" y="3758184"/>
            <a:ext cx="4480560" cy="411480"/>
          </a:xfrm>
          <a:prstGeom prst="rect">
            <a:avLst/>
          </a:prstGeom>
          <a:noFill/>
          <a:ln/>
        </p:spPr>
        <p:txBody>
          <a:bodyPr wrap="square" lIns="0" tIns="0" rIns="0" bIns="0" rtlCol="0" anchor="ctr">
            <a:normAutofit/>
          </a:bodyPr>
          <a:lstStyle/>
          <a:p>
            <a:pPr marL="0" indent="0">
              <a:buNone/>
            </a:pPr>
            <a:r>
              <a:rPr lang="en-US" sz="1220" dirty="0">
                <a:solidFill>
                  <a:srgbClr val="263238"/>
                </a:solidFill>
              </a:rPr>
              <a:t>Teori/strategi apa yang perlu dipelajari?</a:t>
            </a:r>
            <a:endParaRPr lang="en-US" sz="1220" dirty="0"/>
          </a:p>
        </p:txBody>
      </p:sp>
      <p:sp>
        <p:nvSpPr>
          <p:cNvPr id="17" name="Text 14"/>
          <p:cNvSpPr/>
          <p:nvPr/>
        </p:nvSpPr>
        <p:spPr>
          <a:xfrm>
            <a:off x="777240" y="4425696"/>
            <a:ext cx="384048" cy="384048"/>
          </a:xfrm>
          <a:prstGeom prst="rect">
            <a:avLst/>
          </a:prstGeom>
          <a:solidFill>
            <a:srgbClr val="F3B233"/>
          </a:solidFill>
          <a:ln>
            <a:solidFill>
              <a:srgbClr val="F3B233">
                <a:alpha val="0"/>
              </a:srgbClr>
            </a:solidFill>
          </a:ln>
        </p:spPr>
        <p:txBody>
          <a:bodyPr wrap="square" lIns="0" tIns="0" rIns="0" bIns="0" rtlCol="0" anchor="ctr">
            <a:normAutofit/>
          </a:bodyPr>
          <a:lstStyle/>
          <a:p>
            <a:pPr marL="0" indent="0" algn="ctr">
              <a:buNone/>
            </a:pPr>
            <a:r>
              <a:rPr lang="en-US" sz="1500" b="1" dirty="0">
                <a:solidFill>
                  <a:srgbClr val="0B2545"/>
                </a:solidFill>
                <a:latin typeface="Aptos" pitchFamily="34" charset="0"/>
                <a:ea typeface="Aptos" pitchFamily="34" charset="-122"/>
                <a:cs typeface="Aptos" pitchFamily="34" charset="-120"/>
              </a:rPr>
              <a:t>4</a:t>
            </a:r>
            <a:endParaRPr lang="en-US" sz="1500" dirty="0"/>
          </a:p>
        </p:txBody>
      </p:sp>
      <p:sp>
        <p:nvSpPr>
          <p:cNvPr id="18" name="Text 15"/>
          <p:cNvSpPr/>
          <p:nvPr/>
        </p:nvSpPr>
        <p:spPr>
          <a:xfrm>
            <a:off x="1280160" y="4416552"/>
            <a:ext cx="4480560" cy="237744"/>
          </a:xfrm>
          <a:prstGeom prst="rect">
            <a:avLst/>
          </a:prstGeom>
          <a:noFill/>
          <a:ln/>
        </p:spPr>
        <p:txBody>
          <a:bodyPr wrap="square" lIns="0" tIns="0" rIns="0" bIns="0" rtlCol="0" anchor="ctr">
            <a:normAutofit/>
          </a:bodyPr>
          <a:lstStyle/>
          <a:p>
            <a:pPr marL="0" indent="0">
              <a:buNone/>
            </a:pPr>
            <a:r>
              <a:rPr lang="en-US" sz="1500" b="1" dirty="0">
                <a:solidFill>
                  <a:srgbClr val="0B2545"/>
                </a:solidFill>
              </a:rPr>
              <a:t>Eksperimen</a:t>
            </a:r>
            <a:endParaRPr lang="en-US" sz="1500" dirty="0"/>
          </a:p>
        </p:txBody>
      </p:sp>
      <p:sp>
        <p:nvSpPr>
          <p:cNvPr id="19" name="Text 16"/>
          <p:cNvSpPr/>
          <p:nvPr/>
        </p:nvSpPr>
        <p:spPr>
          <a:xfrm>
            <a:off x="1280160" y="4700016"/>
            <a:ext cx="4480560" cy="411480"/>
          </a:xfrm>
          <a:prstGeom prst="rect">
            <a:avLst/>
          </a:prstGeom>
          <a:noFill/>
          <a:ln/>
        </p:spPr>
        <p:txBody>
          <a:bodyPr wrap="square" lIns="0" tIns="0" rIns="0" bIns="0" rtlCol="0" anchor="ctr">
            <a:normAutofit/>
          </a:bodyPr>
          <a:lstStyle/>
          <a:p>
            <a:pPr marL="0" indent="0">
              <a:buNone/>
            </a:pPr>
            <a:r>
              <a:rPr lang="en-US" sz="1220" dirty="0">
                <a:solidFill>
                  <a:srgbClr val="263238"/>
                </a:solidFill>
              </a:rPr>
              <a:t>Perbaikan kecil apa yang dicoba pekan depan?</a:t>
            </a:r>
            <a:endParaRPr lang="en-US" sz="1220" dirty="0"/>
          </a:p>
        </p:txBody>
      </p:sp>
      <p:sp>
        <p:nvSpPr>
          <p:cNvPr id="21" name="Shape 18"/>
          <p:cNvSpPr/>
          <p:nvPr/>
        </p:nvSpPr>
        <p:spPr>
          <a:xfrm>
            <a:off x="594360" y="6473952"/>
            <a:ext cx="10972800" cy="0"/>
          </a:xfrm>
          <a:prstGeom prst="line">
            <a:avLst/>
          </a:prstGeom>
          <a:noFill/>
          <a:ln w="12700">
            <a:solidFill>
              <a:srgbClr val="D5E0DE"/>
            </a:solidFill>
            <a:prstDash val="solid"/>
          </a:ln>
        </p:spPr>
      </p:sp>
      <p:sp>
        <p:nvSpPr>
          <p:cNvPr id="22" name="Text 19"/>
          <p:cNvSpPr/>
          <p:nvPr/>
        </p:nvSpPr>
        <p:spPr>
          <a:xfrm>
            <a:off x="594360" y="6556248"/>
            <a:ext cx="7498080" cy="146304"/>
          </a:xfrm>
          <a:prstGeom prst="rect">
            <a:avLst/>
          </a:prstGeom>
          <a:noFill/>
          <a:ln/>
        </p:spPr>
        <p:txBody>
          <a:bodyPr wrap="square" lIns="0" tIns="0" rIns="0" bIns="0" rtlCol="0" anchor="ctr"/>
          <a:lstStyle/>
          <a:p>
            <a:pPr marL="0" indent="0">
              <a:buNone/>
            </a:pPr>
            <a:r>
              <a:rPr lang="en-US" sz="730" dirty="0">
                <a:solidFill>
                  <a:srgbClr val="60737A"/>
                </a:solidFill>
              </a:rPr>
              <a:t>1.F Diskusi • Guru Pembelajar Sepanjang Hayat dalam Ekosistem Sekolah</a:t>
            </a:r>
            <a:endParaRPr lang="en-US" sz="73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0"/>
            <a:ext cx="12191695" cy="118872"/>
          </a:xfrm>
          <a:prstGeom prst="rect">
            <a:avLst/>
          </a:prstGeom>
          <a:solidFill>
            <a:srgbClr val="0B6B78"/>
          </a:solidFill>
          <a:ln w="12700">
            <a:solidFill>
              <a:srgbClr val="0B6B78">
                <a:alpha val="0"/>
              </a:srgbClr>
            </a:solidFill>
            <a:prstDash val="solid"/>
          </a:ln>
        </p:spPr>
      </p:sp>
      <p:sp>
        <p:nvSpPr>
          <p:cNvPr id="4" name="Text 2"/>
          <p:cNvSpPr/>
          <p:nvPr/>
        </p:nvSpPr>
        <p:spPr>
          <a:xfrm>
            <a:off x="621792" y="310896"/>
            <a:ext cx="8046720" cy="237744"/>
          </a:xfrm>
          <a:prstGeom prst="rect">
            <a:avLst/>
          </a:prstGeom>
          <a:noFill/>
          <a:ln/>
        </p:spPr>
        <p:txBody>
          <a:bodyPr wrap="square" lIns="0" tIns="0" rIns="0" bIns="0" rtlCol="0" anchor="ctr"/>
          <a:lstStyle/>
          <a:p>
            <a:pPr marL="0" indent="0">
              <a:buNone/>
            </a:pPr>
            <a:r>
              <a:rPr lang="en-US" sz="950" b="1" dirty="0">
                <a:solidFill>
                  <a:srgbClr val="0B6B78"/>
                </a:solidFill>
              </a:rPr>
              <a:t>KOLB 1–2</a:t>
            </a:r>
            <a:endParaRPr lang="en-US" sz="950" dirty="0"/>
          </a:p>
        </p:txBody>
      </p:sp>
      <p:sp>
        <p:nvSpPr>
          <p:cNvPr id="5" name="Text 3"/>
          <p:cNvSpPr/>
          <p:nvPr/>
        </p:nvSpPr>
        <p:spPr>
          <a:xfrm>
            <a:off x="594360" y="612648"/>
            <a:ext cx="10972800" cy="475488"/>
          </a:xfrm>
          <a:prstGeom prst="rect">
            <a:avLst/>
          </a:prstGeom>
          <a:noFill/>
          <a:ln/>
        </p:spPr>
        <p:txBody>
          <a:bodyPr wrap="square" lIns="0" tIns="0" rIns="0" bIns="0" rtlCol="0" anchor="ctr">
            <a:normAutofit/>
          </a:bodyPr>
          <a:lstStyle/>
          <a:p>
            <a:pPr marL="0" indent="0">
              <a:buNone/>
            </a:pPr>
            <a:r>
              <a:rPr lang="en-US" sz="2850" b="1" dirty="0">
                <a:solidFill>
                  <a:srgbClr val="0B2545"/>
                </a:solidFill>
                <a:latin typeface="Aptos Display" pitchFamily="34" charset="0"/>
                <a:ea typeface="Aptos Display" pitchFamily="34" charset="-122"/>
                <a:cs typeface="Aptos Display" pitchFamily="34" charset="-120"/>
              </a:rPr>
              <a:t>Pengalaman konkret &amp; pertanyaan refleksi</a:t>
            </a:r>
            <a:endParaRPr lang="en-US" sz="2850" dirty="0"/>
          </a:p>
        </p:txBody>
      </p:sp>
      <p:sp>
        <p:nvSpPr>
          <p:cNvPr id="6" name="Text 4"/>
          <p:cNvSpPr/>
          <p:nvPr/>
        </p:nvSpPr>
        <p:spPr>
          <a:xfrm>
            <a:off x="612648" y="1143000"/>
            <a:ext cx="10607040" cy="292608"/>
          </a:xfrm>
          <a:prstGeom prst="rect">
            <a:avLst/>
          </a:prstGeom>
          <a:noFill/>
          <a:ln/>
        </p:spPr>
        <p:txBody>
          <a:bodyPr wrap="square" lIns="0" tIns="0" rIns="0" bIns="0" rtlCol="0" anchor="ctr">
            <a:normAutofit/>
          </a:bodyPr>
          <a:lstStyle/>
          <a:p>
            <a:pPr marL="0" indent="0">
              <a:buNone/>
            </a:pPr>
            <a:r>
              <a:rPr lang="en-US" sz="1350" dirty="0">
                <a:solidFill>
                  <a:srgbClr val="263238"/>
                </a:solidFill>
              </a:rPr>
              <a:t>Tahap awal bukan mencari siapa yang salah, tetapi membaca pola masalah </a:t>
            </a:r>
            <a:r>
              <a:rPr lang="en-US" sz="1350" dirty="0" err="1">
                <a:solidFill>
                  <a:srgbClr val="263238"/>
                </a:solidFill>
              </a:rPr>
              <a:t>dengan</a:t>
            </a:r>
            <a:r>
              <a:rPr lang="en-US" sz="1350" dirty="0">
                <a:solidFill>
                  <a:srgbClr val="263238"/>
                </a:solidFill>
              </a:rPr>
              <a:t> </a:t>
            </a:r>
            <a:r>
              <a:rPr lang="en-US" sz="1350" dirty="0" err="1">
                <a:solidFill>
                  <a:srgbClr val="263238"/>
                </a:solidFill>
              </a:rPr>
              <a:t>bukti-bukti</a:t>
            </a:r>
            <a:r>
              <a:rPr lang="en-US" sz="1350" dirty="0">
                <a:solidFill>
                  <a:srgbClr val="263238"/>
                </a:solidFill>
              </a:rPr>
              <a:t> yang </a:t>
            </a:r>
            <a:r>
              <a:rPr lang="en-US" sz="1350" dirty="0" err="1">
                <a:solidFill>
                  <a:srgbClr val="263238"/>
                </a:solidFill>
              </a:rPr>
              <a:t>ada</a:t>
            </a:r>
            <a:r>
              <a:rPr lang="en-US" sz="1350" dirty="0">
                <a:solidFill>
                  <a:srgbClr val="263238"/>
                </a:solidFill>
              </a:rPr>
              <a:t>.</a:t>
            </a:r>
            <a:endParaRPr lang="en-US" sz="1350" dirty="0"/>
          </a:p>
        </p:txBody>
      </p:sp>
      <p:pic>
        <p:nvPicPr>
          <p:cNvPr id="7" name="Image 0" descr="/mnt/data/crop_classroom.png"/>
          <p:cNvPicPr>
            <a:picLocks noChangeAspect="1"/>
          </p:cNvPicPr>
          <p:nvPr/>
        </p:nvPicPr>
        <p:blipFill>
          <a:blip r:embed="rId3"/>
          <a:stretch>
            <a:fillRect/>
          </a:stretch>
        </p:blipFill>
        <p:spPr>
          <a:xfrm>
            <a:off x="594360" y="1664208"/>
            <a:ext cx="4937760" cy="3182112"/>
          </a:xfrm>
          <a:prstGeom prst="rect">
            <a:avLst/>
          </a:prstGeom>
        </p:spPr>
      </p:pic>
      <p:sp>
        <p:nvSpPr>
          <p:cNvPr id="8" name="Text 5"/>
          <p:cNvSpPr/>
          <p:nvPr/>
        </p:nvSpPr>
        <p:spPr>
          <a:xfrm>
            <a:off x="5989320" y="1664208"/>
            <a:ext cx="5349240" cy="347472"/>
          </a:xfrm>
          <a:prstGeom prst="rect">
            <a:avLst/>
          </a:prstGeom>
          <a:solidFill>
            <a:srgbClr val="DCEEF7"/>
          </a:solidFill>
          <a:ln>
            <a:solidFill>
              <a:srgbClr val="DCEEF7">
                <a:alpha val="0"/>
              </a:srgbClr>
            </a:solidFill>
          </a:ln>
        </p:spPr>
        <p:txBody>
          <a:bodyPr wrap="square" lIns="1270" tIns="1270" rIns="1270" bIns="1270" rtlCol="0" anchor="ctr">
            <a:normAutofit/>
          </a:bodyPr>
          <a:lstStyle/>
          <a:p>
            <a:pPr marL="0" indent="0" algn="l">
              <a:buNone/>
            </a:pPr>
            <a:r>
              <a:rPr lang="en-US" sz="1600" b="1" dirty="0">
                <a:solidFill>
                  <a:srgbClr val="0B2545"/>
                </a:solidFill>
                <a:latin typeface="Aptos" pitchFamily="34" charset="0"/>
                <a:ea typeface="Aptos" pitchFamily="34" charset="-122"/>
                <a:cs typeface="Aptos" pitchFamily="34" charset="-120"/>
              </a:rPr>
              <a:t>Pengalaman Konkret</a:t>
            </a:r>
            <a:endParaRPr lang="en-US" sz="1600" dirty="0"/>
          </a:p>
        </p:txBody>
      </p:sp>
      <p:sp>
        <p:nvSpPr>
          <p:cNvPr id="9" name="Text 6"/>
          <p:cNvSpPr/>
          <p:nvPr/>
        </p:nvSpPr>
        <p:spPr>
          <a:xfrm>
            <a:off x="6035040" y="2139696"/>
            <a:ext cx="5138928" cy="932688"/>
          </a:xfrm>
          <a:prstGeom prst="rect">
            <a:avLst/>
          </a:prstGeom>
          <a:noFill/>
          <a:ln/>
        </p:spPr>
        <p:txBody>
          <a:bodyPr wrap="square" lIns="0" tIns="0" rIns="0" bIns="0" rtlCol="0" anchor="ctr">
            <a:normAutofit lnSpcReduction="10000"/>
          </a:bodyPr>
          <a:lstStyle/>
          <a:p>
            <a:pPr marL="0" indent="0">
              <a:buNone/>
            </a:pPr>
            <a:r>
              <a:rPr lang="en-US" sz="1600" dirty="0">
                <a:solidFill>
                  <a:srgbClr val="263238"/>
                </a:solidFill>
              </a:rPr>
              <a:t>• Beban mengajar padat</a:t>
            </a:r>
            <a:endParaRPr lang="en-US" sz="1600" dirty="0"/>
          </a:p>
          <a:p>
            <a:pPr marL="0" indent="0">
              <a:buNone/>
            </a:pPr>
            <a:r>
              <a:rPr lang="en-US" sz="1600" dirty="0">
                <a:solidFill>
                  <a:srgbClr val="263238"/>
                </a:solidFill>
              </a:rPr>
              <a:t>• CPD dipersepsi sebagai administrasi sertifikat</a:t>
            </a:r>
            <a:endParaRPr lang="en-US" sz="1600" dirty="0"/>
          </a:p>
          <a:p>
            <a:pPr marL="0" indent="0">
              <a:buNone/>
            </a:pPr>
            <a:r>
              <a:rPr lang="en-US" sz="1600" dirty="0">
                <a:solidFill>
                  <a:srgbClr val="263238"/>
                </a:solidFill>
              </a:rPr>
              <a:t>• Kemampuan siswa beragam</a:t>
            </a:r>
            <a:endParaRPr lang="en-US" sz="1600" dirty="0"/>
          </a:p>
          <a:p>
            <a:pPr marL="0" indent="0">
              <a:buNone/>
            </a:pPr>
            <a:r>
              <a:rPr lang="en-US" sz="1600" dirty="0">
                <a:solidFill>
                  <a:srgbClr val="263238"/>
                </a:solidFill>
              </a:rPr>
              <a:t>• Hasil asesmen formatif belum memuaskan</a:t>
            </a:r>
            <a:endParaRPr lang="en-US" sz="1600" dirty="0"/>
          </a:p>
        </p:txBody>
      </p:sp>
      <p:sp>
        <p:nvSpPr>
          <p:cNvPr id="10" name="Text 7"/>
          <p:cNvSpPr/>
          <p:nvPr/>
        </p:nvSpPr>
        <p:spPr>
          <a:xfrm>
            <a:off x="5989320" y="3456432"/>
            <a:ext cx="5349240" cy="347472"/>
          </a:xfrm>
          <a:prstGeom prst="rect">
            <a:avLst/>
          </a:prstGeom>
          <a:solidFill>
            <a:srgbClr val="ECE4FF"/>
          </a:solidFill>
          <a:ln>
            <a:solidFill>
              <a:srgbClr val="ECE4FF">
                <a:alpha val="0"/>
              </a:srgbClr>
            </a:solidFill>
          </a:ln>
        </p:spPr>
        <p:txBody>
          <a:bodyPr wrap="square" lIns="1270" tIns="1270" rIns="1270" bIns="1270" rtlCol="0" anchor="ctr">
            <a:normAutofit/>
          </a:bodyPr>
          <a:lstStyle/>
          <a:p>
            <a:pPr marL="0" indent="0" algn="l">
              <a:buNone/>
            </a:pPr>
            <a:r>
              <a:rPr lang="en-US" sz="1600" b="1" dirty="0">
                <a:solidFill>
                  <a:srgbClr val="0B2545"/>
                </a:solidFill>
                <a:latin typeface="Aptos" pitchFamily="34" charset="0"/>
                <a:ea typeface="Aptos" pitchFamily="34" charset="-122"/>
                <a:cs typeface="Aptos" pitchFamily="34" charset="-120"/>
              </a:rPr>
              <a:t>Pertanyaan Refleksi</a:t>
            </a:r>
            <a:endParaRPr lang="en-US" sz="1600" dirty="0"/>
          </a:p>
        </p:txBody>
      </p:sp>
      <p:sp>
        <p:nvSpPr>
          <p:cNvPr id="11" name="Text 8"/>
          <p:cNvSpPr/>
          <p:nvPr/>
        </p:nvSpPr>
        <p:spPr>
          <a:xfrm>
            <a:off x="6035040" y="3931920"/>
            <a:ext cx="5138928" cy="1234440"/>
          </a:xfrm>
          <a:prstGeom prst="rect">
            <a:avLst/>
          </a:prstGeom>
          <a:noFill/>
          <a:ln/>
        </p:spPr>
        <p:txBody>
          <a:bodyPr wrap="square" lIns="0" tIns="0" rIns="0" bIns="0" rtlCol="0" anchor="ctr">
            <a:normAutofit/>
          </a:bodyPr>
          <a:lstStyle/>
          <a:p>
            <a:pPr marL="0" indent="0">
              <a:buNone/>
            </a:pPr>
            <a:r>
              <a:rPr lang="en-US" sz="1470" dirty="0">
                <a:solidFill>
                  <a:srgbClr val="263238"/>
                </a:solidFill>
              </a:rPr>
              <a:t>• Kompetensi mana yang paling banyak gagal?</a:t>
            </a:r>
            <a:endParaRPr lang="en-US" sz="1470" dirty="0"/>
          </a:p>
          <a:p>
            <a:pPr marL="0" indent="0">
              <a:buNone/>
            </a:pPr>
            <a:r>
              <a:rPr lang="en-US" sz="1470" dirty="0">
                <a:solidFill>
                  <a:srgbClr val="263238"/>
                </a:solidFill>
              </a:rPr>
              <a:t>• Kelompok siswa mana yang belum terbantu?</a:t>
            </a:r>
            <a:endParaRPr lang="en-US" sz="1470" dirty="0"/>
          </a:p>
          <a:p>
            <a:pPr marL="0" indent="0">
              <a:buNone/>
            </a:pPr>
            <a:r>
              <a:rPr lang="en-US" sz="1470" dirty="0">
                <a:solidFill>
                  <a:srgbClr val="263238"/>
                </a:solidFill>
              </a:rPr>
              <a:t>• Apakah instruksi, materi, atau waktu belajar terlalu seragam?</a:t>
            </a:r>
            <a:endParaRPr lang="en-US" sz="1470" dirty="0"/>
          </a:p>
          <a:p>
            <a:pPr marL="0" indent="0">
              <a:buNone/>
            </a:pPr>
            <a:r>
              <a:rPr lang="en-US" sz="1470" dirty="0">
                <a:solidFill>
                  <a:srgbClr val="263238"/>
                </a:solidFill>
              </a:rPr>
              <a:t>• Bukti apa yang perlu dikumpulkan sebelum menyimpulkan?</a:t>
            </a:r>
            <a:endParaRPr lang="en-US" sz="1470" dirty="0"/>
          </a:p>
        </p:txBody>
      </p:sp>
      <p:sp>
        <p:nvSpPr>
          <p:cNvPr id="12" name="Text 9"/>
          <p:cNvSpPr/>
          <p:nvPr/>
        </p:nvSpPr>
        <p:spPr>
          <a:xfrm>
            <a:off x="914400" y="5413248"/>
            <a:ext cx="10241280" cy="384048"/>
          </a:xfrm>
          <a:prstGeom prst="rect">
            <a:avLst/>
          </a:prstGeom>
          <a:solidFill>
            <a:srgbClr val="DDF4EF"/>
          </a:solidFill>
          <a:ln>
            <a:solidFill>
              <a:srgbClr val="DDF4EF">
                <a:alpha val="0"/>
              </a:srgbClr>
            </a:solidFill>
          </a:ln>
        </p:spPr>
        <p:txBody>
          <a:bodyPr wrap="square" lIns="1270" tIns="1270" rIns="1270" bIns="1270" rtlCol="0" anchor="ctr">
            <a:normAutofit/>
          </a:bodyPr>
          <a:lstStyle/>
          <a:p>
            <a:pPr marL="0" indent="0" algn="ctr">
              <a:buNone/>
            </a:pPr>
            <a:r>
              <a:rPr lang="en-US" sz="1340" b="1" dirty="0">
                <a:solidFill>
                  <a:srgbClr val="0B2545"/>
                </a:solidFill>
                <a:latin typeface="Aptos" pitchFamily="34" charset="0"/>
                <a:ea typeface="Aptos" pitchFamily="34" charset="-122"/>
                <a:cs typeface="Aptos" pitchFamily="34" charset="-120"/>
              </a:rPr>
              <a:t>Output tahap ini: peta masalah kelas, bukan keluhan umum.</a:t>
            </a:r>
            <a:endParaRPr lang="en-US" sz="1340" dirty="0"/>
          </a:p>
        </p:txBody>
      </p:sp>
      <p:sp>
        <p:nvSpPr>
          <p:cNvPr id="13" name="Shape 10"/>
          <p:cNvSpPr/>
          <p:nvPr/>
        </p:nvSpPr>
        <p:spPr>
          <a:xfrm>
            <a:off x="594360" y="6473952"/>
            <a:ext cx="10972800" cy="0"/>
          </a:xfrm>
          <a:prstGeom prst="line">
            <a:avLst/>
          </a:prstGeom>
          <a:noFill/>
          <a:ln w="12700">
            <a:solidFill>
              <a:srgbClr val="D5E0DE"/>
            </a:solidFill>
            <a:prstDash val="solid"/>
          </a:ln>
        </p:spPr>
      </p:sp>
      <p:sp>
        <p:nvSpPr>
          <p:cNvPr id="14" name="Text 11"/>
          <p:cNvSpPr/>
          <p:nvPr/>
        </p:nvSpPr>
        <p:spPr>
          <a:xfrm>
            <a:off x="594360" y="6556248"/>
            <a:ext cx="7498080" cy="146304"/>
          </a:xfrm>
          <a:prstGeom prst="rect">
            <a:avLst/>
          </a:prstGeom>
          <a:noFill/>
          <a:ln/>
        </p:spPr>
        <p:txBody>
          <a:bodyPr wrap="square" lIns="0" tIns="0" rIns="0" bIns="0" rtlCol="0" anchor="ctr"/>
          <a:lstStyle/>
          <a:p>
            <a:pPr marL="0" indent="0">
              <a:buNone/>
            </a:pPr>
            <a:r>
              <a:rPr lang="en-US" sz="730" dirty="0">
                <a:solidFill>
                  <a:srgbClr val="60737A"/>
                </a:solidFill>
              </a:rPr>
              <a:t>1.F Diskusi • Guru Pembelajar Sepanjang Hayat dalam Ekosistem Sekolah</a:t>
            </a:r>
            <a:endParaRPr lang="en-US" sz="73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0"/>
            <a:ext cx="12191695" cy="118872"/>
          </a:xfrm>
          <a:prstGeom prst="rect">
            <a:avLst/>
          </a:prstGeom>
          <a:solidFill>
            <a:srgbClr val="0B6B78"/>
          </a:solidFill>
          <a:ln w="12700">
            <a:solidFill>
              <a:srgbClr val="0B6B78">
                <a:alpha val="0"/>
              </a:srgbClr>
            </a:solidFill>
            <a:prstDash val="solid"/>
          </a:ln>
        </p:spPr>
      </p:sp>
      <p:sp>
        <p:nvSpPr>
          <p:cNvPr id="4" name="Text 2"/>
          <p:cNvSpPr/>
          <p:nvPr/>
        </p:nvSpPr>
        <p:spPr>
          <a:xfrm>
            <a:off x="621792" y="310896"/>
            <a:ext cx="8046720" cy="237744"/>
          </a:xfrm>
          <a:prstGeom prst="rect">
            <a:avLst/>
          </a:prstGeom>
          <a:noFill/>
          <a:ln/>
        </p:spPr>
        <p:txBody>
          <a:bodyPr wrap="square" lIns="0" tIns="0" rIns="0" bIns="0" rtlCol="0" anchor="ctr"/>
          <a:lstStyle/>
          <a:p>
            <a:pPr marL="0" indent="0">
              <a:buNone/>
            </a:pPr>
            <a:r>
              <a:rPr lang="en-US" sz="950" b="1" dirty="0">
                <a:solidFill>
                  <a:srgbClr val="0B6B78"/>
                </a:solidFill>
              </a:rPr>
              <a:t>KOLB 3</a:t>
            </a:r>
            <a:endParaRPr lang="en-US" sz="950" dirty="0"/>
          </a:p>
        </p:txBody>
      </p:sp>
      <p:sp>
        <p:nvSpPr>
          <p:cNvPr id="5" name="Text 3"/>
          <p:cNvSpPr/>
          <p:nvPr/>
        </p:nvSpPr>
        <p:spPr>
          <a:xfrm>
            <a:off x="594360" y="612648"/>
            <a:ext cx="10972800" cy="475488"/>
          </a:xfrm>
          <a:prstGeom prst="rect">
            <a:avLst/>
          </a:prstGeom>
          <a:noFill/>
          <a:ln/>
        </p:spPr>
        <p:txBody>
          <a:bodyPr wrap="square" lIns="0" tIns="0" rIns="0" bIns="0" rtlCol="0" anchor="ctr">
            <a:normAutofit/>
          </a:bodyPr>
          <a:lstStyle/>
          <a:p>
            <a:pPr marL="0" indent="0">
              <a:buNone/>
            </a:pPr>
            <a:r>
              <a:rPr lang="en-US" sz="2850" b="1" dirty="0">
                <a:solidFill>
                  <a:srgbClr val="0B2545"/>
                </a:solidFill>
                <a:latin typeface="Aptos Display" pitchFamily="34" charset="0"/>
                <a:ea typeface="Aptos Display" pitchFamily="34" charset="-122"/>
                <a:cs typeface="Aptos Display" pitchFamily="34" charset="-120"/>
              </a:rPr>
              <a:t>Konsep yang perlu dipelajari guru</a:t>
            </a:r>
            <a:endParaRPr lang="en-US" sz="2850" dirty="0"/>
          </a:p>
        </p:txBody>
      </p:sp>
      <p:sp>
        <p:nvSpPr>
          <p:cNvPr id="6" name="Text 4"/>
          <p:cNvSpPr/>
          <p:nvPr/>
        </p:nvSpPr>
        <p:spPr>
          <a:xfrm>
            <a:off x="612648" y="1143000"/>
            <a:ext cx="10607040" cy="292608"/>
          </a:xfrm>
          <a:prstGeom prst="rect">
            <a:avLst/>
          </a:prstGeom>
          <a:noFill/>
          <a:ln/>
        </p:spPr>
        <p:txBody>
          <a:bodyPr wrap="square" lIns="0" tIns="0" rIns="0" bIns="0" rtlCol="0" anchor="ctr">
            <a:normAutofit/>
          </a:bodyPr>
          <a:lstStyle/>
          <a:p>
            <a:pPr marL="0" indent="0">
              <a:buNone/>
            </a:pPr>
            <a:r>
              <a:rPr lang="en-US" sz="1350" dirty="0">
                <a:solidFill>
                  <a:srgbClr val="263238"/>
                </a:solidFill>
              </a:rPr>
              <a:t>Konsep dipilih karena langsung menjawab masalah kelas, bukan sekadar menambah teori.</a:t>
            </a:r>
            <a:endParaRPr lang="en-US" sz="1350" dirty="0"/>
          </a:p>
        </p:txBody>
      </p:sp>
      <p:sp>
        <p:nvSpPr>
          <p:cNvPr id="7" name="Text 5"/>
          <p:cNvSpPr/>
          <p:nvPr/>
        </p:nvSpPr>
        <p:spPr>
          <a:xfrm>
            <a:off x="749808" y="1627632"/>
            <a:ext cx="2743200" cy="347472"/>
          </a:xfrm>
          <a:prstGeom prst="rect">
            <a:avLst/>
          </a:prstGeom>
          <a:solidFill>
            <a:srgbClr val="DCEEF7"/>
          </a:solidFill>
          <a:ln>
            <a:solidFill>
              <a:srgbClr val="DCEEF7">
                <a:alpha val="0"/>
              </a:srgbClr>
            </a:solidFill>
          </a:ln>
        </p:spPr>
        <p:txBody>
          <a:bodyPr wrap="square" lIns="1270" tIns="1270" rIns="1270" bIns="1270" rtlCol="0" anchor="ctr">
            <a:normAutofit/>
          </a:bodyPr>
          <a:lstStyle/>
          <a:p>
            <a:pPr marL="0" indent="0" algn="ctr">
              <a:buNone/>
            </a:pPr>
            <a:r>
              <a:rPr lang="en-US" sz="1420" b="1" dirty="0">
                <a:solidFill>
                  <a:srgbClr val="0B2545"/>
                </a:solidFill>
                <a:latin typeface="Aptos" pitchFamily="34" charset="0"/>
                <a:ea typeface="Aptos" pitchFamily="34" charset="-122"/>
                <a:cs typeface="Aptos" pitchFamily="34" charset="-120"/>
              </a:rPr>
              <a:t>Asesmen formatif</a:t>
            </a:r>
            <a:endParaRPr lang="en-US" sz="1420" dirty="0"/>
          </a:p>
        </p:txBody>
      </p:sp>
      <p:sp>
        <p:nvSpPr>
          <p:cNvPr id="8" name="Text 6"/>
          <p:cNvSpPr/>
          <p:nvPr/>
        </p:nvSpPr>
        <p:spPr>
          <a:xfrm>
            <a:off x="3776472" y="1655064"/>
            <a:ext cx="7543800" cy="310896"/>
          </a:xfrm>
          <a:prstGeom prst="rect">
            <a:avLst/>
          </a:prstGeom>
          <a:noFill/>
          <a:ln/>
        </p:spPr>
        <p:txBody>
          <a:bodyPr wrap="square" lIns="0" tIns="0" rIns="0" bIns="0" rtlCol="0" anchor="ctr">
            <a:normAutofit fontScale="92500"/>
          </a:bodyPr>
          <a:lstStyle/>
          <a:p>
            <a:pPr marL="0" indent="0">
              <a:buNone/>
            </a:pPr>
            <a:r>
              <a:rPr lang="en-US" sz="1380" dirty="0">
                <a:solidFill>
                  <a:srgbClr val="263238"/>
                </a:solidFill>
              </a:rPr>
              <a:t>Exit ticket, kuis singkat, dan cek pemahaman untuk membaca kebutuhan siswa sebelum terlambat.</a:t>
            </a:r>
            <a:endParaRPr lang="en-US" sz="1380" dirty="0"/>
          </a:p>
        </p:txBody>
      </p:sp>
      <p:sp>
        <p:nvSpPr>
          <p:cNvPr id="9" name="Text 7"/>
          <p:cNvSpPr/>
          <p:nvPr/>
        </p:nvSpPr>
        <p:spPr>
          <a:xfrm>
            <a:off x="749808" y="2340864"/>
            <a:ext cx="2743200" cy="347472"/>
          </a:xfrm>
          <a:prstGeom prst="rect">
            <a:avLst/>
          </a:prstGeom>
          <a:solidFill>
            <a:srgbClr val="DDF4EF"/>
          </a:solidFill>
          <a:ln>
            <a:solidFill>
              <a:srgbClr val="DDF4EF">
                <a:alpha val="0"/>
              </a:srgbClr>
            </a:solidFill>
          </a:ln>
        </p:spPr>
        <p:txBody>
          <a:bodyPr wrap="square" lIns="1270" tIns="1270" rIns="1270" bIns="1270" rtlCol="0" anchor="ctr">
            <a:normAutofit/>
          </a:bodyPr>
          <a:lstStyle/>
          <a:p>
            <a:pPr marL="0" indent="0" algn="ctr">
              <a:buNone/>
            </a:pPr>
            <a:r>
              <a:rPr lang="en-US" sz="1420" b="1" dirty="0">
                <a:solidFill>
                  <a:srgbClr val="0B2545"/>
                </a:solidFill>
                <a:latin typeface="Aptos" pitchFamily="34" charset="0"/>
                <a:ea typeface="Aptos" pitchFamily="34" charset="-122"/>
                <a:cs typeface="Aptos" pitchFamily="34" charset="-120"/>
              </a:rPr>
              <a:t>Diferensiasi sederhana</a:t>
            </a:r>
            <a:endParaRPr lang="en-US" sz="1420" dirty="0"/>
          </a:p>
        </p:txBody>
      </p:sp>
      <p:sp>
        <p:nvSpPr>
          <p:cNvPr id="10" name="Text 8"/>
          <p:cNvSpPr/>
          <p:nvPr/>
        </p:nvSpPr>
        <p:spPr>
          <a:xfrm>
            <a:off x="3776472" y="2368296"/>
            <a:ext cx="7543800" cy="310896"/>
          </a:xfrm>
          <a:prstGeom prst="rect">
            <a:avLst/>
          </a:prstGeom>
          <a:noFill/>
          <a:ln/>
        </p:spPr>
        <p:txBody>
          <a:bodyPr wrap="square" lIns="0" tIns="0" rIns="0" bIns="0" rtlCol="0" anchor="ctr">
            <a:normAutofit fontScale="92500"/>
          </a:bodyPr>
          <a:lstStyle/>
          <a:p>
            <a:pPr marL="0" indent="0">
              <a:buNone/>
            </a:pPr>
            <a:r>
              <a:rPr lang="en-US" sz="1380" dirty="0">
                <a:solidFill>
                  <a:srgbClr val="263238"/>
                </a:solidFill>
              </a:rPr>
              <a:t>Menyesuaikan dukungan, contoh, tempo, dan pengelompokan tanpa membuat tiga RPP berbeda.</a:t>
            </a:r>
            <a:endParaRPr lang="en-US" sz="1380" dirty="0"/>
          </a:p>
        </p:txBody>
      </p:sp>
      <p:sp>
        <p:nvSpPr>
          <p:cNvPr id="11" name="Text 9"/>
          <p:cNvSpPr/>
          <p:nvPr/>
        </p:nvSpPr>
        <p:spPr>
          <a:xfrm>
            <a:off x="749808" y="3054096"/>
            <a:ext cx="2743200" cy="347472"/>
          </a:xfrm>
          <a:prstGeom prst="rect">
            <a:avLst/>
          </a:prstGeom>
          <a:solidFill>
            <a:srgbClr val="FFEFC7"/>
          </a:solidFill>
          <a:ln>
            <a:solidFill>
              <a:srgbClr val="FFEFC7">
                <a:alpha val="0"/>
              </a:srgbClr>
            </a:solidFill>
          </a:ln>
        </p:spPr>
        <p:txBody>
          <a:bodyPr wrap="square" lIns="1270" tIns="1270" rIns="1270" bIns="1270" rtlCol="0" anchor="ctr">
            <a:normAutofit/>
          </a:bodyPr>
          <a:lstStyle/>
          <a:p>
            <a:pPr marL="0" indent="0" algn="ctr">
              <a:buNone/>
            </a:pPr>
            <a:r>
              <a:rPr lang="en-US" sz="1420" b="1" dirty="0">
                <a:solidFill>
                  <a:srgbClr val="0B2545"/>
                </a:solidFill>
                <a:latin typeface="Aptos" pitchFamily="34" charset="0"/>
                <a:ea typeface="Aptos" pitchFamily="34" charset="-122"/>
                <a:cs typeface="Aptos" pitchFamily="34" charset="-120"/>
              </a:rPr>
              <a:t>Teaching at the right level</a:t>
            </a:r>
            <a:endParaRPr lang="en-US" sz="1420" dirty="0"/>
          </a:p>
        </p:txBody>
      </p:sp>
      <p:sp>
        <p:nvSpPr>
          <p:cNvPr id="12" name="Text 10"/>
          <p:cNvSpPr/>
          <p:nvPr/>
        </p:nvSpPr>
        <p:spPr>
          <a:xfrm>
            <a:off x="3776472" y="3081528"/>
            <a:ext cx="7543800" cy="310896"/>
          </a:xfrm>
          <a:prstGeom prst="rect">
            <a:avLst/>
          </a:prstGeom>
          <a:noFill/>
          <a:ln/>
        </p:spPr>
        <p:txBody>
          <a:bodyPr wrap="square" lIns="0" tIns="0" rIns="0" bIns="0" rtlCol="0" anchor="ctr">
            <a:normAutofit/>
          </a:bodyPr>
          <a:lstStyle/>
          <a:p>
            <a:pPr marL="0" indent="0">
              <a:buNone/>
            </a:pPr>
            <a:r>
              <a:rPr lang="en-US" sz="1380" dirty="0">
                <a:solidFill>
                  <a:srgbClr val="263238"/>
                </a:solidFill>
              </a:rPr>
              <a:t>Memberi bantuan sesuai titik awal kemampuan, bukan asumsi rata-rata kelas.</a:t>
            </a:r>
            <a:endParaRPr lang="en-US" sz="1380" dirty="0"/>
          </a:p>
        </p:txBody>
      </p:sp>
      <p:sp>
        <p:nvSpPr>
          <p:cNvPr id="13" name="Text 11"/>
          <p:cNvSpPr/>
          <p:nvPr/>
        </p:nvSpPr>
        <p:spPr>
          <a:xfrm>
            <a:off x="749808" y="3767328"/>
            <a:ext cx="2743200" cy="347472"/>
          </a:xfrm>
          <a:prstGeom prst="rect">
            <a:avLst/>
          </a:prstGeom>
          <a:solidFill>
            <a:srgbClr val="ECE4FF"/>
          </a:solidFill>
          <a:ln>
            <a:solidFill>
              <a:srgbClr val="ECE4FF">
                <a:alpha val="0"/>
              </a:srgbClr>
            </a:solidFill>
          </a:ln>
        </p:spPr>
        <p:txBody>
          <a:bodyPr wrap="square" lIns="1270" tIns="1270" rIns="1270" bIns="1270" rtlCol="0" anchor="ctr">
            <a:normAutofit fontScale="92500"/>
          </a:bodyPr>
          <a:lstStyle/>
          <a:p>
            <a:pPr marL="0" indent="0" algn="ctr">
              <a:buNone/>
            </a:pPr>
            <a:r>
              <a:rPr lang="en-US" sz="1420" b="1" dirty="0">
                <a:solidFill>
                  <a:srgbClr val="0B2545"/>
                </a:solidFill>
                <a:latin typeface="Aptos" pitchFamily="34" charset="0"/>
                <a:ea typeface="Aptos" pitchFamily="34" charset="-122"/>
                <a:cs typeface="Aptos" pitchFamily="34" charset="-120"/>
              </a:rPr>
              <a:t>Lesson study / peer observation</a:t>
            </a:r>
            <a:endParaRPr lang="en-US" sz="1420" dirty="0"/>
          </a:p>
        </p:txBody>
      </p:sp>
      <p:sp>
        <p:nvSpPr>
          <p:cNvPr id="14" name="Text 12"/>
          <p:cNvSpPr/>
          <p:nvPr/>
        </p:nvSpPr>
        <p:spPr>
          <a:xfrm>
            <a:off x="3776472" y="3794760"/>
            <a:ext cx="7543800" cy="310896"/>
          </a:xfrm>
          <a:prstGeom prst="rect">
            <a:avLst/>
          </a:prstGeom>
          <a:noFill/>
          <a:ln/>
        </p:spPr>
        <p:txBody>
          <a:bodyPr wrap="square" lIns="0" tIns="0" rIns="0" bIns="0" rtlCol="0" anchor="ctr">
            <a:normAutofit/>
          </a:bodyPr>
          <a:lstStyle/>
          <a:p>
            <a:pPr marL="0" indent="0">
              <a:buNone/>
            </a:pPr>
            <a:r>
              <a:rPr lang="en-US" sz="1380" dirty="0">
                <a:solidFill>
                  <a:srgbClr val="263238"/>
                </a:solidFill>
              </a:rPr>
              <a:t>Guru saling mengamati satu fokus kecil: instruksi, waktu, atau respon siswa.</a:t>
            </a:r>
            <a:endParaRPr lang="en-US" sz="1380" dirty="0"/>
          </a:p>
        </p:txBody>
      </p:sp>
      <p:sp>
        <p:nvSpPr>
          <p:cNvPr id="15" name="Text 13"/>
          <p:cNvSpPr/>
          <p:nvPr/>
        </p:nvSpPr>
        <p:spPr>
          <a:xfrm>
            <a:off x="749808" y="4480560"/>
            <a:ext cx="2743200" cy="347472"/>
          </a:xfrm>
          <a:prstGeom prst="rect">
            <a:avLst/>
          </a:prstGeom>
          <a:solidFill>
            <a:srgbClr val="DFF0D8"/>
          </a:solidFill>
          <a:ln>
            <a:solidFill>
              <a:srgbClr val="DFF0D8">
                <a:alpha val="0"/>
              </a:srgbClr>
            </a:solidFill>
          </a:ln>
        </p:spPr>
        <p:txBody>
          <a:bodyPr wrap="square" lIns="1270" tIns="1270" rIns="1270" bIns="1270" rtlCol="0" anchor="ctr">
            <a:normAutofit/>
          </a:bodyPr>
          <a:lstStyle/>
          <a:p>
            <a:pPr marL="0" indent="0" algn="ctr">
              <a:buNone/>
            </a:pPr>
            <a:r>
              <a:rPr lang="en-US" sz="1420" b="1" dirty="0">
                <a:solidFill>
                  <a:srgbClr val="0B2545"/>
                </a:solidFill>
                <a:latin typeface="Aptos" pitchFamily="34" charset="0"/>
                <a:ea typeface="Aptos" pitchFamily="34" charset="-122"/>
                <a:cs typeface="Aptos" pitchFamily="34" charset="-120"/>
              </a:rPr>
              <a:t>Coaching klinis</a:t>
            </a:r>
            <a:endParaRPr lang="en-US" sz="1420" dirty="0"/>
          </a:p>
        </p:txBody>
      </p:sp>
      <p:sp>
        <p:nvSpPr>
          <p:cNvPr id="16" name="Text 14"/>
          <p:cNvSpPr/>
          <p:nvPr/>
        </p:nvSpPr>
        <p:spPr>
          <a:xfrm>
            <a:off x="3776472" y="4507992"/>
            <a:ext cx="7543800" cy="310896"/>
          </a:xfrm>
          <a:prstGeom prst="rect">
            <a:avLst/>
          </a:prstGeom>
          <a:noFill/>
          <a:ln/>
        </p:spPr>
        <p:txBody>
          <a:bodyPr wrap="square" lIns="0" tIns="0" rIns="0" bIns="0" rtlCol="0" anchor="ctr">
            <a:normAutofit/>
          </a:bodyPr>
          <a:lstStyle/>
          <a:p>
            <a:pPr marL="0" indent="0">
              <a:buNone/>
            </a:pPr>
            <a:r>
              <a:rPr lang="en-US" sz="1380" dirty="0">
                <a:solidFill>
                  <a:srgbClr val="263238"/>
                </a:solidFill>
              </a:rPr>
              <a:t>Mentor membantu guru baru merumuskan masalah, mencoba solusi, dan mengevaluasi data.</a:t>
            </a:r>
            <a:endParaRPr lang="en-US" sz="1380" dirty="0"/>
          </a:p>
        </p:txBody>
      </p:sp>
      <p:sp>
        <p:nvSpPr>
          <p:cNvPr id="17" name="Text 15"/>
          <p:cNvSpPr/>
          <p:nvPr/>
        </p:nvSpPr>
        <p:spPr>
          <a:xfrm>
            <a:off x="914400" y="5650992"/>
            <a:ext cx="10287000" cy="457200"/>
          </a:xfrm>
          <a:prstGeom prst="rect">
            <a:avLst/>
          </a:prstGeom>
          <a:solidFill>
            <a:srgbClr val="0B2545"/>
          </a:solidFill>
          <a:ln>
            <a:solidFill>
              <a:srgbClr val="0B2545">
                <a:alpha val="0"/>
              </a:srgbClr>
            </a:solidFill>
          </a:ln>
        </p:spPr>
        <p:txBody>
          <a:bodyPr wrap="square" lIns="1270" tIns="1270" rIns="1270" bIns="1270" rtlCol="0" anchor="ctr">
            <a:normAutofit/>
          </a:bodyPr>
          <a:lstStyle/>
          <a:p>
            <a:pPr marL="0" indent="0" algn="ctr">
              <a:buNone/>
            </a:pPr>
            <a:r>
              <a:rPr lang="en-US" sz="1440" b="1" dirty="0">
                <a:solidFill>
                  <a:srgbClr val="FFFFFF"/>
                </a:solidFill>
                <a:latin typeface="Aptos" pitchFamily="34" charset="0"/>
                <a:ea typeface="Aptos" pitchFamily="34" charset="-122"/>
                <a:cs typeface="Aptos" pitchFamily="34" charset="-120"/>
              </a:rPr>
              <a:t>Intinya: guru belajar konsep yang langsung dipakai untuk memperbaiki satu masalah nyata, lalu menyimpan buktinya dalam portofolio CPD.</a:t>
            </a:r>
            <a:endParaRPr lang="en-US" sz="1440" dirty="0"/>
          </a:p>
        </p:txBody>
      </p:sp>
      <p:sp>
        <p:nvSpPr>
          <p:cNvPr id="18" name="Shape 16"/>
          <p:cNvSpPr/>
          <p:nvPr/>
        </p:nvSpPr>
        <p:spPr>
          <a:xfrm>
            <a:off x="594360" y="6473952"/>
            <a:ext cx="10972800" cy="0"/>
          </a:xfrm>
          <a:prstGeom prst="line">
            <a:avLst/>
          </a:prstGeom>
          <a:noFill/>
          <a:ln w="12700">
            <a:solidFill>
              <a:srgbClr val="D5E0DE"/>
            </a:solidFill>
            <a:prstDash val="solid"/>
          </a:ln>
        </p:spPr>
      </p:sp>
      <p:sp>
        <p:nvSpPr>
          <p:cNvPr id="19" name="Text 17"/>
          <p:cNvSpPr/>
          <p:nvPr/>
        </p:nvSpPr>
        <p:spPr>
          <a:xfrm>
            <a:off x="594360" y="6556248"/>
            <a:ext cx="7498080" cy="146304"/>
          </a:xfrm>
          <a:prstGeom prst="rect">
            <a:avLst/>
          </a:prstGeom>
          <a:noFill/>
          <a:ln/>
        </p:spPr>
        <p:txBody>
          <a:bodyPr wrap="square" lIns="0" tIns="0" rIns="0" bIns="0" rtlCol="0" anchor="ctr"/>
          <a:lstStyle/>
          <a:p>
            <a:pPr marL="0" indent="0">
              <a:buNone/>
            </a:pPr>
            <a:r>
              <a:rPr lang="en-US" sz="730" dirty="0">
                <a:solidFill>
                  <a:srgbClr val="60737A"/>
                </a:solidFill>
              </a:rPr>
              <a:t>1.F Diskusi • Guru Pembelajar Sepanjang Hayat dalam Ekosistem Sekolah</a:t>
            </a:r>
            <a:endParaRPr lang="en-US" sz="73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0"/>
            <a:ext cx="12191695" cy="118872"/>
          </a:xfrm>
          <a:prstGeom prst="rect">
            <a:avLst/>
          </a:prstGeom>
          <a:solidFill>
            <a:srgbClr val="0B6B78"/>
          </a:solidFill>
          <a:ln w="12700">
            <a:solidFill>
              <a:srgbClr val="0B6B78">
                <a:alpha val="0"/>
              </a:srgbClr>
            </a:solidFill>
            <a:prstDash val="solid"/>
          </a:ln>
        </p:spPr>
      </p:sp>
      <p:sp>
        <p:nvSpPr>
          <p:cNvPr id="4" name="Text 2"/>
          <p:cNvSpPr/>
          <p:nvPr/>
        </p:nvSpPr>
        <p:spPr>
          <a:xfrm>
            <a:off x="621792" y="310896"/>
            <a:ext cx="8046720" cy="237744"/>
          </a:xfrm>
          <a:prstGeom prst="rect">
            <a:avLst/>
          </a:prstGeom>
          <a:noFill/>
          <a:ln/>
        </p:spPr>
        <p:txBody>
          <a:bodyPr wrap="square" lIns="0" tIns="0" rIns="0" bIns="0" rtlCol="0" anchor="ctr"/>
          <a:lstStyle/>
          <a:p>
            <a:pPr marL="0" indent="0">
              <a:buNone/>
            </a:pPr>
            <a:r>
              <a:rPr lang="en-US" sz="950" b="1" dirty="0">
                <a:solidFill>
                  <a:srgbClr val="0B6B78"/>
                </a:solidFill>
              </a:rPr>
              <a:t>KOLB 4</a:t>
            </a:r>
            <a:endParaRPr lang="en-US" sz="950" dirty="0"/>
          </a:p>
        </p:txBody>
      </p:sp>
      <p:sp>
        <p:nvSpPr>
          <p:cNvPr id="5" name="Text 3"/>
          <p:cNvSpPr/>
          <p:nvPr/>
        </p:nvSpPr>
        <p:spPr>
          <a:xfrm>
            <a:off x="594360" y="612648"/>
            <a:ext cx="10972800" cy="475488"/>
          </a:xfrm>
          <a:prstGeom prst="rect">
            <a:avLst/>
          </a:prstGeom>
          <a:noFill/>
          <a:ln/>
        </p:spPr>
        <p:txBody>
          <a:bodyPr wrap="square" lIns="0" tIns="0" rIns="0" bIns="0" rtlCol="0" anchor="ctr">
            <a:normAutofit/>
          </a:bodyPr>
          <a:lstStyle/>
          <a:p>
            <a:pPr marL="0" indent="0">
              <a:buNone/>
            </a:pPr>
            <a:r>
              <a:rPr lang="en-US" sz="2850" b="1" dirty="0">
                <a:solidFill>
                  <a:srgbClr val="0B2545"/>
                </a:solidFill>
                <a:latin typeface="Aptos Display" pitchFamily="34" charset="0"/>
                <a:ea typeface="Aptos Display" pitchFamily="34" charset="-122"/>
                <a:cs typeface="Aptos Display" pitchFamily="34" charset="-120"/>
              </a:rPr>
              <a:t>Eksperimen pembelajaran: kecil, terukur, bisa dicoba</a:t>
            </a:r>
            <a:endParaRPr lang="en-US" sz="2850" dirty="0"/>
          </a:p>
        </p:txBody>
      </p:sp>
      <p:sp>
        <p:nvSpPr>
          <p:cNvPr id="6" name="Text 4"/>
          <p:cNvSpPr/>
          <p:nvPr/>
        </p:nvSpPr>
        <p:spPr>
          <a:xfrm>
            <a:off x="612648" y="1143000"/>
            <a:ext cx="10607040" cy="292608"/>
          </a:xfrm>
          <a:prstGeom prst="rect">
            <a:avLst/>
          </a:prstGeom>
          <a:noFill/>
          <a:ln/>
        </p:spPr>
        <p:txBody>
          <a:bodyPr wrap="square" lIns="0" tIns="0" rIns="0" bIns="0" rtlCol="0" anchor="ctr">
            <a:normAutofit/>
          </a:bodyPr>
          <a:lstStyle/>
          <a:p>
            <a:pPr marL="0" indent="0">
              <a:buNone/>
            </a:pPr>
            <a:r>
              <a:rPr lang="en-US" sz="1350" dirty="0">
                <a:solidFill>
                  <a:srgbClr val="263238"/>
                </a:solidFill>
              </a:rPr>
              <a:t>Guru baru tidak perlu langsung mengubah semua hal; cukup satu siklus pendek yang berdampak.</a:t>
            </a:r>
            <a:endParaRPr lang="en-US" sz="1350" dirty="0"/>
          </a:p>
        </p:txBody>
      </p:sp>
      <p:pic>
        <p:nvPicPr>
          <p:cNvPr id="7" name="Image 0" descr="/mnt/data/crop_classroom.png"/>
          <p:cNvPicPr>
            <a:picLocks noChangeAspect="1"/>
          </p:cNvPicPr>
          <p:nvPr/>
        </p:nvPicPr>
        <p:blipFill>
          <a:blip r:embed="rId3"/>
          <a:stretch>
            <a:fillRect/>
          </a:stretch>
        </p:blipFill>
        <p:spPr>
          <a:xfrm>
            <a:off x="7452360" y="1719072"/>
            <a:ext cx="4160520" cy="2679192"/>
          </a:xfrm>
          <a:prstGeom prst="rect">
            <a:avLst/>
          </a:prstGeom>
        </p:spPr>
      </p:pic>
      <p:sp>
        <p:nvSpPr>
          <p:cNvPr id="8" name="Text 5"/>
          <p:cNvSpPr/>
          <p:nvPr/>
        </p:nvSpPr>
        <p:spPr>
          <a:xfrm>
            <a:off x="685800" y="1627632"/>
            <a:ext cx="1115568" cy="347472"/>
          </a:xfrm>
          <a:prstGeom prst="rect">
            <a:avLst/>
          </a:prstGeom>
          <a:solidFill>
            <a:srgbClr val="F3B233"/>
          </a:solidFill>
          <a:ln>
            <a:solidFill>
              <a:srgbClr val="F3B233">
                <a:alpha val="0"/>
              </a:srgbClr>
            </a:solidFill>
          </a:ln>
        </p:spPr>
        <p:txBody>
          <a:bodyPr wrap="square" lIns="1270" tIns="1270" rIns="1270" bIns="1270" rtlCol="0" anchor="ctr">
            <a:normAutofit/>
          </a:bodyPr>
          <a:lstStyle/>
          <a:p>
            <a:pPr marL="0" indent="0" algn="ctr">
              <a:buNone/>
            </a:pPr>
            <a:r>
              <a:rPr lang="en-US" sz="1150" b="1" dirty="0">
                <a:solidFill>
                  <a:srgbClr val="0B2545"/>
                </a:solidFill>
                <a:latin typeface="Aptos" pitchFamily="34" charset="0"/>
                <a:ea typeface="Aptos" pitchFamily="34" charset="-122"/>
                <a:cs typeface="Aptos" pitchFamily="34" charset="-120"/>
              </a:rPr>
              <a:t>Minggu 1</a:t>
            </a:r>
            <a:endParaRPr lang="en-US" sz="1150" dirty="0"/>
          </a:p>
        </p:txBody>
      </p:sp>
      <p:sp>
        <p:nvSpPr>
          <p:cNvPr id="9" name="Text 6"/>
          <p:cNvSpPr/>
          <p:nvPr/>
        </p:nvSpPr>
        <p:spPr>
          <a:xfrm>
            <a:off x="2057400" y="1655064"/>
            <a:ext cx="1417320" cy="274320"/>
          </a:xfrm>
          <a:prstGeom prst="rect">
            <a:avLst/>
          </a:prstGeom>
          <a:noFill/>
          <a:ln/>
        </p:spPr>
        <p:txBody>
          <a:bodyPr wrap="square" lIns="0" tIns="0" rIns="0" bIns="0" rtlCol="0" anchor="ctr">
            <a:normAutofit/>
          </a:bodyPr>
          <a:lstStyle/>
          <a:p>
            <a:pPr marL="0" indent="0">
              <a:buNone/>
            </a:pPr>
            <a:r>
              <a:rPr lang="en-US" sz="1500" b="1" dirty="0">
                <a:solidFill>
                  <a:srgbClr val="0B2545"/>
                </a:solidFill>
              </a:rPr>
              <a:t>Baseline</a:t>
            </a:r>
            <a:endParaRPr lang="en-US" sz="1500" dirty="0"/>
          </a:p>
        </p:txBody>
      </p:sp>
      <p:sp>
        <p:nvSpPr>
          <p:cNvPr id="10" name="Text 7"/>
          <p:cNvSpPr/>
          <p:nvPr/>
        </p:nvSpPr>
        <p:spPr>
          <a:xfrm>
            <a:off x="3657600" y="1645920"/>
            <a:ext cx="3246120" cy="320040"/>
          </a:xfrm>
          <a:prstGeom prst="rect">
            <a:avLst/>
          </a:prstGeom>
          <a:noFill/>
          <a:ln/>
        </p:spPr>
        <p:txBody>
          <a:bodyPr wrap="square" lIns="0" tIns="0" rIns="0" bIns="0" rtlCol="0" anchor="ctr">
            <a:normAutofit fontScale="92500" lnSpcReduction="10000"/>
          </a:bodyPr>
          <a:lstStyle/>
          <a:p>
            <a:pPr marL="0" indent="0">
              <a:buNone/>
            </a:pPr>
            <a:r>
              <a:rPr lang="en-US" sz="1240" dirty="0">
                <a:solidFill>
                  <a:srgbClr val="263238"/>
                </a:solidFill>
              </a:rPr>
              <a:t>Kumpulkan 1 asesmen formatif + identifikasi 3 indikator terlemah.</a:t>
            </a:r>
            <a:endParaRPr lang="en-US" sz="1240" dirty="0"/>
          </a:p>
        </p:txBody>
      </p:sp>
      <p:sp>
        <p:nvSpPr>
          <p:cNvPr id="11" name="Text 8"/>
          <p:cNvSpPr/>
          <p:nvPr/>
        </p:nvSpPr>
        <p:spPr>
          <a:xfrm>
            <a:off x="685800" y="2468880"/>
            <a:ext cx="1115568" cy="347472"/>
          </a:xfrm>
          <a:prstGeom prst="rect">
            <a:avLst/>
          </a:prstGeom>
          <a:solidFill>
            <a:srgbClr val="F3B233"/>
          </a:solidFill>
          <a:ln>
            <a:solidFill>
              <a:srgbClr val="F3B233">
                <a:alpha val="0"/>
              </a:srgbClr>
            </a:solidFill>
          </a:ln>
        </p:spPr>
        <p:txBody>
          <a:bodyPr wrap="square" lIns="1270" tIns="1270" rIns="1270" bIns="1270" rtlCol="0" anchor="ctr">
            <a:normAutofit/>
          </a:bodyPr>
          <a:lstStyle/>
          <a:p>
            <a:pPr marL="0" indent="0" algn="ctr">
              <a:buNone/>
            </a:pPr>
            <a:r>
              <a:rPr lang="en-US" sz="1150" b="1" dirty="0">
                <a:solidFill>
                  <a:srgbClr val="0B2545"/>
                </a:solidFill>
                <a:latin typeface="Aptos" pitchFamily="34" charset="0"/>
                <a:ea typeface="Aptos" pitchFamily="34" charset="-122"/>
                <a:cs typeface="Aptos" pitchFamily="34" charset="-120"/>
              </a:rPr>
              <a:t>Minggu 2</a:t>
            </a:r>
            <a:endParaRPr lang="en-US" sz="1150" dirty="0"/>
          </a:p>
        </p:txBody>
      </p:sp>
      <p:sp>
        <p:nvSpPr>
          <p:cNvPr id="12" name="Text 9"/>
          <p:cNvSpPr/>
          <p:nvPr/>
        </p:nvSpPr>
        <p:spPr>
          <a:xfrm>
            <a:off x="2057400" y="2496312"/>
            <a:ext cx="1417320" cy="274320"/>
          </a:xfrm>
          <a:prstGeom prst="rect">
            <a:avLst/>
          </a:prstGeom>
          <a:noFill/>
          <a:ln/>
        </p:spPr>
        <p:txBody>
          <a:bodyPr wrap="square" lIns="0" tIns="0" rIns="0" bIns="0" rtlCol="0" anchor="ctr">
            <a:normAutofit/>
          </a:bodyPr>
          <a:lstStyle/>
          <a:p>
            <a:pPr marL="0" indent="0">
              <a:buNone/>
            </a:pPr>
            <a:r>
              <a:rPr lang="en-US" sz="1500" b="1" dirty="0">
                <a:solidFill>
                  <a:srgbClr val="0B2545"/>
                </a:solidFill>
              </a:rPr>
              <a:t>Coba strategi</a:t>
            </a:r>
            <a:endParaRPr lang="en-US" sz="1500" dirty="0"/>
          </a:p>
        </p:txBody>
      </p:sp>
      <p:sp>
        <p:nvSpPr>
          <p:cNvPr id="13" name="Text 10"/>
          <p:cNvSpPr/>
          <p:nvPr/>
        </p:nvSpPr>
        <p:spPr>
          <a:xfrm>
            <a:off x="3657600" y="2487168"/>
            <a:ext cx="3246120" cy="320040"/>
          </a:xfrm>
          <a:prstGeom prst="rect">
            <a:avLst/>
          </a:prstGeom>
          <a:noFill/>
          <a:ln/>
        </p:spPr>
        <p:txBody>
          <a:bodyPr wrap="square" lIns="0" tIns="0" rIns="0" bIns="0" rtlCol="0" anchor="ctr">
            <a:normAutofit fontScale="92500" lnSpcReduction="10000"/>
          </a:bodyPr>
          <a:lstStyle/>
          <a:p>
            <a:pPr marL="0" indent="0">
              <a:buNone/>
            </a:pPr>
            <a:r>
              <a:rPr lang="en-US" sz="1240" dirty="0">
                <a:solidFill>
                  <a:srgbClr val="263238"/>
                </a:solidFill>
              </a:rPr>
              <a:t>Gunakan exit ticket, contoh bertahap, dan kelompok fleksibel.</a:t>
            </a:r>
            <a:endParaRPr lang="en-US" sz="1240" dirty="0"/>
          </a:p>
        </p:txBody>
      </p:sp>
      <p:sp>
        <p:nvSpPr>
          <p:cNvPr id="14" name="Text 11"/>
          <p:cNvSpPr/>
          <p:nvPr/>
        </p:nvSpPr>
        <p:spPr>
          <a:xfrm>
            <a:off x="685800" y="3310128"/>
            <a:ext cx="1115568" cy="347472"/>
          </a:xfrm>
          <a:prstGeom prst="rect">
            <a:avLst/>
          </a:prstGeom>
          <a:solidFill>
            <a:srgbClr val="F3B233"/>
          </a:solidFill>
          <a:ln>
            <a:solidFill>
              <a:srgbClr val="F3B233">
                <a:alpha val="0"/>
              </a:srgbClr>
            </a:solidFill>
          </a:ln>
        </p:spPr>
        <p:txBody>
          <a:bodyPr wrap="square" lIns="1270" tIns="1270" rIns="1270" bIns="1270" rtlCol="0" anchor="ctr">
            <a:normAutofit/>
          </a:bodyPr>
          <a:lstStyle/>
          <a:p>
            <a:pPr marL="0" indent="0" algn="ctr">
              <a:buNone/>
            </a:pPr>
            <a:r>
              <a:rPr lang="en-US" sz="1150" b="1" dirty="0">
                <a:solidFill>
                  <a:srgbClr val="0B2545"/>
                </a:solidFill>
                <a:latin typeface="Aptos" pitchFamily="34" charset="0"/>
                <a:ea typeface="Aptos" pitchFamily="34" charset="-122"/>
                <a:cs typeface="Aptos" pitchFamily="34" charset="-120"/>
              </a:rPr>
              <a:t>Minggu 3</a:t>
            </a:r>
            <a:endParaRPr lang="en-US" sz="1150" dirty="0"/>
          </a:p>
        </p:txBody>
      </p:sp>
      <p:sp>
        <p:nvSpPr>
          <p:cNvPr id="15" name="Text 12"/>
          <p:cNvSpPr/>
          <p:nvPr/>
        </p:nvSpPr>
        <p:spPr>
          <a:xfrm>
            <a:off x="2057400" y="3337560"/>
            <a:ext cx="1417320" cy="274320"/>
          </a:xfrm>
          <a:prstGeom prst="rect">
            <a:avLst/>
          </a:prstGeom>
          <a:noFill/>
          <a:ln/>
        </p:spPr>
        <p:txBody>
          <a:bodyPr wrap="square" lIns="0" tIns="0" rIns="0" bIns="0" rtlCol="0" anchor="ctr">
            <a:normAutofit/>
          </a:bodyPr>
          <a:lstStyle/>
          <a:p>
            <a:pPr marL="0" indent="0">
              <a:buNone/>
            </a:pPr>
            <a:r>
              <a:rPr lang="en-US" sz="1500" b="1" dirty="0">
                <a:solidFill>
                  <a:srgbClr val="0B2545"/>
                </a:solidFill>
              </a:rPr>
              <a:t>Dukungan</a:t>
            </a:r>
            <a:endParaRPr lang="en-US" sz="1500" dirty="0"/>
          </a:p>
        </p:txBody>
      </p:sp>
      <p:sp>
        <p:nvSpPr>
          <p:cNvPr id="16" name="Text 13"/>
          <p:cNvSpPr/>
          <p:nvPr/>
        </p:nvSpPr>
        <p:spPr>
          <a:xfrm>
            <a:off x="3657600" y="3328416"/>
            <a:ext cx="3246120" cy="320040"/>
          </a:xfrm>
          <a:prstGeom prst="rect">
            <a:avLst/>
          </a:prstGeom>
          <a:noFill/>
          <a:ln/>
        </p:spPr>
        <p:txBody>
          <a:bodyPr wrap="square" lIns="0" tIns="0" rIns="0" bIns="0" rtlCol="0" anchor="ctr">
            <a:normAutofit fontScale="92500" lnSpcReduction="10000"/>
          </a:bodyPr>
          <a:lstStyle/>
          <a:p>
            <a:pPr marL="0" indent="0">
              <a:buNone/>
            </a:pPr>
            <a:r>
              <a:rPr lang="en-US" sz="1240" dirty="0">
                <a:solidFill>
                  <a:srgbClr val="263238"/>
                </a:solidFill>
              </a:rPr>
              <a:t>Mini lesson 10 menit untuk siswa yang belum paham + pengayaan mandiri.</a:t>
            </a:r>
            <a:endParaRPr lang="en-US" sz="1240" dirty="0"/>
          </a:p>
        </p:txBody>
      </p:sp>
      <p:sp>
        <p:nvSpPr>
          <p:cNvPr id="17" name="Text 14"/>
          <p:cNvSpPr/>
          <p:nvPr/>
        </p:nvSpPr>
        <p:spPr>
          <a:xfrm>
            <a:off x="685800" y="4151376"/>
            <a:ext cx="1115568" cy="347472"/>
          </a:xfrm>
          <a:prstGeom prst="rect">
            <a:avLst/>
          </a:prstGeom>
          <a:solidFill>
            <a:srgbClr val="F3B233"/>
          </a:solidFill>
          <a:ln>
            <a:solidFill>
              <a:srgbClr val="F3B233">
                <a:alpha val="0"/>
              </a:srgbClr>
            </a:solidFill>
          </a:ln>
        </p:spPr>
        <p:txBody>
          <a:bodyPr wrap="square" lIns="1270" tIns="1270" rIns="1270" bIns="1270" rtlCol="0" anchor="ctr">
            <a:normAutofit/>
          </a:bodyPr>
          <a:lstStyle/>
          <a:p>
            <a:pPr marL="0" indent="0" algn="ctr">
              <a:buNone/>
            </a:pPr>
            <a:r>
              <a:rPr lang="en-US" sz="1150" b="1" dirty="0">
                <a:solidFill>
                  <a:srgbClr val="0B2545"/>
                </a:solidFill>
                <a:latin typeface="Aptos" pitchFamily="34" charset="0"/>
                <a:ea typeface="Aptos" pitchFamily="34" charset="-122"/>
                <a:cs typeface="Aptos" pitchFamily="34" charset="-120"/>
              </a:rPr>
              <a:t>Minggu 4</a:t>
            </a:r>
            <a:endParaRPr lang="en-US" sz="1150" dirty="0"/>
          </a:p>
        </p:txBody>
      </p:sp>
      <p:sp>
        <p:nvSpPr>
          <p:cNvPr id="18" name="Text 15"/>
          <p:cNvSpPr/>
          <p:nvPr/>
        </p:nvSpPr>
        <p:spPr>
          <a:xfrm>
            <a:off x="2057400" y="4178808"/>
            <a:ext cx="1417320" cy="274320"/>
          </a:xfrm>
          <a:prstGeom prst="rect">
            <a:avLst/>
          </a:prstGeom>
          <a:noFill/>
          <a:ln/>
        </p:spPr>
        <p:txBody>
          <a:bodyPr wrap="square" lIns="0" tIns="0" rIns="0" bIns="0" rtlCol="0" anchor="ctr">
            <a:normAutofit/>
          </a:bodyPr>
          <a:lstStyle/>
          <a:p>
            <a:pPr marL="0" indent="0">
              <a:buNone/>
            </a:pPr>
            <a:r>
              <a:rPr lang="en-US" sz="1500" b="1" dirty="0">
                <a:solidFill>
                  <a:srgbClr val="0B2545"/>
                </a:solidFill>
              </a:rPr>
              <a:t>Evaluasi</a:t>
            </a:r>
            <a:endParaRPr lang="en-US" sz="1500" dirty="0"/>
          </a:p>
        </p:txBody>
      </p:sp>
      <p:sp>
        <p:nvSpPr>
          <p:cNvPr id="19" name="Text 16"/>
          <p:cNvSpPr/>
          <p:nvPr/>
        </p:nvSpPr>
        <p:spPr>
          <a:xfrm>
            <a:off x="3657600" y="4169664"/>
            <a:ext cx="3246120" cy="320040"/>
          </a:xfrm>
          <a:prstGeom prst="rect">
            <a:avLst/>
          </a:prstGeom>
          <a:noFill/>
          <a:ln/>
        </p:spPr>
        <p:txBody>
          <a:bodyPr wrap="square" lIns="0" tIns="0" rIns="0" bIns="0" rtlCol="0" anchor="ctr">
            <a:normAutofit fontScale="92500" lnSpcReduction="10000"/>
          </a:bodyPr>
          <a:lstStyle/>
          <a:p>
            <a:pPr marL="0" indent="0">
              <a:buNone/>
            </a:pPr>
            <a:r>
              <a:rPr lang="en-US" sz="1240" dirty="0">
                <a:solidFill>
                  <a:srgbClr val="263238"/>
                </a:solidFill>
              </a:rPr>
              <a:t>Bandingkan data formatif awal-akhir dan tulis refleksi 1 halaman.</a:t>
            </a:r>
            <a:endParaRPr lang="en-US" sz="1240" dirty="0"/>
          </a:p>
        </p:txBody>
      </p:sp>
      <p:sp>
        <p:nvSpPr>
          <p:cNvPr id="20" name="Text 17"/>
          <p:cNvSpPr/>
          <p:nvPr/>
        </p:nvSpPr>
        <p:spPr>
          <a:xfrm>
            <a:off x="777240" y="5166360"/>
            <a:ext cx="6126480" cy="384048"/>
          </a:xfrm>
          <a:prstGeom prst="rect">
            <a:avLst/>
          </a:prstGeom>
          <a:solidFill>
            <a:srgbClr val="DDF4EF"/>
          </a:solidFill>
          <a:ln>
            <a:solidFill>
              <a:srgbClr val="DDF4EF">
                <a:alpha val="0"/>
              </a:srgbClr>
            </a:solidFill>
          </a:ln>
        </p:spPr>
        <p:txBody>
          <a:bodyPr wrap="square" lIns="1270" tIns="1270" rIns="1270" bIns="1270" rtlCol="0" anchor="ctr">
            <a:normAutofit lnSpcReduction="10000"/>
          </a:bodyPr>
          <a:lstStyle/>
          <a:p>
            <a:pPr marL="0" indent="0" algn="ctr">
              <a:buNone/>
            </a:pPr>
            <a:r>
              <a:rPr lang="en-US" sz="1300" b="1" dirty="0">
                <a:solidFill>
                  <a:srgbClr val="0B2545"/>
                </a:solidFill>
                <a:latin typeface="Aptos" pitchFamily="34" charset="0"/>
                <a:ea typeface="Aptos" pitchFamily="34" charset="-122"/>
                <a:cs typeface="Aptos" pitchFamily="34" charset="-120"/>
              </a:rPr>
              <a:t>Bukan tambahan beban: eksperimen memakai data yang memang muncul dari pembelajaran harian.</a:t>
            </a:r>
            <a:endParaRPr lang="en-US" sz="1300" dirty="0"/>
          </a:p>
        </p:txBody>
      </p:sp>
      <p:sp>
        <p:nvSpPr>
          <p:cNvPr id="21" name="Text 18"/>
          <p:cNvSpPr/>
          <p:nvPr/>
        </p:nvSpPr>
        <p:spPr>
          <a:xfrm>
            <a:off x="7452360" y="4901184"/>
            <a:ext cx="4160520" cy="777240"/>
          </a:xfrm>
          <a:prstGeom prst="rect">
            <a:avLst/>
          </a:prstGeom>
          <a:solidFill>
            <a:srgbClr val="FFFFFF"/>
          </a:solidFill>
          <a:ln>
            <a:solidFill>
              <a:srgbClr val="FFFFFF">
                <a:alpha val="0"/>
              </a:srgbClr>
            </a:solidFill>
          </a:ln>
          <a:effectLst>
            <a:outerShdw blurRad="15240" dist="13970" dir="2700000" algn="bl" rotWithShape="0">
              <a:srgbClr val="000000">
                <a:alpha val="13000"/>
              </a:srgbClr>
            </a:outerShdw>
          </a:effectLst>
        </p:spPr>
        <p:txBody>
          <a:bodyPr wrap="square" lIns="1270" tIns="1270" rIns="1270" bIns="1270" rtlCol="0" anchor="ctr">
            <a:normAutofit/>
          </a:bodyPr>
          <a:lstStyle/>
          <a:p>
            <a:pPr marL="0" indent="0" algn="ctr">
              <a:buNone/>
            </a:pPr>
            <a:r>
              <a:rPr lang="en-US" sz="1350" b="1" dirty="0">
                <a:solidFill>
                  <a:srgbClr val="0B2545"/>
                </a:solidFill>
                <a:latin typeface="Aptos" pitchFamily="34" charset="0"/>
                <a:ea typeface="Aptos" pitchFamily="34" charset="-122"/>
                <a:cs typeface="Aptos" pitchFamily="34" charset="-120"/>
              </a:rPr>
              <a:t>Hasil akhir: strategi yang terbukti membantu dipertahankan; yang belum berhasil direvisi bersama komunitas belajar.</a:t>
            </a:r>
            <a:endParaRPr lang="en-US" sz="1350" dirty="0"/>
          </a:p>
        </p:txBody>
      </p:sp>
      <p:sp>
        <p:nvSpPr>
          <p:cNvPr id="22" name="Shape 19"/>
          <p:cNvSpPr/>
          <p:nvPr/>
        </p:nvSpPr>
        <p:spPr>
          <a:xfrm>
            <a:off x="594360" y="6473952"/>
            <a:ext cx="10972800" cy="0"/>
          </a:xfrm>
          <a:prstGeom prst="line">
            <a:avLst/>
          </a:prstGeom>
          <a:noFill/>
          <a:ln w="12700">
            <a:solidFill>
              <a:srgbClr val="D5E0DE"/>
            </a:solidFill>
            <a:prstDash val="solid"/>
          </a:ln>
        </p:spPr>
      </p:sp>
      <p:sp>
        <p:nvSpPr>
          <p:cNvPr id="23" name="Text 20"/>
          <p:cNvSpPr/>
          <p:nvPr/>
        </p:nvSpPr>
        <p:spPr>
          <a:xfrm>
            <a:off x="594360" y="6556248"/>
            <a:ext cx="7498080" cy="146304"/>
          </a:xfrm>
          <a:prstGeom prst="rect">
            <a:avLst/>
          </a:prstGeom>
          <a:noFill/>
          <a:ln/>
        </p:spPr>
        <p:txBody>
          <a:bodyPr wrap="square" lIns="0" tIns="0" rIns="0" bIns="0" rtlCol="0" anchor="ctr"/>
          <a:lstStyle/>
          <a:p>
            <a:pPr marL="0" indent="0">
              <a:buNone/>
            </a:pPr>
            <a:r>
              <a:rPr lang="en-US" sz="730" dirty="0">
                <a:solidFill>
                  <a:srgbClr val="60737A"/>
                </a:solidFill>
              </a:rPr>
              <a:t>1.F Diskusi • Guru Pembelajar Sepanjang Hayat dalam Ekosistem Sekolah</a:t>
            </a:r>
            <a:endParaRPr lang="en-US" sz="73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0"/>
            <a:ext cx="12191695" cy="118872"/>
          </a:xfrm>
          <a:prstGeom prst="rect">
            <a:avLst/>
          </a:prstGeom>
          <a:solidFill>
            <a:srgbClr val="0B6B78"/>
          </a:solidFill>
          <a:ln w="12700">
            <a:solidFill>
              <a:srgbClr val="0B6B78">
                <a:alpha val="0"/>
              </a:srgbClr>
            </a:solidFill>
            <a:prstDash val="solid"/>
          </a:ln>
        </p:spPr>
      </p:sp>
      <p:sp>
        <p:nvSpPr>
          <p:cNvPr id="4" name="Text 2"/>
          <p:cNvSpPr/>
          <p:nvPr/>
        </p:nvSpPr>
        <p:spPr>
          <a:xfrm>
            <a:off x="621792" y="310896"/>
            <a:ext cx="8046720" cy="237744"/>
          </a:xfrm>
          <a:prstGeom prst="rect">
            <a:avLst/>
          </a:prstGeom>
          <a:noFill/>
          <a:ln/>
        </p:spPr>
        <p:txBody>
          <a:bodyPr wrap="square" lIns="0" tIns="0" rIns="0" bIns="0" rtlCol="0" anchor="ctr"/>
          <a:lstStyle/>
          <a:p>
            <a:pPr marL="0" indent="0">
              <a:buNone/>
            </a:pPr>
            <a:r>
              <a:rPr lang="en-US" sz="950" b="1" dirty="0">
                <a:solidFill>
                  <a:srgbClr val="0B6B78"/>
                </a:solidFill>
              </a:rPr>
              <a:t>EKOSISTEM SEKOLAH</a:t>
            </a:r>
            <a:endParaRPr lang="en-US" sz="950" dirty="0"/>
          </a:p>
        </p:txBody>
      </p:sp>
      <p:sp>
        <p:nvSpPr>
          <p:cNvPr id="5" name="Text 3"/>
          <p:cNvSpPr/>
          <p:nvPr/>
        </p:nvSpPr>
        <p:spPr>
          <a:xfrm>
            <a:off x="594360" y="612648"/>
            <a:ext cx="10972800" cy="475488"/>
          </a:xfrm>
          <a:prstGeom prst="rect">
            <a:avLst/>
          </a:prstGeom>
          <a:noFill/>
          <a:ln/>
        </p:spPr>
        <p:txBody>
          <a:bodyPr wrap="square" lIns="0" tIns="0" rIns="0" bIns="0" rtlCol="0" anchor="ctr">
            <a:normAutofit/>
          </a:bodyPr>
          <a:lstStyle/>
          <a:p>
            <a:pPr marL="0" indent="0">
              <a:buNone/>
            </a:pPr>
            <a:r>
              <a:rPr lang="en-US" sz="2850" b="1" dirty="0">
                <a:solidFill>
                  <a:srgbClr val="0B2545"/>
                </a:solidFill>
                <a:latin typeface="Aptos Display" pitchFamily="34" charset="0"/>
                <a:ea typeface="Aptos Display" pitchFamily="34" charset="-122"/>
                <a:cs typeface="Aptos Display" pitchFamily="34" charset="-120"/>
              </a:rPr>
              <a:t>Guru tidak boleh belajar sendirian</a:t>
            </a:r>
            <a:endParaRPr lang="en-US" sz="2850" dirty="0"/>
          </a:p>
        </p:txBody>
      </p:sp>
      <p:sp>
        <p:nvSpPr>
          <p:cNvPr id="6" name="Text 4"/>
          <p:cNvSpPr/>
          <p:nvPr/>
        </p:nvSpPr>
        <p:spPr>
          <a:xfrm>
            <a:off x="612648" y="1143000"/>
            <a:ext cx="10607040" cy="292608"/>
          </a:xfrm>
          <a:prstGeom prst="rect">
            <a:avLst/>
          </a:prstGeom>
          <a:noFill/>
          <a:ln/>
        </p:spPr>
        <p:txBody>
          <a:bodyPr wrap="square" lIns="0" tIns="0" rIns="0" bIns="0" rtlCol="0" anchor="ctr">
            <a:normAutofit/>
          </a:bodyPr>
          <a:lstStyle/>
          <a:p>
            <a:pPr marL="0" indent="0">
              <a:buNone/>
            </a:pPr>
            <a:r>
              <a:rPr lang="en-US" sz="1350" dirty="0">
                <a:solidFill>
                  <a:srgbClr val="263238"/>
                </a:solidFill>
              </a:rPr>
              <a:t>Komunitas belajar membuat CPD terasa ringan, relevan, dan punya tindak lanjut.</a:t>
            </a:r>
            <a:endParaRPr lang="en-US" sz="1350" dirty="0"/>
          </a:p>
        </p:txBody>
      </p:sp>
      <p:pic>
        <p:nvPicPr>
          <p:cNvPr id="7" name="Image 0" descr="/mnt/data/crop_community.png"/>
          <p:cNvPicPr>
            <a:picLocks noChangeAspect="1"/>
          </p:cNvPicPr>
          <p:nvPr/>
        </p:nvPicPr>
        <p:blipFill>
          <a:blip r:embed="rId3"/>
          <a:stretch>
            <a:fillRect/>
          </a:stretch>
        </p:blipFill>
        <p:spPr>
          <a:xfrm>
            <a:off x="594360" y="1600200"/>
            <a:ext cx="4800600" cy="3099816"/>
          </a:xfrm>
          <a:prstGeom prst="rect">
            <a:avLst/>
          </a:prstGeom>
        </p:spPr>
      </p:pic>
      <p:sp>
        <p:nvSpPr>
          <p:cNvPr id="8" name="Text 5"/>
          <p:cNvSpPr/>
          <p:nvPr/>
        </p:nvSpPr>
        <p:spPr>
          <a:xfrm>
            <a:off x="5852160" y="1572768"/>
            <a:ext cx="2331720" cy="347472"/>
          </a:xfrm>
          <a:prstGeom prst="rect">
            <a:avLst/>
          </a:prstGeom>
          <a:solidFill>
            <a:srgbClr val="DDF4EF"/>
          </a:solidFill>
          <a:ln>
            <a:solidFill>
              <a:srgbClr val="DDF4EF">
                <a:alpha val="0"/>
              </a:srgbClr>
            </a:solidFill>
          </a:ln>
        </p:spPr>
        <p:txBody>
          <a:bodyPr wrap="square" lIns="1270" tIns="1270" rIns="1270" bIns="1270" rtlCol="0" anchor="ctr">
            <a:normAutofit/>
          </a:bodyPr>
          <a:lstStyle/>
          <a:p>
            <a:pPr marL="0" indent="0" algn="ctr">
              <a:buNone/>
            </a:pPr>
            <a:r>
              <a:rPr lang="en-US" sz="1250" b="1" dirty="0">
                <a:solidFill>
                  <a:srgbClr val="0B2545"/>
                </a:solidFill>
                <a:latin typeface="Aptos" pitchFamily="34" charset="0"/>
                <a:ea typeface="Aptos" pitchFamily="34" charset="-122"/>
                <a:cs typeface="Aptos" pitchFamily="34" charset="-120"/>
              </a:rPr>
              <a:t>Mentor guru baru</a:t>
            </a:r>
            <a:endParaRPr lang="en-US" sz="1250" dirty="0"/>
          </a:p>
        </p:txBody>
      </p:sp>
      <p:sp>
        <p:nvSpPr>
          <p:cNvPr id="9" name="Text 6"/>
          <p:cNvSpPr/>
          <p:nvPr/>
        </p:nvSpPr>
        <p:spPr>
          <a:xfrm>
            <a:off x="8412480" y="1600200"/>
            <a:ext cx="2971800" cy="292608"/>
          </a:xfrm>
          <a:prstGeom prst="rect">
            <a:avLst/>
          </a:prstGeom>
          <a:noFill/>
          <a:ln/>
        </p:spPr>
        <p:txBody>
          <a:bodyPr wrap="square" lIns="0" tIns="0" rIns="0" bIns="0" rtlCol="0" anchor="ctr">
            <a:normAutofit fontScale="92500" lnSpcReduction="20000"/>
          </a:bodyPr>
          <a:lstStyle/>
          <a:p>
            <a:pPr marL="0" indent="0">
              <a:buNone/>
            </a:pPr>
            <a:r>
              <a:rPr lang="en-US" sz="1240" dirty="0">
                <a:solidFill>
                  <a:srgbClr val="263238"/>
                </a:solidFill>
              </a:rPr>
              <a:t>1 guru senior mendampingi target kecil, bukan menghakimi.</a:t>
            </a:r>
            <a:endParaRPr lang="en-US" sz="1240" dirty="0"/>
          </a:p>
        </p:txBody>
      </p:sp>
      <p:sp>
        <p:nvSpPr>
          <p:cNvPr id="10" name="Text 7"/>
          <p:cNvSpPr/>
          <p:nvPr/>
        </p:nvSpPr>
        <p:spPr>
          <a:xfrm>
            <a:off x="5852160" y="2286000"/>
            <a:ext cx="2331720" cy="347472"/>
          </a:xfrm>
          <a:prstGeom prst="rect">
            <a:avLst/>
          </a:prstGeom>
          <a:solidFill>
            <a:srgbClr val="DCEEF7"/>
          </a:solidFill>
          <a:ln>
            <a:solidFill>
              <a:srgbClr val="DCEEF7">
                <a:alpha val="0"/>
              </a:srgbClr>
            </a:solidFill>
          </a:ln>
        </p:spPr>
        <p:txBody>
          <a:bodyPr wrap="square" lIns="1270" tIns="1270" rIns="1270" bIns="1270" rtlCol="0" anchor="ctr">
            <a:normAutofit/>
          </a:bodyPr>
          <a:lstStyle/>
          <a:p>
            <a:pPr marL="0" indent="0" algn="ctr">
              <a:buNone/>
            </a:pPr>
            <a:r>
              <a:rPr lang="en-US" sz="1250" b="1" dirty="0">
                <a:solidFill>
                  <a:srgbClr val="0B2545"/>
                </a:solidFill>
                <a:latin typeface="Aptos" pitchFamily="34" charset="0"/>
                <a:ea typeface="Aptos" pitchFamily="34" charset="-122"/>
                <a:cs typeface="Aptos" pitchFamily="34" charset="-120"/>
              </a:rPr>
              <a:t>Triad observasi</a:t>
            </a:r>
            <a:endParaRPr lang="en-US" sz="1250" dirty="0"/>
          </a:p>
        </p:txBody>
      </p:sp>
      <p:sp>
        <p:nvSpPr>
          <p:cNvPr id="11" name="Text 8"/>
          <p:cNvSpPr/>
          <p:nvPr/>
        </p:nvSpPr>
        <p:spPr>
          <a:xfrm>
            <a:off x="8412480" y="2313432"/>
            <a:ext cx="2971800" cy="292608"/>
          </a:xfrm>
          <a:prstGeom prst="rect">
            <a:avLst/>
          </a:prstGeom>
          <a:noFill/>
          <a:ln/>
        </p:spPr>
        <p:txBody>
          <a:bodyPr wrap="square" lIns="0" tIns="0" rIns="0" bIns="0" rtlCol="0" anchor="ctr">
            <a:normAutofit fontScale="92500" lnSpcReduction="20000"/>
          </a:bodyPr>
          <a:lstStyle/>
          <a:p>
            <a:pPr marL="0" indent="0">
              <a:buNone/>
            </a:pPr>
            <a:r>
              <a:rPr lang="en-US" sz="1240" dirty="0">
                <a:solidFill>
                  <a:srgbClr val="263238"/>
                </a:solidFill>
              </a:rPr>
              <a:t>Guru baru + mentor + teman sejawat mengamati satu fokus.</a:t>
            </a:r>
            <a:endParaRPr lang="en-US" sz="1240" dirty="0"/>
          </a:p>
        </p:txBody>
      </p:sp>
      <p:sp>
        <p:nvSpPr>
          <p:cNvPr id="12" name="Text 9"/>
          <p:cNvSpPr/>
          <p:nvPr/>
        </p:nvSpPr>
        <p:spPr>
          <a:xfrm>
            <a:off x="5852160" y="2999232"/>
            <a:ext cx="2331720" cy="347472"/>
          </a:xfrm>
          <a:prstGeom prst="rect">
            <a:avLst/>
          </a:prstGeom>
          <a:solidFill>
            <a:srgbClr val="FFEFC7"/>
          </a:solidFill>
          <a:ln>
            <a:solidFill>
              <a:srgbClr val="FFEFC7">
                <a:alpha val="0"/>
              </a:srgbClr>
            </a:solidFill>
          </a:ln>
        </p:spPr>
        <p:txBody>
          <a:bodyPr wrap="square" lIns="1270" tIns="1270" rIns="1270" bIns="1270" rtlCol="0" anchor="ctr">
            <a:normAutofit/>
          </a:bodyPr>
          <a:lstStyle/>
          <a:p>
            <a:pPr marL="0" indent="0" algn="ctr">
              <a:buNone/>
            </a:pPr>
            <a:r>
              <a:rPr lang="en-US" sz="1250" b="1" dirty="0">
                <a:solidFill>
                  <a:srgbClr val="0B2545"/>
                </a:solidFill>
                <a:latin typeface="Aptos" pitchFamily="34" charset="0"/>
                <a:ea typeface="Aptos" pitchFamily="34" charset="-122"/>
                <a:cs typeface="Aptos" pitchFamily="34" charset="-120"/>
              </a:rPr>
              <a:t>Diskusi 30 menit/minggu</a:t>
            </a:r>
            <a:endParaRPr lang="en-US" sz="1250" dirty="0"/>
          </a:p>
        </p:txBody>
      </p:sp>
      <p:sp>
        <p:nvSpPr>
          <p:cNvPr id="13" name="Text 10"/>
          <p:cNvSpPr/>
          <p:nvPr/>
        </p:nvSpPr>
        <p:spPr>
          <a:xfrm>
            <a:off x="8412480" y="3026664"/>
            <a:ext cx="2971800" cy="292608"/>
          </a:xfrm>
          <a:prstGeom prst="rect">
            <a:avLst/>
          </a:prstGeom>
          <a:noFill/>
          <a:ln/>
        </p:spPr>
        <p:txBody>
          <a:bodyPr wrap="square" lIns="0" tIns="0" rIns="0" bIns="0" rtlCol="0" anchor="ctr">
            <a:normAutofit fontScale="92500" lnSpcReduction="20000"/>
          </a:bodyPr>
          <a:lstStyle/>
          <a:p>
            <a:pPr marL="0" indent="0">
              <a:buNone/>
            </a:pPr>
            <a:r>
              <a:rPr lang="en-US" sz="1240" dirty="0">
                <a:solidFill>
                  <a:srgbClr val="263238"/>
                </a:solidFill>
              </a:rPr>
              <a:t>Membahas data formatif dan rencana tindak lanjut.</a:t>
            </a:r>
            <a:endParaRPr lang="en-US" sz="1240" dirty="0"/>
          </a:p>
        </p:txBody>
      </p:sp>
      <p:sp>
        <p:nvSpPr>
          <p:cNvPr id="14" name="Text 11"/>
          <p:cNvSpPr/>
          <p:nvPr/>
        </p:nvSpPr>
        <p:spPr>
          <a:xfrm>
            <a:off x="5852160" y="3712464"/>
            <a:ext cx="2331720" cy="347472"/>
          </a:xfrm>
          <a:prstGeom prst="rect">
            <a:avLst/>
          </a:prstGeom>
          <a:solidFill>
            <a:srgbClr val="ECE4FF"/>
          </a:solidFill>
          <a:ln>
            <a:solidFill>
              <a:srgbClr val="ECE4FF">
                <a:alpha val="0"/>
              </a:srgbClr>
            </a:solidFill>
          </a:ln>
        </p:spPr>
        <p:txBody>
          <a:bodyPr wrap="square" lIns="1270" tIns="1270" rIns="1270" bIns="1270" rtlCol="0" anchor="ctr">
            <a:normAutofit/>
          </a:bodyPr>
          <a:lstStyle/>
          <a:p>
            <a:pPr marL="0" indent="0" algn="ctr">
              <a:buNone/>
            </a:pPr>
            <a:r>
              <a:rPr lang="en-US" sz="1250" b="1" dirty="0">
                <a:solidFill>
                  <a:srgbClr val="0B2545"/>
                </a:solidFill>
                <a:latin typeface="Aptos" pitchFamily="34" charset="0"/>
                <a:ea typeface="Aptos" pitchFamily="34" charset="-122"/>
                <a:cs typeface="Aptos" pitchFamily="34" charset="-120"/>
              </a:rPr>
              <a:t>Bank praktik baik</a:t>
            </a:r>
            <a:endParaRPr lang="en-US" sz="1250" dirty="0"/>
          </a:p>
        </p:txBody>
      </p:sp>
      <p:sp>
        <p:nvSpPr>
          <p:cNvPr id="15" name="Text 12"/>
          <p:cNvSpPr/>
          <p:nvPr/>
        </p:nvSpPr>
        <p:spPr>
          <a:xfrm>
            <a:off x="8412480" y="3739896"/>
            <a:ext cx="2971800" cy="292608"/>
          </a:xfrm>
          <a:prstGeom prst="rect">
            <a:avLst/>
          </a:prstGeom>
          <a:noFill/>
          <a:ln/>
        </p:spPr>
        <p:txBody>
          <a:bodyPr wrap="square" lIns="0" tIns="0" rIns="0" bIns="0" rtlCol="0" anchor="ctr">
            <a:normAutofit fontScale="92500" lnSpcReduction="20000"/>
          </a:bodyPr>
          <a:lstStyle/>
          <a:p>
            <a:pPr marL="0" indent="0">
              <a:buNone/>
            </a:pPr>
            <a:r>
              <a:rPr lang="en-US" sz="1240" dirty="0">
                <a:solidFill>
                  <a:srgbClr val="263238"/>
                </a:solidFill>
              </a:rPr>
              <a:t>Berbagi LKPD, exit ticket, rubrik, dan strategi remedial.</a:t>
            </a:r>
            <a:endParaRPr lang="en-US" sz="1240" dirty="0"/>
          </a:p>
        </p:txBody>
      </p:sp>
      <p:sp>
        <p:nvSpPr>
          <p:cNvPr id="16" name="Text 13"/>
          <p:cNvSpPr/>
          <p:nvPr/>
        </p:nvSpPr>
        <p:spPr>
          <a:xfrm>
            <a:off x="5852160" y="4425696"/>
            <a:ext cx="2331720" cy="347472"/>
          </a:xfrm>
          <a:prstGeom prst="rect">
            <a:avLst/>
          </a:prstGeom>
          <a:solidFill>
            <a:srgbClr val="DFF0D8"/>
          </a:solidFill>
          <a:ln>
            <a:solidFill>
              <a:srgbClr val="DFF0D8">
                <a:alpha val="0"/>
              </a:srgbClr>
            </a:solidFill>
          </a:ln>
        </p:spPr>
        <p:txBody>
          <a:bodyPr wrap="square" lIns="1270" tIns="1270" rIns="1270" bIns="1270" rtlCol="0" anchor="ctr">
            <a:normAutofit/>
          </a:bodyPr>
          <a:lstStyle/>
          <a:p>
            <a:pPr marL="0" indent="0" algn="ctr">
              <a:buNone/>
            </a:pPr>
            <a:r>
              <a:rPr lang="en-US" sz="1250" b="1" dirty="0">
                <a:solidFill>
                  <a:srgbClr val="0B2545"/>
                </a:solidFill>
                <a:latin typeface="Aptos" pitchFamily="34" charset="0"/>
                <a:ea typeface="Aptos" pitchFamily="34" charset="-122"/>
                <a:cs typeface="Aptos" pitchFamily="34" charset="-120"/>
              </a:rPr>
              <a:t>Kepala sekolah</a:t>
            </a:r>
            <a:endParaRPr lang="en-US" sz="1250" dirty="0"/>
          </a:p>
        </p:txBody>
      </p:sp>
      <p:sp>
        <p:nvSpPr>
          <p:cNvPr id="17" name="Text 14"/>
          <p:cNvSpPr/>
          <p:nvPr/>
        </p:nvSpPr>
        <p:spPr>
          <a:xfrm>
            <a:off x="8412480" y="4453128"/>
            <a:ext cx="2971800" cy="292608"/>
          </a:xfrm>
          <a:prstGeom prst="rect">
            <a:avLst/>
          </a:prstGeom>
          <a:noFill/>
          <a:ln/>
        </p:spPr>
        <p:txBody>
          <a:bodyPr wrap="square" lIns="0" tIns="0" rIns="0" bIns="0" rtlCol="0" anchor="ctr">
            <a:normAutofit fontScale="92500" lnSpcReduction="20000"/>
          </a:bodyPr>
          <a:lstStyle/>
          <a:p>
            <a:pPr marL="0" indent="0">
              <a:buNone/>
            </a:pPr>
            <a:r>
              <a:rPr lang="en-US" sz="1240" dirty="0">
                <a:solidFill>
                  <a:srgbClr val="263238"/>
                </a:solidFill>
              </a:rPr>
              <a:t>Melindungi waktu belajar guru dan mengubah budaya CPD.</a:t>
            </a:r>
            <a:endParaRPr lang="en-US" sz="1240" dirty="0"/>
          </a:p>
        </p:txBody>
      </p:sp>
      <p:sp>
        <p:nvSpPr>
          <p:cNvPr id="18" name="Text 15"/>
          <p:cNvSpPr/>
          <p:nvPr/>
        </p:nvSpPr>
        <p:spPr>
          <a:xfrm>
            <a:off x="914400" y="5349240"/>
            <a:ext cx="10287000" cy="457200"/>
          </a:xfrm>
          <a:prstGeom prst="rect">
            <a:avLst/>
          </a:prstGeom>
          <a:solidFill>
            <a:srgbClr val="0B2545"/>
          </a:solidFill>
          <a:ln>
            <a:solidFill>
              <a:srgbClr val="0B2545">
                <a:alpha val="0"/>
              </a:srgbClr>
            </a:solidFill>
          </a:ln>
        </p:spPr>
        <p:txBody>
          <a:bodyPr wrap="square" lIns="1270" tIns="1270" rIns="1270" bIns="127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Budaya yang dibangun: observasi bukan inspeksi, umpan balik bukan kritik pribadi, data bukan alat menyalahkan.</a:t>
            </a:r>
            <a:endParaRPr lang="en-US" sz="1320" dirty="0"/>
          </a:p>
        </p:txBody>
      </p:sp>
      <p:sp>
        <p:nvSpPr>
          <p:cNvPr id="19" name="Shape 16"/>
          <p:cNvSpPr/>
          <p:nvPr/>
        </p:nvSpPr>
        <p:spPr>
          <a:xfrm>
            <a:off x="594360" y="6473952"/>
            <a:ext cx="10972800" cy="0"/>
          </a:xfrm>
          <a:prstGeom prst="line">
            <a:avLst/>
          </a:prstGeom>
          <a:noFill/>
          <a:ln w="12700">
            <a:solidFill>
              <a:srgbClr val="D5E0DE"/>
            </a:solidFill>
            <a:prstDash val="solid"/>
          </a:ln>
        </p:spPr>
      </p:sp>
      <p:sp>
        <p:nvSpPr>
          <p:cNvPr id="20" name="Text 17"/>
          <p:cNvSpPr/>
          <p:nvPr/>
        </p:nvSpPr>
        <p:spPr>
          <a:xfrm>
            <a:off x="594360" y="6556248"/>
            <a:ext cx="7498080" cy="146304"/>
          </a:xfrm>
          <a:prstGeom prst="rect">
            <a:avLst/>
          </a:prstGeom>
          <a:noFill/>
          <a:ln/>
        </p:spPr>
        <p:txBody>
          <a:bodyPr wrap="square" lIns="0" tIns="0" rIns="0" bIns="0" rtlCol="0" anchor="ctr"/>
          <a:lstStyle/>
          <a:p>
            <a:pPr marL="0" indent="0">
              <a:buNone/>
            </a:pPr>
            <a:r>
              <a:rPr lang="en-US" sz="730" dirty="0">
                <a:solidFill>
                  <a:srgbClr val="60737A"/>
                </a:solidFill>
              </a:rPr>
              <a:t>1.F Diskusi • Guru Pembelajar Sepanjang Hayat dalam Ekosistem Sekolah</a:t>
            </a:r>
            <a:endParaRPr lang="en-US" sz="73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8EA"/>
          </a:solidFill>
          <a:ln w="12700">
            <a:solidFill>
              <a:srgbClr val="FFF8EA">
                <a:alpha val="0"/>
              </a:srgbClr>
            </a:solidFill>
            <a:prstDash val="solid"/>
          </a:ln>
        </p:spPr>
      </p:sp>
      <p:sp>
        <p:nvSpPr>
          <p:cNvPr id="3" name="Shape 1"/>
          <p:cNvSpPr/>
          <p:nvPr/>
        </p:nvSpPr>
        <p:spPr>
          <a:xfrm>
            <a:off x="0" y="0"/>
            <a:ext cx="12191695" cy="118872"/>
          </a:xfrm>
          <a:prstGeom prst="rect">
            <a:avLst/>
          </a:prstGeom>
          <a:solidFill>
            <a:srgbClr val="0B6B78"/>
          </a:solidFill>
          <a:ln w="12700">
            <a:solidFill>
              <a:srgbClr val="0B6B78">
                <a:alpha val="0"/>
              </a:srgbClr>
            </a:solidFill>
            <a:prstDash val="solid"/>
          </a:ln>
        </p:spPr>
      </p:sp>
      <p:sp>
        <p:nvSpPr>
          <p:cNvPr id="4" name="Text 2"/>
          <p:cNvSpPr/>
          <p:nvPr/>
        </p:nvSpPr>
        <p:spPr>
          <a:xfrm>
            <a:off x="621792" y="310896"/>
            <a:ext cx="8046720" cy="237744"/>
          </a:xfrm>
          <a:prstGeom prst="rect">
            <a:avLst/>
          </a:prstGeom>
          <a:noFill/>
          <a:ln/>
        </p:spPr>
        <p:txBody>
          <a:bodyPr wrap="square" lIns="0" tIns="0" rIns="0" bIns="0" rtlCol="0" anchor="ctr"/>
          <a:lstStyle/>
          <a:p>
            <a:pPr marL="0" indent="0">
              <a:buNone/>
            </a:pPr>
            <a:r>
              <a:rPr lang="en-US" sz="950" b="1" dirty="0">
                <a:solidFill>
                  <a:srgbClr val="0B6B78"/>
                </a:solidFill>
              </a:rPr>
              <a:t>TINDAK LANJUT</a:t>
            </a:r>
            <a:endParaRPr lang="en-US" sz="950" dirty="0"/>
          </a:p>
        </p:txBody>
      </p:sp>
      <p:sp>
        <p:nvSpPr>
          <p:cNvPr id="5" name="Text 3"/>
          <p:cNvSpPr/>
          <p:nvPr/>
        </p:nvSpPr>
        <p:spPr>
          <a:xfrm>
            <a:off x="594360" y="612648"/>
            <a:ext cx="10972800" cy="475488"/>
          </a:xfrm>
          <a:prstGeom prst="rect">
            <a:avLst/>
          </a:prstGeom>
          <a:noFill/>
          <a:ln/>
        </p:spPr>
        <p:txBody>
          <a:bodyPr wrap="square" lIns="0" tIns="0" rIns="0" bIns="0" rtlCol="0" anchor="ctr">
            <a:normAutofit/>
          </a:bodyPr>
          <a:lstStyle/>
          <a:p>
            <a:pPr marL="0" indent="0">
              <a:buNone/>
            </a:pPr>
            <a:r>
              <a:rPr lang="en-US" sz="2850" b="1" dirty="0">
                <a:solidFill>
                  <a:srgbClr val="0B2545"/>
                </a:solidFill>
                <a:latin typeface="Aptos Display" pitchFamily="34" charset="0"/>
                <a:ea typeface="Aptos Display" pitchFamily="34" charset="-122"/>
                <a:cs typeface="Aptos Display" pitchFamily="34" charset="-120"/>
              </a:rPr>
              <a:t>Indikator keberhasilan CPD</a:t>
            </a:r>
            <a:endParaRPr lang="en-US" sz="2850" dirty="0"/>
          </a:p>
        </p:txBody>
      </p:sp>
      <p:sp>
        <p:nvSpPr>
          <p:cNvPr id="6" name="Text 4"/>
          <p:cNvSpPr/>
          <p:nvPr/>
        </p:nvSpPr>
        <p:spPr>
          <a:xfrm>
            <a:off x="612648" y="1143000"/>
            <a:ext cx="10607040" cy="292608"/>
          </a:xfrm>
          <a:prstGeom prst="rect">
            <a:avLst/>
          </a:prstGeom>
          <a:noFill/>
          <a:ln/>
        </p:spPr>
        <p:txBody>
          <a:bodyPr wrap="square" lIns="0" tIns="0" rIns="0" bIns="0" rtlCol="0" anchor="ctr">
            <a:normAutofit/>
          </a:bodyPr>
          <a:lstStyle/>
          <a:p>
            <a:pPr marL="0" indent="0">
              <a:buNone/>
            </a:pPr>
            <a:r>
              <a:rPr lang="en-US" sz="1350" dirty="0">
                <a:solidFill>
                  <a:srgbClr val="263238"/>
                </a:solidFill>
              </a:rPr>
              <a:t>CPD berhasil jika ada perubahan praktik guru dan bukti belajar siswa, bukan hanya sertifikat.</a:t>
            </a:r>
            <a:endParaRPr lang="en-US" sz="1350" dirty="0"/>
          </a:p>
        </p:txBody>
      </p:sp>
      <p:sp>
        <p:nvSpPr>
          <p:cNvPr id="7" name="Text 5"/>
          <p:cNvSpPr/>
          <p:nvPr/>
        </p:nvSpPr>
        <p:spPr>
          <a:xfrm>
            <a:off x="685800" y="1664208"/>
            <a:ext cx="1920240" cy="347472"/>
          </a:xfrm>
          <a:prstGeom prst="rect">
            <a:avLst/>
          </a:prstGeom>
          <a:solidFill>
            <a:srgbClr val="DDF4EF"/>
          </a:solidFill>
          <a:ln>
            <a:solidFill>
              <a:srgbClr val="DDF4EF">
                <a:alpha val="0"/>
              </a:srgbClr>
            </a:solidFill>
          </a:ln>
        </p:spPr>
        <p:txBody>
          <a:bodyPr wrap="square" lIns="1270" tIns="1270" rIns="1270" bIns="1270" rtlCol="0" anchor="ctr">
            <a:normAutofit/>
          </a:bodyPr>
          <a:lstStyle/>
          <a:p>
            <a:pPr marL="0" indent="0" algn="ctr">
              <a:buNone/>
            </a:pPr>
            <a:r>
              <a:rPr lang="en-US" sz="1350" b="1" dirty="0">
                <a:solidFill>
                  <a:srgbClr val="0B2545"/>
                </a:solidFill>
                <a:latin typeface="Aptos" pitchFamily="34" charset="0"/>
                <a:ea typeface="Aptos" pitchFamily="34" charset="-122"/>
                <a:cs typeface="Aptos" pitchFamily="34" charset="-120"/>
              </a:rPr>
              <a:t>Bukti guru</a:t>
            </a:r>
            <a:endParaRPr lang="en-US" sz="1350" dirty="0"/>
          </a:p>
        </p:txBody>
      </p:sp>
      <p:sp>
        <p:nvSpPr>
          <p:cNvPr id="8" name="Text 6"/>
          <p:cNvSpPr/>
          <p:nvPr/>
        </p:nvSpPr>
        <p:spPr>
          <a:xfrm>
            <a:off x="2816352" y="1691640"/>
            <a:ext cx="3794760" cy="438912"/>
          </a:xfrm>
          <a:prstGeom prst="rect">
            <a:avLst/>
          </a:prstGeom>
          <a:noFill/>
          <a:ln/>
        </p:spPr>
        <p:txBody>
          <a:bodyPr wrap="square" lIns="0" tIns="0" rIns="0" bIns="0" rtlCol="0" anchor="ctr">
            <a:normAutofit/>
          </a:bodyPr>
          <a:lstStyle/>
          <a:p>
            <a:pPr marL="0" indent="0">
              <a:buNone/>
            </a:pPr>
            <a:r>
              <a:rPr lang="en-US" sz="1320" dirty="0">
                <a:solidFill>
                  <a:srgbClr val="263238"/>
                </a:solidFill>
              </a:rPr>
              <a:t>jurnal refleksi 1 halaman/minggu, modul ajar revisi, catatan observasi, dan rekaman strategi baru.</a:t>
            </a:r>
            <a:endParaRPr lang="en-US" sz="1320" dirty="0"/>
          </a:p>
        </p:txBody>
      </p:sp>
      <p:sp>
        <p:nvSpPr>
          <p:cNvPr id="9" name="Text 7"/>
          <p:cNvSpPr/>
          <p:nvPr/>
        </p:nvSpPr>
        <p:spPr>
          <a:xfrm>
            <a:off x="685800" y="2578608"/>
            <a:ext cx="1920240" cy="347472"/>
          </a:xfrm>
          <a:prstGeom prst="rect">
            <a:avLst/>
          </a:prstGeom>
          <a:solidFill>
            <a:srgbClr val="DCEEF7"/>
          </a:solidFill>
          <a:ln>
            <a:solidFill>
              <a:srgbClr val="DCEEF7">
                <a:alpha val="0"/>
              </a:srgbClr>
            </a:solidFill>
          </a:ln>
        </p:spPr>
        <p:txBody>
          <a:bodyPr wrap="square" lIns="1270" tIns="1270" rIns="1270" bIns="1270" rtlCol="0" anchor="ctr">
            <a:normAutofit/>
          </a:bodyPr>
          <a:lstStyle/>
          <a:p>
            <a:pPr marL="0" indent="0" algn="ctr">
              <a:buNone/>
            </a:pPr>
            <a:r>
              <a:rPr lang="en-US" sz="1350" b="1" dirty="0">
                <a:solidFill>
                  <a:srgbClr val="0B2545"/>
                </a:solidFill>
                <a:latin typeface="Aptos" pitchFamily="34" charset="0"/>
                <a:ea typeface="Aptos" pitchFamily="34" charset="-122"/>
                <a:cs typeface="Aptos" pitchFamily="34" charset="-120"/>
              </a:rPr>
              <a:t>Bukti siswa</a:t>
            </a:r>
            <a:endParaRPr lang="en-US" sz="1350" dirty="0"/>
          </a:p>
        </p:txBody>
      </p:sp>
      <p:sp>
        <p:nvSpPr>
          <p:cNvPr id="10" name="Text 8"/>
          <p:cNvSpPr/>
          <p:nvPr/>
        </p:nvSpPr>
        <p:spPr>
          <a:xfrm>
            <a:off x="2816352" y="2606040"/>
            <a:ext cx="3794760" cy="438912"/>
          </a:xfrm>
          <a:prstGeom prst="rect">
            <a:avLst/>
          </a:prstGeom>
          <a:noFill/>
          <a:ln/>
        </p:spPr>
        <p:txBody>
          <a:bodyPr wrap="square" lIns="0" tIns="0" rIns="0" bIns="0" rtlCol="0" anchor="ctr">
            <a:normAutofit fontScale="92500"/>
          </a:bodyPr>
          <a:lstStyle/>
          <a:p>
            <a:pPr marL="0" indent="0">
              <a:buNone/>
            </a:pPr>
            <a:r>
              <a:rPr lang="en-US" sz="1320" dirty="0">
                <a:solidFill>
                  <a:srgbClr val="263238"/>
                </a:solidFill>
              </a:rPr>
              <a:t>exit ticket, hasil formatif sebelum-sesudah, karya siswa, dan daftar siswa yang mendapat tindak lanjut.</a:t>
            </a:r>
            <a:endParaRPr lang="en-US" sz="1320" dirty="0"/>
          </a:p>
        </p:txBody>
      </p:sp>
      <p:sp>
        <p:nvSpPr>
          <p:cNvPr id="11" name="Text 9"/>
          <p:cNvSpPr/>
          <p:nvPr/>
        </p:nvSpPr>
        <p:spPr>
          <a:xfrm>
            <a:off x="685800" y="3493008"/>
            <a:ext cx="1920240" cy="347472"/>
          </a:xfrm>
          <a:prstGeom prst="rect">
            <a:avLst/>
          </a:prstGeom>
          <a:solidFill>
            <a:srgbClr val="FFEFC7"/>
          </a:solidFill>
          <a:ln>
            <a:solidFill>
              <a:srgbClr val="FFEFC7">
                <a:alpha val="0"/>
              </a:srgbClr>
            </a:solidFill>
          </a:ln>
        </p:spPr>
        <p:txBody>
          <a:bodyPr wrap="square" lIns="1270" tIns="1270" rIns="1270" bIns="1270" rtlCol="0" anchor="ctr">
            <a:normAutofit/>
          </a:bodyPr>
          <a:lstStyle/>
          <a:p>
            <a:pPr marL="0" indent="0" algn="ctr">
              <a:buNone/>
            </a:pPr>
            <a:r>
              <a:rPr lang="en-US" sz="1350" b="1" dirty="0">
                <a:solidFill>
                  <a:srgbClr val="0B2545"/>
                </a:solidFill>
                <a:latin typeface="Aptos" pitchFamily="34" charset="0"/>
                <a:ea typeface="Aptos" pitchFamily="34" charset="-122"/>
                <a:cs typeface="Aptos" pitchFamily="34" charset="-120"/>
              </a:rPr>
              <a:t>Bukti komunitas</a:t>
            </a:r>
            <a:endParaRPr lang="en-US" sz="1350" dirty="0"/>
          </a:p>
        </p:txBody>
      </p:sp>
      <p:sp>
        <p:nvSpPr>
          <p:cNvPr id="12" name="Text 10"/>
          <p:cNvSpPr/>
          <p:nvPr/>
        </p:nvSpPr>
        <p:spPr>
          <a:xfrm>
            <a:off x="2816352" y="3520440"/>
            <a:ext cx="3794760" cy="438912"/>
          </a:xfrm>
          <a:prstGeom prst="rect">
            <a:avLst/>
          </a:prstGeom>
          <a:noFill/>
          <a:ln/>
        </p:spPr>
        <p:txBody>
          <a:bodyPr wrap="square" lIns="0" tIns="0" rIns="0" bIns="0" rtlCol="0" anchor="ctr">
            <a:normAutofit/>
          </a:bodyPr>
          <a:lstStyle/>
          <a:p>
            <a:pPr marL="0" indent="0">
              <a:buNone/>
            </a:pPr>
            <a:r>
              <a:rPr lang="en-US" sz="1320" dirty="0">
                <a:solidFill>
                  <a:srgbClr val="263238"/>
                </a:solidFill>
              </a:rPr>
              <a:t>notulen komunitas belajar, jadwal observasi, catatan mentor, dan bank praktik baik.</a:t>
            </a:r>
            <a:endParaRPr lang="en-US" sz="1320" dirty="0"/>
          </a:p>
        </p:txBody>
      </p:sp>
      <p:sp>
        <p:nvSpPr>
          <p:cNvPr id="13" name="Text 11"/>
          <p:cNvSpPr/>
          <p:nvPr/>
        </p:nvSpPr>
        <p:spPr>
          <a:xfrm>
            <a:off x="7086600" y="1600200"/>
            <a:ext cx="4297680" cy="384048"/>
          </a:xfrm>
          <a:prstGeom prst="rect">
            <a:avLst/>
          </a:prstGeom>
          <a:solidFill>
            <a:srgbClr val="0B2545"/>
          </a:solidFill>
          <a:ln>
            <a:solidFill>
              <a:srgbClr val="0B2545">
                <a:alpha val="0"/>
              </a:srgbClr>
            </a:solidFill>
          </a:ln>
        </p:spPr>
        <p:txBody>
          <a:bodyPr wrap="square" lIns="1270" tIns="1270" rIns="1270" bIns="1270" rtlCol="0" anchor="ctr">
            <a:normAutofit/>
          </a:bodyPr>
          <a:lstStyle/>
          <a:p>
            <a:pPr marL="0" indent="0" algn="ctr">
              <a:buNone/>
            </a:pPr>
            <a:r>
              <a:rPr lang="en-US" sz="1500" b="1" dirty="0">
                <a:solidFill>
                  <a:srgbClr val="FFFFFF"/>
                </a:solidFill>
                <a:latin typeface="Aptos" pitchFamily="34" charset="0"/>
                <a:ea typeface="Aptos" pitchFamily="34" charset="-122"/>
                <a:cs typeface="Aptos" pitchFamily="34" charset="-120"/>
              </a:rPr>
              <a:t>Target dampak satu bulan</a:t>
            </a:r>
            <a:endParaRPr lang="en-US" sz="1500" dirty="0"/>
          </a:p>
        </p:txBody>
      </p:sp>
      <p:sp>
        <p:nvSpPr>
          <p:cNvPr id="14" name="Text 12"/>
          <p:cNvSpPr/>
          <p:nvPr/>
        </p:nvSpPr>
        <p:spPr>
          <a:xfrm>
            <a:off x="7315200" y="2240280"/>
            <a:ext cx="3657600" cy="1325880"/>
          </a:xfrm>
          <a:prstGeom prst="rect">
            <a:avLst/>
          </a:prstGeom>
          <a:noFill/>
          <a:ln/>
        </p:spPr>
        <p:txBody>
          <a:bodyPr wrap="square" lIns="0" tIns="0" rIns="0" bIns="0" rtlCol="0" anchor="ctr">
            <a:normAutofit fontScale="92500"/>
          </a:bodyPr>
          <a:lstStyle/>
          <a:p>
            <a:pPr marL="0" indent="0">
              <a:buNone/>
            </a:pPr>
            <a:r>
              <a:rPr lang="en-US" sz="1440" dirty="0">
                <a:solidFill>
                  <a:srgbClr val="263238"/>
                </a:solidFill>
              </a:rPr>
              <a:t>• Minimal 1 strategi baru dicoba tiap 2 minggu</a:t>
            </a:r>
            <a:endParaRPr lang="en-US" sz="1440" dirty="0"/>
          </a:p>
          <a:p>
            <a:pPr marL="0" indent="0">
              <a:buNone/>
            </a:pPr>
            <a:r>
              <a:rPr lang="en-US" sz="1440" dirty="0">
                <a:solidFill>
                  <a:srgbClr val="263238"/>
                </a:solidFill>
              </a:rPr>
              <a:t>• Ketuntasan formatif meningkat bertahap</a:t>
            </a:r>
            <a:endParaRPr lang="en-US" sz="1440" dirty="0"/>
          </a:p>
          <a:p>
            <a:pPr marL="0" indent="0">
              <a:buNone/>
            </a:pPr>
            <a:r>
              <a:rPr lang="en-US" sz="1440" dirty="0">
                <a:solidFill>
                  <a:srgbClr val="263238"/>
                </a:solidFill>
              </a:rPr>
              <a:t>• Guru punya 2 bukti refleksi dan 2 bukti tindak lanjut</a:t>
            </a:r>
            <a:endParaRPr lang="en-US" sz="1440" dirty="0"/>
          </a:p>
          <a:p>
            <a:pPr marL="0" indent="0">
              <a:buNone/>
            </a:pPr>
            <a:r>
              <a:rPr lang="en-US" sz="1440" dirty="0">
                <a:solidFill>
                  <a:srgbClr val="263238"/>
                </a:solidFill>
              </a:rPr>
              <a:t>• Komunitas belajar menghasilkan keputusan praktis</a:t>
            </a:r>
            <a:endParaRPr lang="en-US" sz="1440" dirty="0"/>
          </a:p>
        </p:txBody>
      </p:sp>
      <p:sp>
        <p:nvSpPr>
          <p:cNvPr id="15" name="Text 13"/>
          <p:cNvSpPr/>
          <p:nvPr/>
        </p:nvSpPr>
        <p:spPr>
          <a:xfrm>
            <a:off x="7086600" y="4206240"/>
            <a:ext cx="4297680" cy="347472"/>
          </a:xfrm>
          <a:prstGeom prst="rect">
            <a:avLst/>
          </a:prstGeom>
          <a:solidFill>
            <a:srgbClr val="ECE4FF"/>
          </a:solidFill>
          <a:ln>
            <a:solidFill>
              <a:srgbClr val="ECE4FF">
                <a:alpha val="0"/>
              </a:srgbClr>
            </a:solidFill>
          </a:ln>
        </p:spPr>
        <p:txBody>
          <a:bodyPr wrap="square" lIns="1270" tIns="1270" rIns="1270" bIns="1270" rtlCol="0" anchor="ctr">
            <a:normAutofit/>
          </a:bodyPr>
          <a:lstStyle/>
          <a:p>
            <a:pPr marL="0" indent="0" algn="ctr">
              <a:buNone/>
            </a:pPr>
            <a:r>
              <a:rPr lang="en-US" sz="1350" b="1" dirty="0">
                <a:solidFill>
                  <a:srgbClr val="0B2545"/>
                </a:solidFill>
                <a:latin typeface="Aptos" pitchFamily="34" charset="0"/>
                <a:ea typeface="Aptos" pitchFamily="34" charset="-122"/>
                <a:cs typeface="Aptos" pitchFamily="34" charset="-120"/>
              </a:rPr>
              <a:t>Kalimat penutup presentasi</a:t>
            </a:r>
            <a:endParaRPr lang="en-US" sz="1350" dirty="0"/>
          </a:p>
        </p:txBody>
      </p:sp>
      <p:sp>
        <p:nvSpPr>
          <p:cNvPr id="16" name="Text 14"/>
          <p:cNvSpPr/>
          <p:nvPr/>
        </p:nvSpPr>
        <p:spPr>
          <a:xfrm>
            <a:off x="7178040" y="4718304"/>
            <a:ext cx="4096512" cy="786384"/>
          </a:xfrm>
          <a:prstGeom prst="rect">
            <a:avLst/>
          </a:prstGeom>
          <a:noFill/>
          <a:ln/>
        </p:spPr>
        <p:txBody>
          <a:bodyPr wrap="square" lIns="0" tIns="0" rIns="0" bIns="0" rtlCol="0" anchor="ctr">
            <a:normAutofit fontScale="92500" lnSpcReduction="20000"/>
          </a:bodyPr>
          <a:lstStyle/>
          <a:p>
            <a:pPr marL="0" indent="0">
              <a:buNone/>
            </a:pPr>
            <a:r>
              <a:rPr lang="en-US" sz="1280" b="1" i="1" dirty="0">
                <a:solidFill>
                  <a:srgbClr val="0B2545"/>
                </a:solidFill>
              </a:rPr>
              <a:t>“Guru pembelajar sepanjang hayat bukan guru yang selalu ikut pelatihan, melainkan guru yang terus membaca kebutuhan kelasnya, mau direfleksi, dan berani memperbaiki praktik bersama komunitas sekolah.”</a:t>
            </a:r>
            <a:endParaRPr lang="en-US" sz="1280" dirty="0"/>
          </a:p>
        </p:txBody>
      </p:sp>
      <p:sp>
        <p:nvSpPr>
          <p:cNvPr id="17" name="Shape 15"/>
          <p:cNvSpPr/>
          <p:nvPr/>
        </p:nvSpPr>
        <p:spPr>
          <a:xfrm>
            <a:off x="594360" y="6473952"/>
            <a:ext cx="10972800" cy="0"/>
          </a:xfrm>
          <a:prstGeom prst="line">
            <a:avLst/>
          </a:prstGeom>
          <a:noFill/>
          <a:ln w="12700">
            <a:solidFill>
              <a:srgbClr val="D5E0DE"/>
            </a:solidFill>
            <a:prstDash val="solid"/>
          </a:ln>
        </p:spPr>
      </p:sp>
      <p:sp>
        <p:nvSpPr>
          <p:cNvPr id="18" name="Text 16"/>
          <p:cNvSpPr/>
          <p:nvPr/>
        </p:nvSpPr>
        <p:spPr>
          <a:xfrm>
            <a:off x="594360" y="6556248"/>
            <a:ext cx="7498080" cy="146304"/>
          </a:xfrm>
          <a:prstGeom prst="rect">
            <a:avLst/>
          </a:prstGeom>
          <a:noFill/>
          <a:ln/>
        </p:spPr>
        <p:txBody>
          <a:bodyPr wrap="square" lIns="0" tIns="0" rIns="0" bIns="0" rtlCol="0" anchor="ctr"/>
          <a:lstStyle/>
          <a:p>
            <a:pPr marL="0" indent="0">
              <a:buNone/>
            </a:pPr>
            <a:r>
              <a:rPr lang="en-US" sz="730" dirty="0">
                <a:solidFill>
                  <a:srgbClr val="60737A"/>
                </a:solidFill>
              </a:rPr>
              <a:t>1.F Diskusi • Guru Pembelajar Sepanjang Hayat dalam Ekosistem Sekolah</a:t>
            </a:r>
            <a:endParaRPr lang="en-US" sz="730" dirty="0"/>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1206</Words>
  <Application>Microsoft Office PowerPoint</Application>
  <PresentationFormat>Widescreen</PresentationFormat>
  <Paragraphs>133</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 CPD Berbasis Sekolah</dc:title>
  <dc:subject>1.F Diskusi - Guru Pembelajar Sepanjang Hayat dalam Ekosistem Sekolah</dc:subject>
  <dc:creator>ChatGPT</dc:creator>
  <cp:lastModifiedBy>Ahmad Nursyifa</cp:lastModifiedBy>
  <cp:revision>7</cp:revision>
  <dcterms:created xsi:type="dcterms:W3CDTF">2026-07-19T02:43:55Z</dcterms:created>
  <dcterms:modified xsi:type="dcterms:W3CDTF">2026-08-08T11:43:20Z</dcterms:modified>
</cp:coreProperties>
</file>