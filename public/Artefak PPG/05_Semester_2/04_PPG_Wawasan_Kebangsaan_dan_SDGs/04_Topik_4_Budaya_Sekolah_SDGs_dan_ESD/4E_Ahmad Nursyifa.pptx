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156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2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 presentasi. Fokusnya adalah transformasi budaya sekolah melalui CPD, SDGs, dan ESD.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menjelaskan masalah utama dan target perubahan: bukan sekadar membuat program lingkungan, tetapi membangun sistem sekolah yang mendukung keberlanjutan.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Analisis: hambatan bukan berdiri sendiri. CPD yang administratif membuat kompetensi guru tidak berkembang, lalu pembelajaran dan budaya sekolah tidak berubah.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CPD yang disarankan mencakup pemetaan masalah nyata, pelatihan, uji coba, refleksi, dan dokumentasi dampak dalam portofolio guru.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Pilih SDGs yang paling dekat dengan masalah sekolah: SDG 4, 12, 13, 15, dan 17. Integrasi dilakukan pada empat aspek: pembelajaran, kegiatan, kebijakan, budaya sehari-hari.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menjawab peran berbagai pihak dalam ekosistem sekolah: kepala sekolah, guru, peserta didik, orang tua, komunitas lokal, perguruan tinggi, dan pemerintah daerah.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 pertama memuat SDGs yang dituju, tujuan, kegiatan utama, keterlibatan guru dan siswa, integrasi CPD, indikator keberhasilan, dan dampak.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 kedua menjelaskan kebun belajar dan aksi iklim sebagai integrasi antara pembelajaran, CPD, aksi lingkungan, dan kemitraan.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Peta jalan satu tahun berfungsi memastikan program dilakukan secara berkelanjutan dan dievaluasi, bukan hanya kegiatan momen tertentu.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budaya berkelanjutan terjadi ketika CPD, pembelajaran, kebijakan, dan kolaborasi berjalan sebagai satu ekosistem.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065276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5240">
            <a:solidFill>
              <a:srgbClr val="D8EA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09728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🌱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69880" y="106070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🏫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331720" y="1234440"/>
            <a:ext cx="7498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Membangun Budaya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Sekolah Berkelanjutan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514600" y="2490129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C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melalui CPD, SDGs, dan ESD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46120" y="2937027"/>
            <a:ext cx="5715000" cy="438912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 w="12700">
            <a:solidFill>
              <a:srgbClr val="E6F4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3065043"/>
            <a:ext cx="5257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C6B4F"/>
                </a:solidFill>
              </a:rPr>
              <a:t>Studi kasus: SMP Harapan Bangsa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1920240" y="5202423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5348727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CPD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5202423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5348727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SDGs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5202423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5348727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ESD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01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3058305" y="3456432"/>
            <a:ext cx="6096000" cy="147732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1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Palatino Linotype" panose="02040502050505030304" pitchFamily="18" charset="0"/>
                <a:cs typeface="Times New Roman" panose="02020603050405020304" pitchFamily="18" charset="0"/>
              </a:rPr>
              <a:t>ANGGOTA KELOMPOK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id-ID" sz="1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Palatino Linotype" panose="02040502050505030304" pitchFamily="18" charset="0"/>
                <a:cs typeface="Times New Roman" panose="02020603050405020304" pitchFamily="18" charset="0"/>
              </a:rPr>
              <a:t>Dian </a:t>
            </a:r>
            <a:r>
              <a:rPr lang="id-ID" sz="1200" b="1" dirty="0">
                <a:solidFill>
                  <a:schemeClr val="bg1"/>
                </a:solidFill>
                <a:latin typeface="Times New Roman" panose="02020603050405020304" pitchFamily="18" charset="0"/>
                <a:ea typeface="Palatino Linotype" panose="02040502050505030304" pitchFamily="18" charset="0"/>
                <a:cs typeface="Times New Roman" panose="02020603050405020304" pitchFamily="18" charset="0"/>
              </a:rPr>
              <a:t>Budi Elnursa (2530682)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id-ID" sz="1200" b="1" dirty="0">
                <a:solidFill>
                  <a:schemeClr val="bg1"/>
                </a:solidFill>
                <a:latin typeface="Times New Roman" panose="02020603050405020304" pitchFamily="18" charset="0"/>
                <a:ea typeface="Palatino Linotype" panose="02040502050505030304" pitchFamily="18" charset="0"/>
                <a:cs typeface="Times New Roman" panose="02020603050405020304" pitchFamily="18" charset="0"/>
              </a:rPr>
              <a:t>Anthonio Akbar (2530710)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id-ID" sz="1200" b="1" dirty="0">
                <a:solidFill>
                  <a:schemeClr val="bg1"/>
                </a:solidFill>
                <a:latin typeface="Times New Roman" panose="02020603050405020304" pitchFamily="18" charset="0"/>
                <a:ea typeface="Palatino Linotype" panose="02040502050505030304" pitchFamily="18" charset="0"/>
                <a:cs typeface="Times New Roman" panose="02020603050405020304" pitchFamily="18" charset="0"/>
              </a:rPr>
              <a:t>Ulfa Mardatillah (2530701)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id-ID" sz="1200" b="1" dirty="0">
                <a:solidFill>
                  <a:schemeClr val="bg1"/>
                </a:solidFill>
                <a:latin typeface="Times New Roman" panose="02020603050405020304" pitchFamily="18" charset="0"/>
                <a:ea typeface="Palatino Linotype" panose="02040502050505030304" pitchFamily="18" charset="0"/>
              </a:rPr>
              <a:t>Ahmad Nursyifa (2530712)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0C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84280" y="109728"/>
            <a:ext cx="146304" cy="146304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118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Gambaran Kasus &amp; Arah Perubahan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5029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D6D7E"/>
                </a:solidFill>
              </a:rPr>
              <a:t>SMP Harapan Bangsa ingin menjadi sekolah unggul, inklusif, dan berwawasan keberlanjutan.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4526280" cy="49834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240">
            <a:solidFill>
              <a:srgbClr val="F6C6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25880"/>
            <a:ext cx="1920240" cy="310896"/>
          </a:xfrm>
          <a:prstGeom prst="roundRect">
            <a:avLst>
              <a:gd name="adj" fmla="val 1764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99032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KONDISI SAAT INI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621792" cy="6217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20240"/>
            <a:ext cx="621792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1847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</a:rPr>
              <a:t>Program keberlanjutan masih insidental dan belum terhubung dengan tujuan pembelajaran.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914400" y="2743200"/>
            <a:ext cx="621792" cy="621792"/>
          </a:xfrm>
          <a:prstGeom prst="ellipse">
            <a:avLst/>
          </a:prstGeom>
          <a:solidFill>
            <a:srgbClr val="E45858"/>
          </a:solidFill>
          <a:ln w="12700">
            <a:solidFill>
              <a:srgbClr val="E4585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88920"/>
            <a:ext cx="621792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724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</a:rPr>
              <a:t>CPD lebih banyak mengejar administrasi, bukan perubahan praktik mengajar.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914400" y="3611880"/>
            <a:ext cx="621792" cy="621792"/>
          </a:xfrm>
          <a:prstGeom prst="ellipse">
            <a:avLst/>
          </a:prstGeom>
          <a:solidFill>
            <a:srgbClr val="5D6D7E"/>
          </a:solidFill>
          <a:ln w="12700">
            <a:solidFill>
              <a:srgbClr val="5D6D7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57600"/>
            <a:ext cx="621792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♻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35478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Penggunaan kertas tinggi, pemilahan sampah rendah, dan konsumsi belum bertanggung jawab.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621792" cy="62179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617720"/>
            <a:ext cx="621792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459943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</a:rPr>
              <a:t>Kolaborasi guru serta keterlibatan masyarakat masih minim.</a:t>
            </a:r>
            <a:endParaRPr lang="en-US" sz="1370" dirty="0"/>
          </a:p>
        </p:txBody>
      </p:sp>
      <p:sp>
        <p:nvSpPr>
          <p:cNvPr id="22" name="Shape 20"/>
          <p:cNvSpPr/>
          <p:nvPr/>
        </p:nvSpPr>
        <p:spPr>
          <a:xfrm>
            <a:off x="5349240" y="3017520"/>
            <a:ext cx="1051560" cy="594360"/>
          </a:xfrm>
          <a:prstGeom prst="rightArrow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712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6B4F"/>
                </a:solidFill>
              </a:rPr>
              <a:t>transformasi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1097280"/>
            <a:ext cx="4892040" cy="4983480"/>
          </a:xfrm>
          <a:prstGeom prst="roundRect">
            <a:avLst>
              <a:gd name="adj" fmla="val 1495"/>
            </a:avLst>
          </a:prstGeom>
          <a:solidFill>
            <a:srgbClr val="F6FFF7"/>
          </a:solidFill>
          <a:ln w="15240">
            <a:solidFill>
              <a:srgbClr val="B8E4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76872" y="132588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399032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ARAH PERUBAHAN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114032" y="1847088"/>
            <a:ext cx="621792" cy="621792"/>
          </a:xfrm>
          <a:prstGeom prst="ellipse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1892808"/>
            <a:ext cx="621792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🎯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09560" y="186537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</a:rPr>
              <a:t>CPD berbasis kebutuhan dan berdampak pada kelas</a:t>
            </a:r>
            <a:endParaRPr lang="en-US" sz="1370" dirty="0"/>
          </a:p>
        </p:txBody>
      </p:sp>
      <p:sp>
        <p:nvSpPr>
          <p:cNvPr id="30" name="Shape 28"/>
          <p:cNvSpPr/>
          <p:nvPr/>
        </p:nvSpPr>
        <p:spPr>
          <a:xfrm>
            <a:off x="7114032" y="2706624"/>
            <a:ext cx="621792" cy="621792"/>
          </a:xfrm>
          <a:prstGeom prst="ellipse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2752344"/>
            <a:ext cx="621792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🌱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909560" y="2724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</a:rPr>
              <a:t>SDGs dan ESD terintegrasi dalam pembelajaran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7114032" y="3566160"/>
            <a:ext cx="621792" cy="621792"/>
          </a:xfrm>
          <a:prstGeom prst="ellipse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3611880"/>
            <a:ext cx="621792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🏫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909560" y="3584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</a:rPr>
              <a:t>Budaya sekolah: hemat, peduli, inklusif, reflektif</a:t>
            </a:r>
            <a:endParaRPr lang="en-US" sz="1370" dirty="0"/>
          </a:p>
        </p:txBody>
      </p:sp>
      <p:sp>
        <p:nvSpPr>
          <p:cNvPr id="36" name="Shape 34"/>
          <p:cNvSpPr/>
          <p:nvPr/>
        </p:nvSpPr>
        <p:spPr>
          <a:xfrm>
            <a:off x="7114032" y="4425696"/>
            <a:ext cx="621792" cy="621792"/>
          </a:xfrm>
          <a:prstGeom prst="ellipse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14032" y="4471416"/>
            <a:ext cx="621792" cy="447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909560" y="44439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</a:rPr>
              <a:t>Ekosistem kolaboratif bersama keluarga dan masyarakat</a:t>
            </a:r>
            <a:endParaRPr lang="en-US" sz="1370" dirty="0"/>
          </a:p>
        </p:txBody>
      </p:sp>
      <p:sp>
        <p:nvSpPr>
          <p:cNvPr id="39" name="Shape 37"/>
          <p:cNvSpPr/>
          <p:nvPr/>
        </p:nvSpPr>
        <p:spPr>
          <a:xfrm>
            <a:off x="7223760" y="5257800"/>
            <a:ext cx="3794760" cy="411480"/>
          </a:xfrm>
          <a:prstGeom prst="roundRect">
            <a:avLst>
              <a:gd name="adj" fmla="val 15556"/>
            </a:avLst>
          </a:prstGeom>
          <a:solidFill>
            <a:srgbClr val="E6F4EA"/>
          </a:solidFill>
          <a:ln w="12700">
            <a:solidFill>
              <a:srgbClr val="E6F4E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88352" y="537667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6B4F"/>
                </a:solidFill>
              </a:rPr>
              <a:t>Guru sebagai agen perubahan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F28C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84280" y="109728"/>
            <a:ext cx="146304" cy="146304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118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Analisis Permasalahan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5029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D6D7E"/>
                </a:solidFill>
              </a:rPr>
              <a:t>Hambatan implementasi SDGs dan ESD saling terkait pada level budaya, kompetensi, CPD, dan kemitraan.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251960" y="2468880"/>
            <a:ext cx="3703320" cy="1005840"/>
          </a:xfrm>
          <a:prstGeom prst="roundRect">
            <a:avLst>
              <a:gd name="adj" fmla="val 6364"/>
            </a:avLst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6700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Dampak utama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99923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AF6"/>
                </a:solidFill>
              </a:rPr>
              <a:t>SDGs &amp; ESD belum menjadi budaya sekolah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32588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9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63624"/>
            <a:ext cx="530352" cy="53035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609344"/>
            <a:ext cx="530352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1527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8C28"/>
                </a:solidFill>
              </a:rPr>
              <a:t>CPD administratif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81328" y="1801368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F2937"/>
                </a:solidFill>
              </a:rPr>
              <a:t>Pelatihan belum menghasilkan praktik baru, portofolio dampak, atau tindak lanjut kelas.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183880" y="132588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9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8472" y="1563624"/>
            <a:ext cx="530352" cy="530352"/>
          </a:xfrm>
          <a:prstGeom prst="ellipse">
            <a:avLst/>
          </a:prstGeom>
          <a:solidFill>
            <a:srgbClr val="E45858"/>
          </a:solidFill>
          <a:ln w="12700">
            <a:solidFill>
              <a:srgbClr val="E4585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609344"/>
            <a:ext cx="530352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25128" y="1527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45858"/>
                </a:solidFill>
              </a:rPr>
              <a:t>Kompetensi ESD guru rendah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25128" y="1801368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F2937"/>
                </a:solidFill>
              </a:rPr>
              <a:t>Guru belum terbiasa mengaitkan materi dengan isu sosial, ekonomi, dan lingkungan.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9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443984"/>
            <a:ext cx="530352" cy="530352"/>
          </a:xfrm>
          <a:prstGeom prst="ellipse">
            <a:avLst/>
          </a:prstGeom>
          <a:solidFill>
            <a:srgbClr val="5D6D7E"/>
          </a:solidFill>
          <a:ln w="12700">
            <a:solidFill>
              <a:srgbClr val="5D6D7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489704"/>
            <a:ext cx="530352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81328" y="4407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D6D7E"/>
                </a:solidFill>
              </a:rPr>
              <a:t>Budaya belum berkelanjutan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481328" y="4681728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F2937"/>
                </a:solidFill>
              </a:rPr>
              <a:t>Hemat kertas, pilah sampah, dan konsumsi bertanggung jawab belum menjadi kebiasaan.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8183880" y="420624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9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48472" y="4443984"/>
            <a:ext cx="530352" cy="530352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8472" y="4489704"/>
            <a:ext cx="530352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🌳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25128" y="44074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0BE6D"/>
                </a:solidFill>
              </a:rPr>
              <a:t>Program insidental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025128" y="4681728"/>
            <a:ext cx="22402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F2937"/>
                </a:solidFill>
              </a:rPr>
              <a:t>Kegiatan bersih-bersih dan menanam pohon belum terencana, terukur, dan terintegrasi.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114800" y="4663440"/>
            <a:ext cx="393192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9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79392" y="4901184"/>
            <a:ext cx="530352" cy="53035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4946904"/>
            <a:ext cx="530352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🤝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56048" y="48646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</a:rPr>
              <a:t>Kolaborasi terbatas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56048" y="5138928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F2937"/>
                </a:solidFill>
              </a:rPr>
              <a:t>Belum ada komunitas belajar ESD dan keterlibatan mitra eksternal masih rendah.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0C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84280" y="109728"/>
            <a:ext cx="146304" cy="146304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118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Desain CPD untuk Kompetensi ESD Guru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5029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D6D7E"/>
                </a:solidFill>
              </a:rPr>
              <a:t>CPD efektif harus sampai pada penerapan, refleksi, pendampingan, dan berbagi praktik baik.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85800" y="1115568"/>
            <a:ext cx="1938528" cy="658368"/>
          </a:xfrm>
          <a:prstGeom prst="chevron">
            <a:avLst/>
          </a:prstGeom>
          <a:solidFill>
            <a:srgbClr val="0C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984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2252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Pemetaan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Kebutuhan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926080" y="1115568"/>
            <a:ext cx="1938528" cy="658368"/>
          </a:xfrm>
          <a:prstGeom prst="chevron">
            <a:avLst/>
          </a:prstGeom>
          <a:solidFill>
            <a:srgbClr val="2E8B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2984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2252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Pelatihan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Kontekstual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166360" y="1115568"/>
            <a:ext cx="1938528" cy="658368"/>
          </a:xfrm>
          <a:prstGeom prst="chevron">
            <a:avLst/>
          </a:prstGeom>
          <a:solidFill>
            <a:srgbClr val="0C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2984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2252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Uji Coba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Kelas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406640" y="1115568"/>
            <a:ext cx="1938528" cy="658368"/>
          </a:xfrm>
          <a:prstGeom prst="chevron">
            <a:avLst/>
          </a:prstGeom>
          <a:solidFill>
            <a:srgbClr val="2E8B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2984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12252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Refleksi &amp;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Lesson Study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646920" y="1115568"/>
            <a:ext cx="1938528" cy="658368"/>
          </a:xfrm>
          <a:prstGeom prst="chevron">
            <a:avLst/>
          </a:prstGeom>
          <a:solidFill>
            <a:srgbClr val="0C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12984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0" y="12252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Portofolio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</a:rPr>
              <a:t>Dampak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85800" y="2240280"/>
            <a:ext cx="51023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A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" y="2386584"/>
            <a:ext cx="502920" cy="502920"/>
          </a:xfrm>
          <a:prstGeom prst="ellipse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2432304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45336" y="2414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</a:rPr>
              <a:t>Systems thinking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45336" y="2679192"/>
            <a:ext cx="4050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Memetakan hubungan kertas–biaya–sampah–lingkungan–perilaku warga sekolah.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2240280"/>
            <a:ext cx="51023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A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56248" y="2386584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2432304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🔎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14616" y="24140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</a:rPr>
              <a:t>Kritis &amp; reflektif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14616" y="2679192"/>
            <a:ext cx="4050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Studi kasus, jurnal refleksi, observasi sejawat, dan PTK berbasis ESD.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" y="3337560"/>
            <a:ext cx="51023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A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" y="3483864"/>
            <a:ext cx="502920" cy="502920"/>
          </a:xfrm>
          <a:prstGeom prst="ellipse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3529584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🤝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45336" y="35112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</a:rPr>
              <a:t>Kolaborasi &amp; partisipasi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45336" y="3776472"/>
            <a:ext cx="4050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Komunitas belajar ESD, proyek lintas mapel, peer coaching, praktik baik.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55080" y="3337560"/>
            <a:ext cx="51023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A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56248" y="3483864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56248" y="3529584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⚖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214616" y="3511296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</a:rPr>
              <a:t>Keputusan bertanggung jawab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214616" y="3776472"/>
            <a:ext cx="4050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Simulasi kebijakan, debat berbasis data, analisis dampak sosial-lingkungan.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5800" y="4434840"/>
            <a:ext cx="5321808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8EAD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4581144"/>
            <a:ext cx="502920" cy="502920"/>
          </a:xfrm>
          <a:prstGeom prst="ellipse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" y="4626864"/>
            <a:ext cx="5029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🌱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545336" y="4608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</a:rPr>
              <a:t>Aksi nyata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545336" y="4873752"/>
            <a:ext cx="4270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Audit sampah, konservasi energi, kompos, kampanye konsumsi bertanggung jawab.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91840" y="5696712"/>
            <a:ext cx="5502204" cy="384048"/>
          </a:xfrm>
          <a:prstGeom prst="roundRect">
            <a:avLst>
              <a:gd name="adj" fmla="val 14286"/>
            </a:avLst>
          </a:prstGeom>
          <a:solidFill>
            <a:srgbClr val="E6F4EA"/>
          </a:solidFill>
          <a:ln w="12700">
            <a:solidFill>
              <a:srgbClr val="E6F4E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5855998"/>
            <a:ext cx="5590032" cy="82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6B4F"/>
                </a:solidFill>
              </a:rPr>
              <a:t>Prinsip: CPD harus berbasis masalah sekolah, kolaboratif, </a:t>
            </a:r>
            <a:r>
              <a:rPr lang="en-US" sz="1050" b="1" dirty="0" err="1" smtClean="0">
                <a:solidFill>
                  <a:srgbClr val="0C6B4F"/>
                </a:solidFill>
              </a:rPr>
              <a:t>dan</a:t>
            </a:r>
            <a:r>
              <a:rPr lang="en-US" sz="1050" b="1" dirty="0" smtClean="0">
                <a:solidFill>
                  <a:srgbClr val="0C6B4F"/>
                </a:solidFill>
              </a:rPr>
              <a:t> </a:t>
            </a:r>
            <a:r>
              <a:rPr lang="en-US" sz="1050" b="1" dirty="0" err="1" smtClean="0">
                <a:solidFill>
                  <a:srgbClr val="0C6B4F"/>
                </a:solidFill>
              </a:rPr>
              <a:t>terukur</a:t>
            </a:r>
            <a:r>
              <a:rPr lang="en-US" sz="1050" b="1" dirty="0" smtClean="0">
                <a:solidFill>
                  <a:srgbClr val="0C6B4F"/>
                </a:solidFill>
              </a:rPr>
              <a:t> </a:t>
            </a:r>
            <a:r>
              <a:rPr lang="en-US" sz="1050" b="1" dirty="0">
                <a:solidFill>
                  <a:srgbClr val="0C6B4F"/>
                </a:solidFill>
              </a:rPr>
              <a:t>dampaknya.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1235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84280" y="109728"/>
            <a:ext cx="146304" cy="146304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118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Membangun Budaya Sekolah Berbasis SDGs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5029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D6D7E"/>
                </a:solidFill>
              </a:rPr>
              <a:t>SDGs perlu masuk ke pembelajaran, kegiatan sekolah, kebijakan, dan kebiasaan harian.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85800" y="1298448"/>
            <a:ext cx="1920240" cy="3886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517904"/>
            <a:ext cx="502920" cy="502920"/>
          </a:xfrm>
          <a:prstGeom prst="rect">
            <a:avLst/>
          </a:prstGeom>
          <a:solidFill>
            <a:srgbClr val="E45858"/>
          </a:solidFill>
          <a:ln w="12700">
            <a:solidFill>
              <a:srgbClr val="E4585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18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14813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55B"/>
                </a:solidFill>
              </a:rPr>
              <a:t>Pendidikan</a:t>
            </a:r>
            <a:endParaRPr lang="en-US" sz="1020" dirty="0"/>
          </a:p>
          <a:p>
            <a:pPr marL="0" indent="0">
              <a:buNone/>
            </a:pPr>
            <a:r>
              <a:rPr lang="en-US" sz="1020" b="1" dirty="0">
                <a:solidFill>
                  <a:srgbClr val="12355B"/>
                </a:solidFill>
              </a:rPr>
              <a:t>Berkualitas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50392" y="2176272"/>
            <a:ext cx="1600200" cy="0"/>
          </a:xfrm>
          <a:prstGeom prst="line">
            <a:avLst/>
          </a:prstGeom>
          <a:noFill/>
          <a:ln w="12700">
            <a:solidFill>
              <a:srgbClr val="DCE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359152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Proyek lintas mapel, pembelajaran inklusif, literasi keberlanjutan.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86968" y="38404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E45858"/>
                </a:solidFill>
              </a:rPr>
              <a:t>Integrasi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86968" y="4087368"/>
            <a:ext cx="1508760" cy="0"/>
          </a:xfrm>
          <a:prstGeom prst="line">
            <a:avLst/>
          </a:prstGeom>
          <a:noFill/>
          <a:ln w="15240">
            <a:solidFill>
              <a:srgbClr val="E45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87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Pembelajaran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Kokurikuler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Kebijakan inklusif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Budaya reflektif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953512" y="1298448"/>
            <a:ext cx="1920240" cy="3886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8104" y="1517904"/>
            <a:ext cx="502920" cy="502920"/>
          </a:xfrm>
          <a:prstGeom prst="rect">
            <a:avLst/>
          </a:prstGeom>
          <a:solidFill>
            <a:srgbClr val="F9A03F"/>
          </a:solidFill>
          <a:ln w="12700">
            <a:solidFill>
              <a:srgbClr val="F9A03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1618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12464" y="14813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55B"/>
                </a:solidFill>
              </a:rPr>
              <a:t>Konsumsi</a:t>
            </a:r>
            <a:endParaRPr lang="en-US" sz="1020" dirty="0"/>
          </a:p>
          <a:p>
            <a:pPr marL="0" indent="0">
              <a:buNone/>
            </a:pPr>
            <a:r>
              <a:rPr lang="en-US" sz="1020" b="1" dirty="0">
                <a:solidFill>
                  <a:srgbClr val="12355B"/>
                </a:solidFill>
              </a:rPr>
              <a:t>Bertanggung Jawab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3118104" y="2176272"/>
            <a:ext cx="1600200" cy="0"/>
          </a:xfrm>
          <a:prstGeom prst="line">
            <a:avLst/>
          </a:prstGeom>
          <a:noFill/>
          <a:ln w="12700">
            <a:solidFill>
              <a:srgbClr val="DCE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359152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Audit sampah &amp; kertas, bank sampah, kompos, batasi plastik.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3154680" y="38404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9A03F"/>
                </a:solidFill>
              </a:rPr>
              <a:t>Integrasi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3154680" y="4087368"/>
            <a:ext cx="1508760" cy="0"/>
          </a:xfrm>
          <a:prstGeom prst="line">
            <a:avLst/>
          </a:prstGeom>
          <a:noFill/>
          <a:ln w="15240">
            <a:solidFill>
              <a:srgbClr val="F9A0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82112" y="4187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Pembelajaran data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Bank sampah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Kebijakan minim kertas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Bawa tumbler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221224" y="1298448"/>
            <a:ext cx="1920240" cy="3886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85816" y="1517904"/>
            <a:ext cx="502920" cy="502920"/>
          </a:xfrm>
          <a:prstGeom prst="rect">
            <a:avLst/>
          </a:prstGeom>
          <a:solidFill>
            <a:srgbClr val="3E8E41"/>
          </a:solidFill>
          <a:ln w="12700">
            <a:solidFill>
              <a:srgbClr val="3E8E4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5816" y="1618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80176" y="14813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 err="1" smtClean="0">
                <a:solidFill>
                  <a:srgbClr val="12355B"/>
                </a:solidFill>
              </a:rPr>
              <a:t>Aksi</a:t>
            </a:r>
            <a:r>
              <a:rPr lang="en-US" sz="1020" dirty="0"/>
              <a:t> </a:t>
            </a:r>
            <a:r>
              <a:rPr lang="en-US" sz="1020" b="1" dirty="0" err="1" smtClean="0">
                <a:solidFill>
                  <a:srgbClr val="12355B"/>
                </a:solidFill>
              </a:rPr>
              <a:t>Iklim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385816" y="2176272"/>
            <a:ext cx="1600200" cy="0"/>
          </a:xfrm>
          <a:prstGeom prst="line">
            <a:avLst/>
          </a:prstGeom>
          <a:noFill/>
          <a:ln w="12700">
            <a:solidFill>
              <a:srgbClr val="DCE5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22392" y="2359152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Audit energi, kampanye hemat listrik-air, pembelajaran perubahan iklim.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422392" y="38404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3E8E41"/>
                </a:solidFill>
              </a:rPr>
              <a:t>Integrasi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5422392" y="4087368"/>
            <a:ext cx="1508760" cy="0"/>
          </a:xfrm>
          <a:prstGeom prst="line">
            <a:avLst/>
          </a:prstGeom>
          <a:noFill/>
          <a:ln w="15240">
            <a:solidFill>
              <a:srgbClr val="3E8E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4187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Materi iklim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Duta iklim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Hemat energi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Matikan listrik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488936" y="1298448"/>
            <a:ext cx="1920240" cy="3886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53528" y="1517904"/>
            <a:ext cx="502920" cy="502920"/>
          </a:xfrm>
          <a:prstGeom prst="rect">
            <a:avLst/>
          </a:prstGeom>
          <a:solidFill>
            <a:srgbClr val="55A630"/>
          </a:solidFill>
          <a:ln w="12700">
            <a:solidFill>
              <a:srgbClr val="55A63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3528" y="1618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47888" y="14813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55B"/>
                </a:solidFill>
              </a:rPr>
              <a:t>Ekosistem</a:t>
            </a:r>
            <a:endParaRPr lang="en-US" sz="1020" dirty="0"/>
          </a:p>
          <a:p>
            <a:pPr marL="0" indent="0">
              <a:buNone/>
            </a:pPr>
            <a:r>
              <a:rPr lang="en-US" sz="1020" b="1" dirty="0">
                <a:solidFill>
                  <a:srgbClr val="12355B"/>
                </a:solidFill>
              </a:rPr>
              <a:t>Daratan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7653528" y="2176272"/>
            <a:ext cx="1600200" cy="0"/>
          </a:xfrm>
          <a:prstGeom prst="line">
            <a:avLst/>
          </a:prstGeom>
          <a:noFill/>
          <a:ln w="12700">
            <a:solidFill>
              <a:srgbClr val="DCE5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90104" y="2359152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Kebun sekolah, tanaman lokal, biopori, observasi biodiversitas.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7690104" y="38404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55A630"/>
                </a:solidFill>
              </a:rPr>
              <a:t>Integrasi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7690104" y="4087368"/>
            <a:ext cx="1508760" cy="0"/>
          </a:xfrm>
          <a:prstGeom prst="line">
            <a:avLst/>
          </a:prstGeom>
          <a:noFill/>
          <a:ln w="15240">
            <a:solidFill>
              <a:srgbClr val="55A6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17536" y="4187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Observasi alam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Klub hijau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Ruang hijau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Rawat tanaman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9756648" y="1298448"/>
            <a:ext cx="1920240" cy="38862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21240" y="1517904"/>
            <a:ext cx="502920" cy="502920"/>
          </a:xfrm>
          <a:prstGeom prst="rect">
            <a:avLst/>
          </a:prstGeom>
          <a:solidFill>
            <a:srgbClr val="235789"/>
          </a:solidFill>
          <a:ln w="12700">
            <a:solidFill>
              <a:srgbClr val="235789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21240" y="1618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17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10515600" y="148132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12355B"/>
                </a:solidFill>
              </a:rPr>
              <a:t>Kemitraan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9921240" y="2176272"/>
            <a:ext cx="1600200" cy="0"/>
          </a:xfrm>
          <a:prstGeom prst="line">
            <a:avLst/>
          </a:prstGeom>
          <a:noFill/>
          <a:ln w="12700">
            <a:solidFill>
              <a:srgbClr val="DCE5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57816" y="2359152"/>
            <a:ext cx="153619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Kerja sama orang tua, komunitas, kampus, bank sampah, pemda.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9957816" y="38404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235789"/>
                </a:solidFill>
              </a:rPr>
              <a:t>Integrasi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9957816" y="4087368"/>
            <a:ext cx="1508760" cy="0"/>
          </a:xfrm>
          <a:prstGeom prst="line">
            <a:avLst/>
          </a:prstGeom>
          <a:noFill/>
          <a:ln w="15240">
            <a:solidFill>
              <a:srgbClr val="23578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85248" y="41879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Proyek mitra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Kelas inspirasi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MoU/jejaring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5D6D7E"/>
                </a:solidFill>
              </a:rPr>
              <a:t>Evaluasi bersama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1280160" y="5532120"/>
            <a:ext cx="9646920" cy="384048"/>
          </a:xfrm>
          <a:prstGeom prst="roundRect">
            <a:avLst>
              <a:gd name="adj" fmla="val 14286"/>
            </a:avLst>
          </a:prstGeom>
          <a:solidFill>
            <a:srgbClr val="EFF8F2"/>
          </a:solidFill>
          <a:ln w="12700">
            <a:solidFill>
              <a:srgbClr val="EFF8F2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54480" y="5641848"/>
            <a:ext cx="9098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6B4F"/>
                </a:solidFill>
              </a:rPr>
              <a:t>Kunci budaya: kebiasaan kecil yang dilakukan konsisten oleh seluruh warga sekolah.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6C5C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84280" y="109728"/>
            <a:ext cx="146304" cy="146304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118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Kolaborasi untuk Ekosistem Berkelanjutan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5029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D6D7E"/>
                </a:solidFill>
              </a:rPr>
              <a:t>Keberhasilan ESD memerlukan pembagian peran dan komunikasi rutin.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681728" y="2212848"/>
            <a:ext cx="2788920" cy="2788920"/>
          </a:xfrm>
          <a:prstGeom prst="ellipse">
            <a:avLst/>
          </a:prstGeom>
          <a:solidFill>
            <a:srgbClr val="0C6B4F"/>
          </a:solidFill>
          <a:ln w="38100">
            <a:solidFill>
              <a:srgbClr val="7BC9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6048" y="3173531"/>
            <a:ext cx="2240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EKOSISTEM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SEKOLAH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BERKELANJUTAN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32588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499616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5316" y="1492391"/>
            <a:ext cx="1010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 err="1" smtClean="0">
                <a:solidFill>
                  <a:srgbClr val="12355B"/>
                </a:solidFill>
              </a:rPr>
              <a:t>Kepala</a:t>
            </a:r>
            <a:r>
              <a:rPr lang="en-US" sz="1000" dirty="0"/>
              <a:t> </a:t>
            </a:r>
            <a:r>
              <a:rPr lang="en-US" sz="1000" b="1" dirty="0" err="1" smtClean="0">
                <a:solidFill>
                  <a:srgbClr val="12355B"/>
                </a:solidFill>
              </a:rPr>
              <a:t>Sekolah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" y="1801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D6D7E"/>
                </a:solidFill>
              </a:rPr>
              <a:t>Visi, kebijakan, anggaran, evaluasi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3840480" y="987552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1161288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👩‍🏫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70832" y="109728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28C28"/>
                </a:solidFill>
              </a:rPr>
              <a:t>Guru</a:t>
            </a:r>
            <a:endParaRPr lang="en-US" sz="1010" dirty="0"/>
          </a:p>
        </p:txBody>
      </p:sp>
      <p:sp>
        <p:nvSpPr>
          <p:cNvPr id="16" name="Text 14"/>
          <p:cNvSpPr/>
          <p:nvPr/>
        </p:nvSpPr>
        <p:spPr>
          <a:xfrm>
            <a:off x="4183380" y="1364415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D6D7E"/>
                </a:solidFill>
              </a:rPr>
              <a:t>Pembelajaran, teladan, riset, fasilitator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7269480" y="987552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1449" y="1120956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‍</a:t>
            </a: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89777" y="109728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 err="1" smtClean="0">
                <a:solidFill>
                  <a:srgbClr val="E45858"/>
                </a:solidFill>
              </a:rPr>
              <a:t>Peserta</a:t>
            </a:r>
            <a:r>
              <a:rPr lang="en-US" sz="1010" dirty="0"/>
              <a:t> </a:t>
            </a:r>
            <a:r>
              <a:rPr lang="en-US" sz="1010" b="1" dirty="0" err="1" smtClean="0">
                <a:solidFill>
                  <a:srgbClr val="E45858"/>
                </a:solidFill>
              </a:rPr>
              <a:t>Didik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7379208" y="1528109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D6D7E"/>
                </a:solidFill>
              </a:rPr>
              <a:t>Duta lingkungan, tim audit, kampanye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10012680" y="132588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22408" y="1464959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👪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60152" y="1481441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6C5CE7"/>
                </a:solidFill>
              </a:rPr>
              <a:t>Orang</a:t>
            </a:r>
            <a:r>
              <a:rPr lang="en-US" sz="1050" dirty="0"/>
              <a:t> </a:t>
            </a:r>
            <a:r>
              <a:rPr lang="en-US" sz="1050" b="1" dirty="0" err="1" smtClean="0">
                <a:solidFill>
                  <a:srgbClr val="6C5CE7"/>
                </a:solidFill>
              </a:rPr>
              <a:t>Tua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77272" y="18013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D6D7E"/>
                </a:solidFill>
              </a:rPr>
              <a:t>Pembiasaan di rumah dan dukungan program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1051560" y="470916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1288" y="4882896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🌿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81912" y="48188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C6B4F"/>
                </a:solidFill>
              </a:rPr>
              <a:t>Komunitas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C6B4F"/>
                </a:solidFill>
              </a:rPr>
              <a:t>Lokal</a:t>
            </a:r>
            <a:endParaRPr lang="en-US" sz="1010" dirty="0"/>
          </a:p>
        </p:txBody>
      </p:sp>
      <p:sp>
        <p:nvSpPr>
          <p:cNvPr id="28" name="Text 26"/>
          <p:cNvSpPr/>
          <p:nvPr/>
        </p:nvSpPr>
        <p:spPr>
          <a:xfrm>
            <a:off x="1216152" y="51846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D6D7E"/>
                </a:solidFill>
              </a:rPr>
              <a:t>Sumber belajar dan mitra kegiatan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3886200" y="5138928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95928" y="5312664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285036" y="5344668"/>
            <a:ext cx="106420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12355B"/>
                </a:solidFill>
              </a:rPr>
              <a:t>Perguruan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12355B"/>
                </a:solidFill>
              </a:rPr>
              <a:t>Tinggi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4050792" y="56144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D6D7E"/>
                </a:solidFill>
              </a:rPr>
              <a:t>Pendampingan, riset, evaluasi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7269480" y="5138928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79208" y="5223820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799832" y="524865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5D6D7E"/>
                </a:solidFill>
              </a:rPr>
              <a:t>Pemerintah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5D6D7E"/>
                </a:solidFill>
              </a:rPr>
              <a:t>Daerah</a:t>
            </a:r>
            <a:endParaRPr lang="en-US" sz="1010" dirty="0"/>
          </a:p>
        </p:txBody>
      </p:sp>
      <p:sp>
        <p:nvSpPr>
          <p:cNvPr id="36" name="Text 34"/>
          <p:cNvSpPr/>
          <p:nvPr/>
        </p:nvSpPr>
        <p:spPr>
          <a:xfrm>
            <a:off x="7434072" y="56144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D6D7E"/>
                </a:solidFill>
              </a:rPr>
              <a:t>Regulasi, fasilitas, jejaring, penghargaan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10012680" y="470916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08692" y="4804551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♻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543032" y="481888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C6B4F"/>
                </a:solidFill>
              </a:rPr>
              <a:t>Mitra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C6B4F"/>
                </a:solidFill>
              </a:rPr>
              <a:t>Lingkungan</a:t>
            </a:r>
            <a:endParaRPr lang="en-US" sz="1010" dirty="0"/>
          </a:p>
        </p:txBody>
      </p:sp>
      <p:sp>
        <p:nvSpPr>
          <p:cNvPr id="40" name="Text 38"/>
          <p:cNvSpPr/>
          <p:nvPr/>
        </p:nvSpPr>
        <p:spPr>
          <a:xfrm>
            <a:off x="10177272" y="51846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D6D7E"/>
                </a:solidFill>
              </a:rPr>
              <a:t>Bank sampah, CSR, narasumber praktik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2834640" y="6163056"/>
            <a:ext cx="6583680" cy="310896"/>
          </a:xfrm>
          <a:prstGeom prst="roundRect">
            <a:avLst>
              <a:gd name="adj" fmla="val 14706"/>
            </a:avLst>
          </a:prstGeom>
          <a:solidFill>
            <a:srgbClr val="F2ECFF"/>
          </a:solidFill>
          <a:ln w="12700">
            <a:solidFill>
              <a:srgbClr val="F2EC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71800" y="6254496"/>
            <a:ext cx="6309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6C5CE7"/>
                </a:solidFill>
              </a:rPr>
              <a:t>Kolaborasi efektif = peran jelas + komunikasi rutin + evaluasi bersama + komitmen jangka panjang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F28C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84280" y="109728"/>
            <a:ext cx="146304" cy="146304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118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5A. Program Aksi: Sekolah Minim Sampah &amp; Kertas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5029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D6D7E"/>
                </a:solidFill>
              </a:rPr>
              <a:t>Program satu tahun ajaran untuk SDG 4, SDG 12, dan SDG 13.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40080" y="1170432"/>
            <a:ext cx="2971800" cy="4480560"/>
          </a:xfrm>
          <a:prstGeom prst="roundRect">
            <a:avLst>
              <a:gd name="adj" fmla="val 2462"/>
            </a:avLst>
          </a:prstGeom>
          <a:solidFill>
            <a:srgbClr val="FFF6EA"/>
          </a:solidFill>
          <a:ln w="12700">
            <a:solidFill>
              <a:srgbClr val="FAD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4813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dirty="0">
                <a:solidFill>
                  <a:srgbClr val="000000"/>
                </a:solidFill>
              </a:rPr>
              <a:t>♻️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8C28"/>
                </a:solidFill>
              </a:rPr>
              <a:t>Sekolah Minim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28C28"/>
                </a:solidFill>
              </a:rPr>
              <a:t>Sampah &amp; Kertas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5844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D7E"/>
                </a:solidFill>
              </a:rPr>
              <a:t>Target: perubahan kebiasaan konsumsi warga sekolah.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" y="425196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45858"/>
          </a:solidFill>
          <a:ln w="12700">
            <a:solidFill>
              <a:srgbClr val="E4585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43251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SDG 4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719072" y="425196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43251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SDG 12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478024" y="425196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432511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SDG 13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977640" y="117043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1325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28C28"/>
                </a:solidFill>
              </a:rPr>
              <a:t>Tujuan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4142232" y="159105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Mengurangi kertas, plastik sekali pakai, dan sampah campuran; membangun konsumsi bertanggung jawab.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863840" y="117043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1325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28C28"/>
                </a:solidFill>
              </a:rPr>
              <a:t>Kegiatan Utama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028432" y="159105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Audit sampah &amp; kertas; tempat sampah terpilah; bank sampah; digitalisasi tugas; kompos; kampanye kelas; evaluasi bulanan.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977640" y="258775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2232" y="27432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28C28"/>
                </a:solidFill>
              </a:rPr>
              <a:t>Keterlibatan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142232" y="300837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Guru mengintegrasikan data ke mata pelajaran; peserta didik menjadi tim audit, duta sampah, dan pembuat kampanye.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863840" y="258775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27432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28C28"/>
                </a:solidFill>
              </a:rPr>
              <a:t>Integrasi CPD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028432" y="300837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Pelatihan PBL, pengelolaan sampah, literasi data, lesson study, dan refleksi praktik.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3977640" y="400507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42232" y="4160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28C28"/>
                </a:solidFill>
              </a:rPr>
              <a:t>Indikator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142232" y="442569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Kertas &amp; sampah campuran turun ≥30%; 100% kelas memilah sampah; bank sampah aktif; ≥80% warga sekolah terlibat.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863840" y="400507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4160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28C28"/>
                </a:solidFill>
              </a:rPr>
              <a:t>Dampak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8028432" y="442569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Lingkungan bersih, biaya lebih efisien, literasi lingkungan meningkat, kebiasaan baik terbawa ke rumah.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3977640" y="5650992"/>
            <a:ext cx="7452360" cy="384048"/>
          </a:xfrm>
          <a:prstGeom prst="roundRect">
            <a:avLst>
              <a:gd name="adj" fmla="val 11905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60520" y="5769864"/>
            <a:ext cx="7086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28C28"/>
                </a:solidFill>
              </a:rPr>
              <a:t>Kekuatan program: data nyata sekolah dipakai sebagai bahan belajar, dasar keputusan, dan bukti dampak.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0C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84280" y="109728"/>
            <a:ext cx="146304" cy="146304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118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5B. Program Aksi: Kebun Belajar &amp; Aksi Iklim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5029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D6D7E"/>
                </a:solidFill>
              </a:rPr>
              <a:t>Program satu tahun ajaran untuk SDG 4, SDG 13, SDG 15, dan SDG 17.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640080" y="1170432"/>
            <a:ext cx="2971800" cy="4480560"/>
          </a:xfrm>
          <a:prstGeom prst="roundRect">
            <a:avLst>
              <a:gd name="adj" fmla="val 2462"/>
            </a:avLst>
          </a:prstGeom>
          <a:solidFill>
            <a:srgbClr val="EEFAEF"/>
          </a:solidFill>
          <a:ln w="12700">
            <a:solidFill>
              <a:srgbClr val="B8E4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4813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dirty="0">
                <a:solidFill>
                  <a:srgbClr val="000000"/>
                </a:solidFill>
              </a:rPr>
              <a:t>🌿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6B4F"/>
                </a:solidFill>
              </a:rPr>
              <a:t>Kebun Belajar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C6B4F"/>
                </a:solidFill>
              </a:rPr>
              <a:t>&amp; Aksi Iklim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5844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D7E"/>
                </a:solidFill>
              </a:rPr>
              <a:t>Target: ruang belajar hidup, kolaboratif, dan kontekstual.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25196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E45858"/>
          </a:solidFill>
          <a:ln w="12700">
            <a:solidFill>
              <a:srgbClr val="E4585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432511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SDG 4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490472" y="425196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432511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SDG 13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112264" y="425196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21992" y="432511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SDG 15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734056" y="425196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43784" y="432511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SDG 17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977640" y="117043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2232" y="1325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C6B4F"/>
                </a:solidFill>
              </a:rPr>
              <a:t>Tujuan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142232" y="159105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Meningkatkan literasi lingkungan, biodiversitas, aksi iklim, dan kemitraan sekolah.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863840" y="117043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13258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C6B4F"/>
                </a:solidFill>
              </a:rPr>
              <a:t>Kegiatan Utama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8028432" y="159105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Membuat kebun sekolah; menanam tanaman lokal; kompos; biopori; audit energi; observasi cuaca; pameran proyek.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3977640" y="258775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42232" y="27432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C6B4F"/>
                </a:solidFill>
              </a:rPr>
              <a:t>Keterlibatan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142232" y="300837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Guru merancang proyek lintas mapel; peserta didik mengelola kebun, mengumpulkan data, dokumentasi, dan presentasi.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863840" y="258775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432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C6B4F"/>
                </a:solidFill>
              </a:rPr>
              <a:t>Integrasi CPD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028432" y="300837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Lokakarya ESD, pendampingan perguruan tinggi, lesson study, dan refleksi berkala.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3977640" y="400507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2232" y="4160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C6B4F"/>
                </a:solidFill>
              </a:rPr>
              <a:t>Indikator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4142232" y="442569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Seluruh tingkat kelas terlibat; kebun aktif; kompos digunakan; listrik menurun; minimal dua kemitraan eksternal.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863840" y="4005072"/>
            <a:ext cx="35661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28432" y="4160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C6B4F"/>
                </a:solidFill>
              </a:rPr>
              <a:t>Dampak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028432" y="4425696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</a:rPr>
              <a:t>Pembelajaran kontekstual, ruang hijau bertambah, kepedulian iklim meningkat, hubungan sekolah–masyarakat menguat.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3977640" y="5650992"/>
            <a:ext cx="7452360" cy="384048"/>
          </a:xfrm>
          <a:prstGeom prst="roundRect">
            <a:avLst>
              <a:gd name="adj" fmla="val 11905"/>
            </a:avLst>
          </a:prstGeom>
          <a:solidFill>
            <a:srgbClr val="E6F4EA"/>
          </a:solidFill>
          <a:ln w="12700">
            <a:solidFill>
              <a:srgbClr val="E6F4E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5769864"/>
            <a:ext cx="7086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C6B4F"/>
                </a:solidFill>
              </a:rPr>
              <a:t>Kekuatan program: sekolah menjadi laboratorium nyata untuk ESD, bukan hanya tempat belajar teori.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5240">
            <a:solidFill>
              <a:srgbClr val="1235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84280" y="109728"/>
            <a:ext cx="146304" cy="146304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49456" y="118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Peta Jalan 1 Tahun Ajaran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" y="50292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D6D7E"/>
                </a:solidFill>
              </a:rPr>
              <a:t>Agar program tidak insidental, sekolah memerlukan siklus aksi yang terjadwal dan dievaluasi.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2340864" cy="2926080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1536192"/>
            <a:ext cx="694944" cy="694944"/>
          </a:xfrm>
          <a:prstGeom prst="ellipse">
            <a:avLst/>
          </a:prstGeom>
          <a:solidFill>
            <a:srgbClr val="1235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70992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24028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</a:rPr>
              <a:t>Triwulan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670048"/>
            <a:ext cx="182880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Audit awal, pemetaan kebutuhan CPD, pembentukan tim ESD, penyusunan modul proyek.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538728" y="1417320"/>
            <a:ext cx="2340864" cy="2926080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36192"/>
            <a:ext cx="694944" cy="694944"/>
          </a:xfrm>
          <a:prstGeom prst="ellipse">
            <a:avLst/>
          </a:prstGeom>
          <a:solidFill>
            <a:srgbClr val="0C6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70992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21608" y="224028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6B4F"/>
                </a:solidFill>
              </a:rPr>
              <a:t>Triwulan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2670048"/>
            <a:ext cx="182880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Pelaksanaan program minim sampah, digitalisasi tugas, dan kebun sekolah tahap awal.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327648" y="1417320"/>
            <a:ext cx="2340864" cy="2926080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536192"/>
            <a:ext cx="694944" cy="6949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70992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10528" y="224028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C28"/>
                </a:solidFill>
              </a:rPr>
              <a:t>Triwulan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2670048"/>
            <a:ext cx="182880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Lesson study, refleksi data, perbaikan kebijakan, perluasan kemitraan masyarakat.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116568" y="1417320"/>
            <a:ext cx="2340864" cy="2926080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 w="12700">
            <a:solidFill>
              <a:srgbClr val="DEE9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1536192"/>
            <a:ext cx="694944" cy="694944"/>
          </a:xfrm>
          <a:prstGeom prst="ellipse">
            <a:avLst/>
          </a:prstGeom>
          <a:solidFill>
            <a:srgbClr val="6C5CE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170992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99448" y="224028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5CE7"/>
                </a:solidFill>
              </a:rPr>
              <a:t>Triwulan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72600" y="2670048"/>
            <a:ext cx="182880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Pameran SDGs, evaluasi dampak, portofolio guru, publikasi praktik baik.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60120" y="4965192"/>
            <a:ext cx="10287000" cy="841248"/>
          </a:xfrm>
          <a:prstGeom prst="roundRect">
            <a:avLst>
              <a:gd name="adj" fmla="val 8696"/>
            </a:avLst>
          </a:prstGeom>
          <a:solidFill>
            <a:srgbClr val="EFF8F2"/>
          </a:solidFill>
          <a:ln w="12700">
            <a:solidFill>
              <a:srgbClr val="D5E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51572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6B4F"/>
                </a:solidFill>
              </a:rPr>
              <a:t>Indikator Dampak Utama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54680" y="51389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</a:rPr>
              <a:t>Penurunan kertas &amp; sampah ≥30%  •  Komunitas belajar ESD aktif  •  Seluruh kelas terlibat proyek  •  Minimal 2 kemitraan  •  Portofolio dampak guru terkumpul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1965960" y="6016752"/>
            <a:ext cx="8275320" cy="329184"/>
          </a:xfrm>
          <a:prstGeom prst="roundRect">
            <a:avLst>
              <a:gd name="adj" fmla="val 13889"/>
            </a:avLst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610819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CPD bermakna + Budaya berkelanjutan + Kolaborasi kuat = Generasi cerdas, peduli, dan siap membangun masa depan.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694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EAF6FF"/>
                </a:solidFill>
              </a:rPr>
              <a:t>SMP Harapan Bangsa dapat menjadi model SDGs dan ESD ketika CPD menjadi motor perubahan pembelajaran, kebijakan, budaya, dan kemitraan.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68680" y="2880360"/>
            <a:ext cx="402336" cy="402336"/>
          </a:xfrm>
          <a:prstGeom prst="ellipse">
            <a:avLst/>
          </a:prstGeom>
          <a:solidFill>
            <a:srgbClr val="0C6B4F"/>
          </a:solidFill>
          <a:ln w="12700">
            <a:solidFill>
              <a:srgbClr val="0C6B4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980944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29169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Guru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06040" y="29352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7F4"/>
                </a:solidFill>
              </a:rPr>
              <a:t>agen perubahan dan teladan keberlanjutan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557016"/>
            <a:ext cx="402336" cy="40233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65760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3593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Sekolah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06040" y="361188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7F4"/>
                </a:solidFill>
              </a:rPr>
              <a:t>ekosistem belajar, refleksi, dan inovasi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233672"/>
            <a:ext cx="402336" cy="402336"/>
          </a:xfrm>
          <a:prstGeom prst="ellipse">
            <a:avLst/>
          </a:prstGeom>
          <a:solidFill>
            <a:srgbClr val="90BE6D"/>
          </a:solidFill>
          <a:ln w="12700">
            <a:solidFill>
              <a:srgbClr val="90BE6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34256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42702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Program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06040" y="42885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7F4"/>
                </a:solidFill>
              </a:rPr>
              <a:t>terencana, terukur, kolaboratif, berdampak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910328"/>
            <a:ext cx="402336" cy="40233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10912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49469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Dampak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606040" y="49651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7F4"/>
                </a:solidFill>
              </a:rPr>
              <a:t>peserta didik peduli lingkungan dan masyarakat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35240" y="1417320"/>
            <a:ext cx="3383280" cy="356616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18745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🏫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052560" y="18745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🌍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10058400" y="18745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🌱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028432" y="2971800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2355B"/>
                </a:solidFill>
              </a:rPr>
              <a:t>Sekolah berkelanjutan bukan kegiatan tambahan, tetapi cara sekolah belajar, bekerja, dan mengambil keputusan.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C74F"/>
                </a:solidFill>
              </a:rPr>
              <a:t>Terima kasih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88277"/>
                </a:solidFill>
              </a:rPr>
              <a:t>Membangun Budaya Sekolah Berkelanjutan melalui CPD, SDGs, dan ESD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384280" y="64739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C6B4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1611</Words>
  <Application>Microsoft Office PowerPoint</Application>
  <PresentationFormat>Widescreen</PresentationFormat>
  <Paragraphs>288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ChatGPT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Budaya Sekolah Berkelanjutan</dc:title>
  <dc:subject>Membangun Budaya Sekolah Berkelanjutan melalui CPD, SDGs, dan ESD</dc:subject>
  <dc:creator>OpenAI</dc:creator>
  <cp:lastModifiedBy>Microsoft account</cp:lastModifiedBy>
  <cp:revision>5</cp:revision>
  <dcterms:created xsi:type="dcterms:W3CDTF">2026-07-20T05:39:22Z</dcterms:created>
  <dcterms:modified xsi:type="dcterms:W3CDTF">2026-07-20T05:52:26Z</dcterms:modified>
</cp:coreProperties>
</file>