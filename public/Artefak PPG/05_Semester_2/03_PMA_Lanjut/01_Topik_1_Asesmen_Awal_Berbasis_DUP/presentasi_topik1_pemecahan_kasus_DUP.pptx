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09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7.png"/><Relationship Id="rId21" Type="http://schemas.openxmlformats.org/officeDocument/2006/relationships/image" Target="../media/image33.png"/><Relationship Id="rId7" Type="http://schemas.openxmlformats.org/officeDocument/2006/relationships/image" Target="../media/image21.png"/><Relationship Id="rId12" Type="http://schemas.openxmlformats.org/officeDocument/2006/relationships/image" Target="../media/image4.sv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sv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4.svg"/><Relationship Id="rId19" Type="http://schemas.openxmlformats.org/officeDocument/2006/relationships/image" Target="../media/image31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6.svg"/><Relationship Id="rId22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1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13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0.svg"/><Relationship Id="rId9" Type="http://schemas.openxmlformats.org/officeDocument/2006/relationships/image" Target="../media/image39.png"/><Relationship Id="rId14" Type="http://schemas.openxmlformats.org/officeDocument/2006/relationships/image" Target="../media/image4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43.png"/><Relationship Id="rId7" Type="http://schemas.openxmlformats.org/officeDocument/2006/relationships/image" Target="../media/image31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33.png"/><Relationship Id="rId5" Type="http://schemas.openxmlformats.org/officeDocument/2006/relationships/image" Target="../media/image21.png"/><Relationship Id="rId10" Type="http://schemas.openxmlformats.org/officeDocument/2006/relationships/image" Target="../media/image4.svg"/><Relationship Id="rId4" Type="http://schemas.openxmlformats.org/officeDocument/2006/relationships/image" Target="../media/image44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45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47.png"/><Relationship Id="rId5" Type="http://schemas.openxmlformats.org/officeDocument/2006/relationships/image" Target="../media/image25.png"/><Relationship Id="rId15" Type="http://schemas.openxmlformats.org/officeDocument/2006/relationships/image" Target="../media/image15.png"/><Relationship Id="rId10" Type="http://schemas.openxmlformats.org/officeDocument/2006/relationships/image" Target="../media/image24.svg"/><Relationship Id="rId4" Type="http://schemas.openxmlformats.org/officeDocument/2006/relationships/image" Target="../media/image10.svg"/><Relationship Id="rId9" Type="http://schemas.openxmlformats.org/officeDocument/2006/relationships/image" Target="../media/image23.png"/><Relationship Id="rId1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5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31.png"/><Relationship Id="rId5" Type="http://schemas.openxmlformats.org/officeDocument/2006/relationships/image" Target="../media/image53.png"/><Relationship Id="rId10" Type="http://schemas.openxmlformats.org/officeDocument/2006/relationships/image" Target="../media/image56.svg"/><Relationship Id="rId4" Type="http://schemas.openxmlformats.org/officeDocument/2006/relationships/image" Target="../media/image48.sv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5.png"/><Relationship Id="rId7" Type="http://schemas.openxmlformats.org/officeDocument/2006/relationships/image" Target="../media/image33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11" Type="http://schemas.openxmlformats.org/officeDocument/2006/relationships/image" Target="../media/image15.png"/><Relationship Id="rId5" Type="http://schemas.openxmlformats.org/officeDocument/2006/relationships/image" Target="../media/image57.png"/><Relationship Id="rId10" Type="http://schemas.openxmlformats.org/officeDocument/2006/relationships/image" Target="../media/image44.svg"/><Relationship Id="rId4" Type="http://schemas.openxmlformats.org/officeDocument/2006/relationships/image" Target="../media/image36.sv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4937760" cy="5303520"/>
          </a:xfrm>
          <a:prstGeom prst="roundRect">
            <a:avLst>
              <a:gd name="adj" fmla="val 3333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822960"/>
            <a:ext cx="5440680" cy="53035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98448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Pemecahan Kasus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Berbasis DUP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78408" y="2852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F"/>
                </a:solidFill>
              </a:rPr>
              <a:t>Asesmen Awal dan Pembelajaran Inklusif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3310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3FF"/>
                </a:solidFill>
              </a:rPr>
              <a:t>Pembelajaran Mendalam dan Asesmen Lanjut SMK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" y="53492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42239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PPG Informatika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0" y="1325880"/>
            <a:ext cx="508000" cy="508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2440" y="1325880"/>
            <a:ext cx="508000" cy="5080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9800" y="1325880"/>
            <a:ext cx="508000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4D"/>
                </a:solidFill>
              </a:rPr>
              <a:t>Fokus Presentasi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6400800" y="2907792"/>
            <a:ext cx="4434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01968" y="30175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</a:rPr>
              <a:t>Masalah kelas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973568" y="30175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pembelajaran seragam dan tidak kontekstual</a:t>
            </a:r>
            <a:endParaRPr lang="en-US" sz="1220" dirty="0"/>
          </a:p>
        </p:txBody>
      </p:sp>
      <p:sp>
        <p:nvSpPr>
          <p:cNvPr id="17" name="Shape 12"/>
          <p:cNvSpPr/>
          <p:nvPr/>
        </p:nvSpPr>
        <p:spPr>
          <a:xfrm>
            <a:off x="6400800" y="3621024"/>
            <a:ext cx="4434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01968" y="37307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63B6"/>
                </a:solidFill>
              </a:rPr>
              <a:t>Asesmen awal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973568" y="37307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pemetaan kesiapan, minat, pengalaman, kebutuhan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6400800" y="4334256"/>
            <a:ext cx="4434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01968" y="44439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Solusi DUP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973568" y="444398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diferensiasi, pilihan belajar, dan tindak lanjut</a:t>
            </a:r>
            <a:endParaRPr lang="en-US" sz="1220" dirty="0"/>
          </a:p>
        </p:txBody>
      </p:sp>
      <p:sp>
        <p:nvSpPr>
          <p:cNvPr id="23" name="Shap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Dari asesmen awal menuju pembelajaran SMK yang relevan, bermakna, dan inklusif.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Isi Presentasi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1901952" cy="29260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993392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130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312" y="2697480"/>
            <a:ext cx="317500" cy="317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1272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Kasus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5528" y="3584448"/>
            <a:ext cx="1499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Ketidakselarasan pembelajaran dengan karakteristik murid dan dunia kerja.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51176" y="3054096"/>
            <a:ext cx="256032" cy="502920"/>
          </a:xfrm>
          <a:prstGeom prst="chevron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98648" y="1828800"/>
            <a:ext cx="1901952" cy="29260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1993392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2130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0" y="2697480"/>
            <a:ext cx="317500" cy="317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81528" y="31272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Analisis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099816" y="3584448"/>
            <a:ext cx="1499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Faktor internal, eksternal, dan dampak bagi murid serta guru.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55464" y="3054096"/>
            <a:ext cx="256032" cy="502920"/>
          </a:xfrm>
          <a:prstGeom prst="chevron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02936" y="1828800"/>
            <a:ext cx="1901952" cy="29260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824728" y="1993392"/>
            <a:ext cx="658368" cy="658368"/>
          </a:xfrm>
          <a:prstGeom prst="ellipse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24728" y="2130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1888" y="2697480"/>
            <a:ext cx="317500" cy="3175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85816" y="31272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3B6"/>
                </a:solidFill>
              </a:rPr>
              <a:t>Strategi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404104" y="3584448"/>
            <a:ext cx="1499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PjBL, diferensiasi, simulasi kerja, DUP, dan kolaborasi industri.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159752" y="3054096"/>
            <a:ext cx="256032" cy="502920"/>
          </a:xfrm>
          <a:prstGeom prst="chevron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07224" y="1828800"/>
            <a:ext cx="1901952" cy="29260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29016" y="199339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129016" y="2130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66176" y="2697480"/>
            <a:ext cx="317500" cy="3175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690104" y="31272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Solusi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708392" y="3584448"/>
            <a:ext cx="1499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Pembelajaran berdiferensiasi berbasis asesmen awal dengan prinsip DUP.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9464040" y="3054096"/>
            <a:ext cx="256032" cy="502920"/>
          </a:xfrm>
          <a:prstGeom prst="chevron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811512" y="1828800"/>
            <a:ext cx="1901952" cy="292608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433304" y="1993392"/>
            <a:ext cx="658368" cy="6583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433304" y="2130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70464" y="2697480"/>
            <a:ext cx="317500" cy="3175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994392" y="31272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</a:rPr>
              <a:t>Tindak Lanjut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10012680" y="3584448"/>
            <a:ext cx="14996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Asesmen multimodal, kelompok fleksibel, asesmen formatif, refleksi.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1371600" y="557784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</a:rPr>
              <a:t>Benang merah: asesmen awal bukan sekadar nilai awal, tetapi dasar keputusan pembelajaran.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Roadmap penyajian materi Topik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 1: Pembelajaran Seragam di Beragam Program Keahlian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Pak Adit mengajar tujuh program keahlian dengan materi, ceramah, dan LK yang sama untuk semua kelas.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0020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FFF0F0"/>
          </a:solidFill>
          <a:ln w="1524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1901952"/>
            <a:ext cx="431800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F4444"/>
                </a:solidFill>
              </a:rPr>
              <a:t>Masalah Utama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24231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D"/>
                </a:solidFill>
              </a:rPr>
              <a:t>Ketidakselarasan pembelajaran dengan karakteristik murid, program keahlian, dan kebutuhan dunia kerja.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6676"/>
                </a:solidFill>
              </a:rPr>
              <a:t>Efisien bagi guru, tetapi belum efektif dan bermakna bagi murid.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51960" y="1719072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3B6"/>
                </a:solidFill>
              </a:rPr>
              <a:t>TKR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89120" y="2377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676"/>
                </a:solidFill>
              </a:rPr>
              <a:t>bengkel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5120" y="1719072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Tata Boga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12280" y="2377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676"/>
                </a:solidFill>
              </a:rPr>
              <a:t>dapur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098280" y="1719072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5440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Akuntansi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35440" y="2377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676"/>
                </a:solidFill>
              </a:rPr>
              <a:t>transaksi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251960" y="3502152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</a:rPr>
              <a:t>DKV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389120" y="41605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676"/>
                </a:solidFill>
              </a:rPr>
              <a:t>media visual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675120" y="3502152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228B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3703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8B22"/>
                </a:solidFill>
              </a:rPr>
              <a:t>Perhotelan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12280" y="41605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676"/>
                </a:solidFill>
              </a:rPr>
              <a:t>layanan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251960" y="5193792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</a:rPr>
              <a:t>Kebutuhan belajar berbeda, tetapi pendekatan masih sama.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Kasus menunjukkan pentingnya asesmen awal dan pembelajaran inklusif.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Faktor Penyebab: Internal dan Eksternal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Masalah kelas muncul dari desain pembelajaran, keterbatasan sistem, dan belum optimalnya kolaborasi.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00200"/>
            <a:ext cx="50292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228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562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Faktor Internal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304288"/>
            <a:ext cx="203200" cy="20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500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Guru mengutamakan efisiensi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960120" y="2715768"/>
            <a:ext cx="4480560" cy="0"/>
          </a:xfrm>
          <a:prstGeom prst="line">
            <a:avLst/>
          </a:prstGeom>
          <a:noFill/>
          <a:ln w="12700">
            <a:solidFill>
              <a:srgbClr val="CDE0D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2807208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Ceramah dan LK mendominasi</a:t>
            </a:r>
            <a:endParaRPr lang="en-US" sz="1270" dirty="0"/>
          </a:p>
        </p:txBody>
      </p:sp>
      <p:sp>
        <p:nvSpPr>
          <p:cNvPr id="14" name="Shape 10"/>
          <p:cNvSpPr/>
          <p:nvPr/>
        </p:nvSpPr>
        <p:spPr>
          <a:xfrm>
            <a:off x="960120" y="3218688"/>
            <a:ext cx="4480560" cy="0"/>
          </a:xfrm>
          <a:prstGeom prst="line">
            <a:avLst/>
          </a:prstGeom>
          <a:noFill/>
          <a:ln w="12700">
            <a:solidFill>
              <a:srgbClr val="CDE0D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3310128"/>
            <a:ext cx="203200" cy="203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355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Belum ada asesmen awal</a:t>
            </a:r>
            <a:endParaRPr lang="en-US" sz="1270" dirty="0"/>
          </a:p>
        </p:txBody>
      </p:sp>
      <p:sp>
        <p:nvSpPr>
          <p:cNvPr id="17" name="Shape 12"/>
          <p:cNvSpPr/>
          <p:nvPr/>
        </p:nvSpPr>
        <p:spPr>
          <a:xfrm>
            <a:off x="960120" y="3721608"/>
            <a:ext cx="4480560" cy="0"/>
          </a:xfrm>
          <a:prstGeom prst="line">
            <a:avLst/>
          </a:prstGeom>
          <a:noFill/>
          <a:ln w="12700">
            <a:solidFill>
              <a:srgbClr val="CDE0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120" y="3813048"/>
            <a:ext cx="203200" cy="203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858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Belum memahami variasi murid</a:t>
            </a:r>
            <a:endParaRPr lang="en-US" sz="1270" dirty="0"/>
          </a:p>
        </p:txBody>
      </p:sp>
      <p:sp>
        <p:nvSpPr>
          <p:cNvPr id="20" name="Shape 14"/>
          <p:cNvSpPr/>
          <p:nvPr/>
        </p:nvSpPr>
        <p:spPr>
          <a:xfrm>
            <a:off x="960120" y="4224528"/>
            <a:ext cx="4480560" cy="0"/>
          </a:xfrm>
          <a:prstGeom prst="line">
            <a:avLst/>
          </a:prstGeom>
          <a:noFill/>
          <a:ln w="12700">
            <a:solidFill>
              <a:srgbClr val="CDE0D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120" y="4315968"/>
            <a:ext cx="203200" cy="203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361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Belum menerapkan DUP</a:t>
            </a:r>
            <a:endParaRPr lang="en-US" sz="1270" dirty="0"/>
          </a:p>
        </p:txBody>
      </p:sp>
      <p:sp>
        <p:nvSpPr>
          <p:cNvPr id="23" name="Shape 16"/>
          <p:cNvSpPr/>
          <p:nvPr/>
        </p:nvSpPr>
        <p:spPr>
          <a:xfrm>
            <a:off x="960120" y="4727448"/>
            <a:ext cx="4480560" cy="0"/>
          </a:xfrm>
          <a:prstGeom prst="line">
            <a:avLst/>
          </a:prstGeom>
          <a:noFill/>
          <a:ln w="12700">
            <a:solidFill>
              <a:srgbClr val="CDE0D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0120" y="4818888"/>
            <a:ext cx="203200" cy="203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48646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Keterbatasan desain diferensiatif</a:t>
            </a:r>
            <a:endParaRPr lang="en-US" sz="1270" dirty="0"/>
          </a:p>
        </p:txBody>
      </p:sp>
      <p:sp>
        <p:nvSpPr>
          <p:cNvPr id="26" name="Shape 18"/>
          <p:cNvSpPr/>
          <p:nvPr/>
        </p:nvSpPr>
        <p:spPr>
          <a:xfrm>
            <a:off x="6446520" y="1600200"/>
            <a:ext cx="50292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647688" y="17830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757416" y="185623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Faktor Eksternal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93408" y="2304288"/>
            <a:ext cx="203200" cy="203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50608" y="23500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Program keahlian dan kelas banyak</a:t>
            </a:r>
            <a:endParaRPr lang="en-US" sz="1270" dirty="0"/>
          </a:p>
        </p:txBody>
      </p:sp>
      <p:sp>
        <p:nvSpPr>
          <p:cNvPr id="31" name="Shape 22"/>
          <p:cNvSpPr/>
          <p:nvPr/>
        </p:nvSpPr>
        <p:spPr>
          <a:xfrm>
            <a:off x="6693408" y="2715768"/>
            <a:ext cx="4480560" cy="0"/>
          </a:xfrm>
          <a:prstGeom prst="line">
            <a:avLst/>
          </a:prstGeom>
          <a:noFill/>
          <a:ln w="12700">
            <a:solidFill>
              <a:srgbClr val="C7D7F5"/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93408" y="2807208"/>
            <a:ext cx="203200" cy="203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50608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Beban mengajar dan administrasi</a:t>
            </a:r>
            <a:endParaRPr lang="en-US" sz="1270" dirty="0"/>
          </a:p>
        </p:txBody>
      </p:sp>
      <p:sp>
        <p:nvSpPr>
          <p:cNvPr id="34" name="Shape 24"/>
          <p:cNvSpPr/>
          <p:nvPr/>
        </p:nvSpPr>
        <p:spPr>
          <a:xfrm>
            <a:off x="6693408" y="3218688"/>
            <a:ext cx="4480560" cy="0"/>
          </a:xfrm>
          <a:prstGeom prst="line">
            <a:avLst/>
          </a:prstGeom>
          <a:noFill/>
          <a:ln w="12700">
            <a:solidFill>
              <a:srgbClr val="C7D7F5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408" y="3310128"/>
            <a:ext cx="203200" cy="2032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50608" y="3355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Waktu perencanaan terbatas</a:t>
            </a:r>
            <a:endParaRPr lang="en-US" sz="1270" dirty="0"/>
          </a:p>
        </p:txBody>
      </p:sp>
      <p:sp>
        <p:nvSpPr>
          <p:cNvPr id="37" name="Shape 26"/>
          <p:cNvSpPr/>
          <p:nvPr/>
        </p:nvSpPr>
        <p:spPr>
          <a:xfrm>
            <a:off x="6693408" y="3721608"/>
            <a:ext cx="4480560" cy="0"/>
          </a:xfrm>
          <a:prstGeom prst="line">
            <a:avLst/>
          </a:prstGeom>
          <a:noFill/>
          <a:ln w="12700">
            <a:solidFill>
              <a:srgbClr val="C7D7F5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93408" y="3813048"/>
            <a:ext cx="203200" cy="2032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50608" y="38587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Alat, bahan, dan fasilitas terbatas</a:t>
            </a:r>
            <a:endParaRPr lang="en-US" sz="1270" dirty="0"/>
          </a:p>
        </p:txBody>
      </p:sp>
      <p:sp>
        <p:nvSpPr>
          <p:cNvPr id="40" name="Shape 28"/>
          <p:cNvSpPr/>
          <p:nvPr/>
        </p:nvSpPr>
        <p:spPr>
          <a:xfrm>
            <a:off x="6693408" y="4224528"/>
            <a:ext cx="4480560" cy="0"/>
          </a:xfrm>
          <a:prstGeom prst="line">
            <a:avLst/>
          </a:prstGeom>
          <a:noFill/>
          <a:ln w="12700">
            <a:solidFill>
              <a:srgbClr val="C7D7F5"/>
            </a:solidFill>
            <a:prstDash val="solid"/>
          </a:ln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93408" y="4315968"/>
            <a:ext cx="203200" cy="2032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150608" y="4361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Kolaborasi lintas guru kurang</a:t>
            </a:r>
            <a:endParaRPr lang="en-US" sz="1270" dirty="0"/>
          </a:p>
        </p:txBody>
      </p:sp>
      <p:sp>
        <p:nvSpPr>
          <p:cNvPr id="43" name="Shape 30"/>
          <p:cNvSpPr/>
          <p:nvPr/>
        </p:nvSpPr>
        <p:spPr>
          <a:xfrm>
            <a:off x="6693408" y="4727448"/>
            <a:ext cx="4480560" cy="0"/>
          </a:xfrm>
          <a:prstGeom prst="line">
            <a:avLst/>
          </a:prstGeom>
          <a:noFill/>
          <a:ln w="12700">
            <a:solidFill>
              <a:srgbClr val="C7D7F5"/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93408" y="4818888"/>
            <a:ext cx="203200" cy="20320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7150608" y="48646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</a:rPr>
              <a:t>Keterlibatan mitra belum optimal</a:t>
            </a:r>
            <a:endParaRPr lang="en-US" sz="1270" dirty="0"/>
          </a:p>
        </p:txBody>
      </p:sp>
      <p:sp>
        <p:nvSpPr>
          <p:cNvPr id="46" name="Text 32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Faktor penyebab dibaca sebagai dasar menentukan strategi, bukan untuk menyalahkan guru.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Dampak Pembelajaran yang Tidak Kontekstual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Ketika konteks, dukungan, dan cara menunjukkan pemahaman tidak beragam, dampaknya menyentuh murid dan guru.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459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1938528"/>
            <a:ext cx="330200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Monoton &amp; teoritis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0472" y="228600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Pembelajaran terasa jauh dari praktik kerja.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507992" y="16459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592" y="1938528"/>
            <a:ext cx="330200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63B6"/>
                </a:solidFill>
              </a:rPr>
              <a:t>Materi tidak relevan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85232" y="228600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Murid sulit melihat manfaat bagi jurusan.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302752" y="164592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0F0"/>
          </a:solidFill>
          <a:ln w="15240">
            <a:solidFill>
              <a:srgbClr val="EF44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352" y="1938528"/>
            <a:ext cx="330200" cy="33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79992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Motivasi menurun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079992" y="228600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Keterlibatan dan disiplin ikut melemah.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713232" y="365760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832" y="3950208"/>
            <a:ext cx="330200" cy="330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0472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</a:rPr>
              <a:t>Agency belum tumbuh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490472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Voice dan ownership murid tidak berkembang.</a:t>
            </a:r>
            <a:endParaRPr lang="en-US" sz="1180" dirty="0"/>
          </a:p>
        </p:txBody>
      </p:sp>
      <p:sp>
        <p:nvSpPr>
          <p:cNvPr id="22" name="Shape 16"/>
          <p:cNvSpPr/>
          <p:nvPr/>
        </p:nvSpPr>
        <p:spPr>
          <a:xfrm>
            <a:off x="4507992" y="365760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36592" y="3950208"/>
            <a:ext cx="330200" cy="330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5232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Hasil belum optimal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285232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Capaian belajar tidak sesuai harapan.</a:t>
            </a:r>
            <a:endParaRPr lang="en-US" sz="1180" dirty="0"/>
          </a:p>
        </p:txBody>
      </p:sp>
      <p:sp>
        <p:nvSpPr>
          <p:cNvPr id="26" name="Shape 19"/>
          <p:cNvSpPr/>
          <p:nvPr/>
        </p:nvSpPr>
        <p:spPr>
          <a:xfrm>
            <a:off x="8302752" y="365760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0F0"/>
          </a:solidFill>
          <a:ln w="15240">
            <a:solidFill>
              <a:srgbClr val="EF4444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1352" y="3950208"/>
            <a:ext cx="330200" cy="330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Guru kelelahan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9079992" y="4297680"/>
            <a:ext cx="2148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Frustrasi karena usaha mengajar belum berdampak.</a:t>
            </a:r>
            <a:endParaRPr lang="en-US" sz="1180" dirty="0"/>
          </a:p>
        </p:txBody>
      </p:sp>
      <p:sp>
        <p:nvSpPr>
          <p:cNvPr id="30" name="Shape 22"/>
          <p:cNvSpPr/>
          <p:nvPr/>
        </p:nvSpPr>
        <p:spPr>
          <a:xfrm>
            <a:off x="1097280" y="5806440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FFF4CC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1325880" y="5934456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4D"/>
                </a:solidFill>
              </a:rPr>
              <a:t>Implikasi: guru perlu berpindah dari “satu cara untuk semua” menjadi “satu tujuan, banyak jalan belajar”.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Dampak menjadi alasan kuat untuk menerapkan asesmen awal dan DUP.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Alternatif Strategi Pemecahan Kasus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Hasil diskusi menimbang kelebihan dan keterbatasan tiap strategi sebelum memilih solusi utama.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901952" cy="33375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9032" y="2148840"/>
            <a:ext cx="40640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6D28D9"/>
                </a:solidFill>
              </a:rPr>
              <a:t>PjBL kontekstual</a:t>
            </a:r>
            <a:endParaRPr lang="en-US" sz="1480" dirty="0"/>
          </a:p>
        </p:txBody>
      </p:sp>
      <p:sp>
        <p:nvSpPr>
          <p:cNvPr id="9" name="Text 6"/>
          <p:cNvSpPr/>
          <p:nvPr/>
        </p:nvSpPr>
        <p:spPr>
          <a:xfrm>
            <a:off x="868680" y="3520440"/>
            <a:ext cx="15361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676"/>
                </a:solidFill>
              </a:rPr>
              <a:t>Proyek sesuai program keahlian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2990088" y="1828800"/>
            <a:ext cx="1901952" cy="33375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3320" y="2148840"/>
            <a:ext cx="40640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E63B6"/>
                </a:solidFill>
              </a:rPr>
              <a:t>Diferensiasi berbasis asesmen awal</a:t>
            </a:r>
            <a:endParaRPr lang="en-US" sz="1480" dirty="0"/>
          </a:p>
        </p:txBody>
      </p:sp>
      <p:sp>
        <p:nvSpPr>
          <p:cNvPr id="13" name="Text 9"/>
          <p:cNvSpPr/>
          <p:nvPr/>
        </p:nvSpPr>
        <p:spPr>
          <a:xfrm>
            <a:off x="3172968" y="3520440"/>
            <a:ext cx="15361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676"/>
                </a:solidFill>
              </a:rPr>
              <a:t>Dukungan dan tantangan sesuai data murid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294376" y="1828800"/>
            <a:ext cx="1901952" cy="33375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7608" y="2148840"/>
            <a:ext cx="406400" cy="406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58968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0D9488"/>
                </a:solidFill>
              </a:rPr>
              <a:t>Simulasi kerja &amp; kasus autentik</a:t>
            </a:r>
            <a:endParaRPr lang="en-US" sz="1480" dirty="0"/>
          </a:p>
        </p:txBody>
      </p:sp>
      <p:sp>
        <p:nvSpPr>
          <p:cNvPr id="17" name="Text 12"/>
          <p:cNvSpPr/>
          <p:nvPr/>
        </p:nvSpPr>
        <p:spPr>
          <a:xfrm>
            <a:off x="5477256" y="3520440"/>
            <a:ext cx="15361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676"/>
                </a:solidFill>
              </a:rPr>
              <a:t>Skenario menyerupai dunia kerja</a:t>
            </a:r>
            <a:endParaRPr lang="en-US" sz="1130" dirty="0"/>
          </a:p>
        </p:txBody>
      </p:sp>
      <p:sp>
        <p:nvSpPr>
          <p:cNvPr id="18" name="Shape 13"/>
          <p:cNvSpPr/>
          <p:nvPr/>
        </p:nvSpPr>
        <p:spPr>
          <a:xfrm>
            <a:off x="7598664" y="1828800"/>
            <a:ext cx="1901952" cy="33375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1896" y="2148840"/>
            <a:ext cx="406400" cy="406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63256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F97316"/>
                </a:solidFill>
              </a:rPr>
              <a:t>Penerapan DUP</a:t>
            </a:r>
            <a:endParaRPr lang="en-US" sz="1480" dirty="0"/>
          </a:p>
        </p:txBody>
      </p:sp>
      <p:sp>
        <p:nvSpPr>
          <p:cNvPr id="21" name="Text 15"/>
          <p:cNvSpPr/>
          <p:nvPr/>
        </p:nvSpPr>
        <p:spPr>
          <a:xfrm>
            <a:off x="7781544" y="3520440"/>
            <a:ext cx="15361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676"/>
                </a:solidFill>
              </a:rPr>
              <a:t>Beragam representasi, keterlibatan, aksi</a:t>
            </a:r>
            <a:endParaRPr lang="en-US" sz="1130" dirty="0"/>
          </a:p>
        </p:txBody>
      </p:sp>
      <p:sp>
        <p:nvSpPr>
          <p:cNvPr id="22" name="Shape 16"/>
          <p:cNvSpPr/>
          <p:nvPr/>
        </p:nvSpPr>
        <p:spPr>
          <a:xfrm>
            <a:off x="9902952" y="1828800"/>
            <a:ext cx="1901952" cy="333756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240">
            <a:solidFill>
              <a:srgbClr val="228B2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16184" y="2148840"/>
            <a:ext cx="406400" cy="406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67544" y="2880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28B22"/>
                </a:solidFill>
              </a:rPr>
              <a:t>Kolaborasi produktif/industri</a:t>
            </a:r>
            <a:endParaRPr lang="en-US" sz="1480" dirty="0"/>
          </a:p>
        </p:txBody>
      </p:sp>
      <p:sp>
        <p:nvSpPr>
          <p:cNvPr id="25" name="Text 18"/>
          <p:cNvSpPr/>
          <p:nvPr/>
        </p:nvSpPr>
        <p:spPr>
          <a:xfrm>
            <a:off x="10085832" y="3520440"/>
            <a:ext cx="15361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5D6676"/>
                </a:solidFill>
              </a:rPr>
              <a:t>Masukan dari guru kejuruan dan mitra</a:t>
            </a:r>
            <a:endParaRPr lang="en-US" sz="1130" dirty="0"/>
          </a:p>
        </p:txBody>
      </p:sp>
      <p:sp>
        <p:nvSpPr>
          <p:cNvPr id="26" name="Shape 19"/>
          <p:cNvSpPr/>
          <p:nvPr/>
        </p:nvSpPr>
        <p:spPr>
          <a:xfrm>
            <a:off x="5440680" y="5230368"/>
            <a:ext cx="1234440" cy="502920"/>
          </a:xfrm>
          <a:prstGeom prst="down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194560" y="5806440"/>
            <a:ext cx="7818120" cy="420624"/>
          </a:xfrm>
          <a:prstGeom prst="roundRect">
            <a:avLst>
              <a:gd name="adj" fmla="val 17391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423160" y="5925312"/>
            <a:ext cx="7360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</a:rPr>
              <a:t>Strategi dipilih: diferensiasi berbasis asesmen awal dengan prinsip DUP.</a:t>
            </a:r>
            <a:endParaRPr lang="en-US" sz="1340" dirty="0"/>
          </a:p>
        </p:txBody>
      </p:sp>
      <p:sp>
        <p:nvSpPr>
          <p:cNvPr id="29" name="Text 22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Alternatif tetap dapat dipakai sebagai aktivitas pendukung.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Solusi Terpilih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Pembelajaran berdiferensiasi berbasis asesmen awal dengan prinsip Desain Universal untuk Pembelajaran.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DDF7F3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202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</a:rPr>
              <a:t>Pembelajaran berdiferensiasi berbasis asesmen awal dengan prinsip DUP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21792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3703320"/>
            <a:ext cx="317500" cy="317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Petakan kemampuan awal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1975104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3200" y="3703320"/>
            <a:ext cx="317500" cy="317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14016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Sesuaikan konteks &amp; dukungan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3639312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950208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7408" y="3703320"/>
            <a:ext cx="317500" cy="317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78224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Gunakan berbagai representasi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303520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14416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1616" y="3703320"/>
            <a:ext cx="317500" cy="3175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42432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Sediakan variasi keterlibatan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6967728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78624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5824" y="3703320"/>
            <a:ext cx="317500" cy="3175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06640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Beri pilihan ekspresi</a:t>
            </a:r>
            <a:endParaRPr lang="en-US" sz="1030" dirty="0"/>
          </a:p>
        </p:txBody>
      </p:sp>
      <p:sp>
        <p:nvSpPr>
          <p:cNvPr id="27" name="Shape 20"/>
          <p:cNvSpPr/>
          <p:nvPr/>
        </p:nvSpPr>
        <p:spPr>
          <a:xfrm>
            <a:off x="8631936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942832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00032" y="3703320"/>
            <a:ext cx="317500" cy="3175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70848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Terapkan formatif</a:t>
            </a:r>
            <a:endParaRPr lang="en-US" sz="1030" dirty="0"/>
          </a:p>
        </p:txBody>
      </p:sp>
      <p:sp>
        <p:nvSpPr>
          <p:cNvPr id="31" name="Shape 23"/>
          <p:cNvSpPr/>
          <p:nvPr/>
        </p:nvSpPr>
        <p:spPr>
          <a:xfrm>
            <a:off x="10296144" y="3977640"/>
            <a:ext cx="228600" cy="292608"/>
          </a:xfrm>
          <a:prstGeom prst="chevron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0607040" y="3474720"/>
            <a:ext cx="129844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64240" y="3703320"/>
            <a:ext cx="317500" cy="3175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735056" y="41605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F4D"/>
                </a:solidFill>
              </a:rPr>
              <a:t>Refleksi &amp; tindak lanjut</a:t>
            </a:r>
            <a:endParaRPr lang="en-US" sz="1030" dirty="0"/>
          </a:p>
        </p:txBody>
      </p:sp>
      <p:sp>
        <p:nvSpPr>
          <p:cNvPr id="35" name="Text 26"/>
          <p:cNvSpPr/>
          <p:nvPr/>
        </p:nvSpPr>
        <p:spPr>
          <a:xfrm>
            <a:off x="914400" y="5303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D"/>
                </a:solidFill>
              </a:rPr>
              <a:t>Mengapa dipilih?</a:t>
            </a:r>
            <a:endParaRPr lang="en-US" sz="1700" dirty="0"/>
          </a:p>
        </p:txBody>
      </p:sp>
      <p:sp>
        <p:nvSpPr>
          <p:cNvPr id="36" name="Text 27"/>
          <p:cNvSpPr/>
          <p:nvPr/>
        </p:nvSpPr>
        <p:spPr>
          <a:xfrm>
            <a:off x="2788920" y="5248656"/>
            <a:ext cx="8275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6676"/>
                </a:solidFill>
              </a:rPr>
              <a:t>Karena asesmen awal menjadi fondasi untuk memahami kesiapan, minat, pengalaman, kebutuhan, dukungan, dan tingkat tantangan murid sebelum pembelajaran dirancang.</a:t>
            </a:r>
            <a:endParaRPr lang="en-US" sz="1320" dirty="0"/>
          </a:p>
        </p:txBody>
      </p:sp>
      <p:sp>
        <p:nvSpPr>
          <p:cNvPr id="37" name="Text 28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Solusi utama: satu tujuan kompetensi, banyak akses menuju belajar.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Prinsip DUP dalam Pembelajaran SMK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DUP memberi beragam akses agar murid dapat memperoleh informasi, terlibat, dan menunjukkan kompetensi.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8840" y="22128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9718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3B6"/>
                </a:solidFill>
              </a:rPr>
              <a:t>Beragam Representasi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52144" y="3566160"/>
            <a:ext cx="239572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D6676"/>
                </a:solidFill>
              </a:rPr>
              <a:t>Materi melalui teks, video, gambar, demonstrasi, komponen nyata, atau simulasi.</a:t>
            </a:r>
            <a:endParaRPr lang="en-US" sz="121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880" y="22128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9718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Beragam Keterlibatan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01184" y="3566160"/>
            <a:ext cx="239572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D6676"/>
                </a:solidFill>
              </a:rPr>
              <a:t>Pilihan konteks, peran, tantangan, dan aktivitas yang relevan dengan minat/program keahlian.</a:t>
            </a:r>
            <a:endParaRPr lang="en-US" sz="121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063240" cy="31546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6920" y="221284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29718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Beragam Aksi &amp; Ekspresi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650224" y="3566160"/>
            <a:ext cx="239572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D6676"/>
                </a:solidFill>
              </a:rPr>
              <a:t>Murid dapat menunjukkan pemahaman melalui laporan, presentasi, produk, praktik, atau demonstrasi.</a:t>
            </a:r>
            <a:endParaRPr lang="en-US" sz="1210" dirty="0"/>
          </a:p>
        </p:txBody>
      </p:sp>
      <p:sp>
        <p:nvSpPr>
          <p:cNvPr id="18" name="Shape 13"/>
          <p:cNvSpPr/>
          <p:nvPr/>
        </p:nvSpPr>
        <p:spPr>
          <a:xfrm>
            <a:off x="2011680" y="5577840"/>
            <a:ext cx="8183880" cy="457200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240280" y="571500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Kunci: pilihan cara belajar tetap diarahkan pada tujuan kompetensi yang sama.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DUP bukan sekadar variasi media, tetapi desain pembelajaran yang inklusif.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Asesmen Awal Multimodal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Murid diberi beragam cara menunjukkan kemampuan awal secara adil dan autentik.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18288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" y="1947672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25420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D9488"/>
                </a:solidFill>
              </a:rPr>
              <a:t>Percakapan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pengalaman, minat, hambatan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63240" y="1737360"/>
            <a:ext cx="18288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9040" y="194767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27832" y="25420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63B6"/>
                </a:solidFill>
              </a:rPr>
              <a:t>Observasi</a:t>
            </a:r>
            <a:endParaRPr lang="en-US" sz="1280" dirty="0"/>
          </a:p>
        </p:txBody>
      </p:sp>
      <p:sp>
        <p:nvSpPr>
          <p:cNvPr id="13" name="Text 9"/>
          <p:cNvSpPr/>
          <p:nvPr/>
        </p:nvSpPr>
        <p:spPr>
          <a:xfrm>
            <a:off x="3246120" y="2788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cara kerja dan respons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349240" y="1737360"/>
            <a:ext cx="18288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5040" y="1947672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13832" y="25420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97316"/>
                </a:solidFill>
              </a:rPr>
              <a:t>Gambar/Video</a:t>
            </a:r>
            <a:endParaRPr lang="en-US" sz="1280" dirty="0"/>
          </a:p>
        </p:txBody>
      </p:sp>
      <p:sp>
        <p:nvSpPr>
          <p:cNvPr id="17" name="Text 12"/>
          <p:cNvSpPr/>
          <p:nvPr/>
        </p:nvSpPr>
        <p:spPr>
          <a:xfrm>
            <a:off x="5532120" y="2788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identifikasi dan pemahaman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635240" y="1737360"/>
            <a:ext cx="18288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1040" y="1947672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99832" y="25420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6D28D9"/>
                </a:solidFill>
              </a:rPr>
              <a:t>Studi Kasus</a:t>
            </a:r>
            <a:endParaRPr lang="en-US" sz="1280" dirty="0"/>
          </a:p>
        </p:txBody>
      </p:sp>
      <p:sp>
        <p:nvSpPr>
          <p:cNvPr id="21" name="Text 15"/>
          <p:cNvSpPr/>
          <p:nvPr/>
        </p:nvSpPr>
        <p:spPr>
          <a:xfrm>
            <a:off x="7818120" y="2788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cara berpikir dan keputusan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921240" y="1737360"/>
            <a:ext cx="18288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228B2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07040" y="1947672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85832" y="25420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28B22"/>
                </a:solidFill>
              </a:rPr>
              <a:t>Praktik Sederhana</a:t>
            </a:r>
            <a:endParaRPr lang="en-US" sz="1280" dirty="0"/>
          </a:p>
        </p:txBody>
      </p:sp>
      <p:sp>
        <p:nvSpPr>
          <p:cNvPr id="25" name="Text 18"/>
          <p:cNvSpPr/>
          <p:nvPr/>
        </p:nvSpPr>
        <p:spPr>
          <a:xfrm>
            <a:off x="10104120" y="2788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keterampilan awal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623560" y="3337560"/>
            <a:ext cx="914400" cy="50292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417320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600200" y="4498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63B6"/>
                </a:solidFill>
              </a:rPr>
              <a:t>Penguatan dasar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600200" y="48646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panduan bertahap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663440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DDF7F3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46320" y="4498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D9488"/>
                </a:solidFill>
              </a:rPr>
              <a:t>Tahap berkembang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4846320" y="48646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latihan kontekstual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7909560" y="42519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2E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092440" y="4498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97316"/>
                </a:solidFill>
              </a:rPr>
              <a:t>Tantangan lanjutan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8092440" y="48646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676"/>
                </a:solidFill>
              </a:rPr>
              <a:t>proyek/studi kasus kompleks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Asesmen awal menghasilkan peta kebutuhan belajar, bukan label permanen.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Rencana Tindak Lanjut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Langkah realistis untuk mengubah solusi menjadi praktik pembelajaran.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73352"/>
            <a:ext cx="658368" cy="658368"/>
          </a:xfrm>
          <a:prstGeom prst="ellipse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105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737360" y="1627632"/>
            <a:ext cx="9555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392" y="1920240"/>
            <a:ext cx="292100" cy="292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8716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63B6"/>
                </a:solidFill>
              </a:rPr>
              <a:t>Asesmen Awal Multimodal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2487168" y="213969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Petakan pengetahuan, pengalaman, minat, keterampilan, dan kebutuhan murid melalui percakapan, observasi, gambar, kasus, dan praktik sederhana.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60704" y="2633472"/>
            <a:ext cx="182880" cy="320040"/>
          </a:xfrm>
          <a:prstGeom prst="downArrow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0906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227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737360" y="3044952"/>
            <a:ext cx="9555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3392" y="3337560"/>
            <a:ext cx="292100" cy="2921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87168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D9488"/>
                </a:solidFill>
              </a:rPr>
              <a:t>Kelompok Fleksibel &amp; Aktivitas Berdiferensiasi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2487168" y="35570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Gunakan data asesmen untuk menentukan penguatan dasar, tahap berkembang, dan tantangan lanjutan. Kelompok dapat berubah sesuai perkembangan.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060704" y="4050792"/>
            <a:ext cx="182880" cy="320040"/>
          </a:xfrm>
          <a:prstGeom prst="downArrow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4507992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46451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1737360" y="4462272"/>
            <a:ext cx="9555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3392" y="4754880"/>
            <a:ext cx="292100" cy="2921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87168" y="4645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97316"/>
                </a:solidFill>
              </a:rPr>
              <a:t>Asesmen Formatif, Refleksi, dan Tindak Lanjut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2487168" y="49743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Lakukan observasi, pertanyaan pemantik, umpan balik, refleksi singkat, remedial, pengayaan, dan perbaikan aktivitas berikutnya.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Tindak lanjut memastikan asesmen tidak berhenti pada pemetaan awal.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Hubungan Logis: Kasus → Perbaikan → Prinsip DUP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Setiap masalah dihubungkan dengan tindakan perbaikan dan prinsip yang diterapkan.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3246120" cy="41148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82496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Kondisi Kasus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342900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682496"/>
            <a:ext cx="3246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Tindakan Perbaikan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01000" y="1554480"/>
            <a:ext cx="3246120" cy="411480"/>
          </a:xfrm>
          <a:prstGeom prst="roundRect">
            <a:avLst>
              <a:gd name="adj" fmla="val 13333"/>
            </a:avLst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82496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Prinsip DUP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94360" y="2084832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03704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Belum memahami kesiapan murid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2084832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203704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Asesmen awal multimodal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01000" y="2084832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2203704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Beragam representasi &amp; ekspresi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651760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770632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Metode sama untuk semua jurusan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2651760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2770632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Konteks tugas sesuai program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01000" y="2651760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0728" y="2770632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Pembelajaran berdiferensiasi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218688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337560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Ceramah dan LK dominan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0" y="3218688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3337560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Video, demonstrasi, praktik, simulasi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01000" y="3218688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337560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Beragam representasi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3785616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904488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Murid pasif dan kurang termotivasi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3785616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3904488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Pilihan kegiatan, konteks, peran, produk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01000" y="3785616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3904488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Beragam keterlibatan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4352544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47141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Penilaian hanya tertulis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352544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4471416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Laporan, presentasi, produk, demonstrasi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01000" y="4352544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447141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Beragam aksi &amp; ekspresi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4919472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5038344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Hasil belum optimal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06240" y="4919472"/>
            <a:ext cx="342900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5968" y="5038344"/>
            <a:ext cx="3209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Asesmen formatif dan tindak lanjut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01000" y="4919472"/>
            <a:ext cx="32461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10728" y="5038344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</a:rPr>
              <a:t>Responsif berbasis data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Tabel merangkum jembatan antara diagnosis kasus dan tindakan perbaikan.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10927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di Kelas Nyata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5D6676"/>
                </a:solidFill>
              </a:rPr>
              <a:t>Contoh adaptasi pada pembelajaran Informatika di SMK/SMA: asesmen awal yang inklusif dan berbasis data.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524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EAF3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63B6"/>
                </a:solidFill>
              </a:rPr>
              <a:t>Sebelum Pembelajaran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63B6"/>
                </a:solidFill>
              </a:rPr>
              <a:t>•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1207008" y="25237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Cek pengalaman murid terkait topik.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63B6"/>
                </a:solidFill>
              </a:rPr>
              <a:t>•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207008" y="2980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Gunakan gambar, studi kasus, pertanyaan, dan praktik sederhana.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63B6"/>
                </a:solidFill>
              </a:rPr>
              <a:t>•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207008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Petakan kebutuhan: penguatan dasar, berkembang, tantangan lanjutan.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434840" y="164592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DDF7F3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</a:rPr>
              <a:t>Saat Pembelajaran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D9488"/>
                </a:solidFill>
              </a:rPr>
              <a:t>•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910328" y="25237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Sediakan media berbeda dan aktivitas bertahap.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D9488"/>
                </a:solidFill>
              </a:rPr>
              <a:t>•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910328" y="2980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Berikan pilihan peran dan bentuk unjuk kerja.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70916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D9488"/>
                </a:solidFill>
              </a:rPr>
              <a:t>•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910328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Gunakan umpan balik untuk menyesuaikan dukungan.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138160" y="164592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FFF2E8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Setelah Pembelajaran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1248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97316"/>
                </a:solidFill>
              </a:rPr>
              <a:t>•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613648" y="25237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Minta refleksi murid tentang kesulitan dan kemajuan.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41248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97316"/>
                </a:solidFill>
              </a:rPr>
              <a:t>•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613648" y="2980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Tentukan remedial/pengayaan berbasis data.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41248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97316"/>
                </a:solidFill>
              </a:rPr>
              <a:t>•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8613648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</a:rPr>
              <a:t>Perbaiki aktivitas pada pertemuan berikutnya.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94360" y="626364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Implementasi menekankan siklus: asesmen awal → diferensiasi → formatif → tindak lanjut.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Akhir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5880" y="1600200"/>
            <a:ext cx="95097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Pembelajaran menjadi relevan, bermakna, dan inklusif sehingga murid termotivasi, kompeten, adaptif, mandiri, dan siap menghadapi dunia kerja.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" y="329184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AF3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1912" y="3456432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40050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Relevan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108960" y="329184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AF3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0752" y="3456432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552" y="40050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Bermakna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257800" y="329184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AF3F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9592" y="3456432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2392" y="40050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Inklusif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406640" y="329184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AF3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8432" y="3456432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71232" y="40050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Kompeten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9555480" y="3291840"/>
            <a:ext cx="164592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AF3F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7272" y="3456432"/>
            <a:ext cx="342900" cy="342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720072" y="40050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</a:rPr>
              <a:t>Adaptif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2103120" y="5257800"/>
            <a:ext cx="800100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2377440" y="5431536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1153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PPG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Pemecahan Kasus Berbasis DUP</dc:title>
  <dc:subject>Asesmen Awal dan Pembelajaran Inklusif berbasis DUP</dc:subject>
  <dc:creator>OpenAI</dc:creator>
  <cp:lastModifiedBy>Ahmad Nursyifa</cp:lastModifiedBy>
  <cp:revision>2</cp:revision>
  <dcterms:created xsi:type="dcterms:W3CDTF">2026-08-11T13:04:23Z</dcterms:created>
  <dcterms:modified xsi:type="dcterms:W3CDTF">2026-08-11T13:15:26Z</dcterms:modified>
</cp:coreProperties>
</file>