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35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28.svg"/><Relationship Id="rId4" Type="http://schemas.openxmlformats.org/officeDocument/2006/relationships/image" Target="../media/image42.sv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7.png"/><Relationship Id="rId7" Type="http://schemas.openxmlformats.org/officeDocument/2006/relationships/image" Target="../media/image5.png"/><Relationship Id="rId12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0" Type="http://schemas.openxmlformats.org/officeDocument/2006/relationships/image" Target="../media/image52.svg"/><Relationship Id="rId4" Type="http://schemas.openxmlformats.org/officeDocument/2006/relationships/image" Target="../media/image48.sv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61.png"/><Relationship Id="rId5" Type="http://schemas.openxmlformats.org/officeDocument/2006/relationships/image" Target="../media/image49.png"/><Relationship Id="rId10" Type="http://schemas.openxmlformats.org/officeDocument/2006/relationships/image" Target="../media/image60.svg"/><Relationship Id="rId4" Type="http://schemas.openxmlformats.org/officeDocument/2006/relationships/image" Target="../media/image56.svg"/><Relationship Id="rId9" Type="http://schemas.openxmlformats.org/officeDocument/2006/relationships/image" Target="../media/image59.png"/><Relationship Id="rId14" Type="http://schemas.openxmlformats.org/officeDocument/2006/relationships/image" Target="../media/image6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23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svg"/><Relationship Id="rId4" Type="http://schemas.openxmlformats.org/officeDocument/2006/relationships/image" Target="../media/image24.svg"/><Relationship Id="rId9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77.png"/><Relationship Id="rId7" Type="http://schemas.openxmlformats.org/officeDocument/2006/relationships/image" Target="../media/image19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svg"/><Relationship Id="rId11" Type="http://schemas.openxmlformats.org/officeDocument/2006/relationships/image" Target="../media/image31.png"/><Relationship Id="rId5" Type="http://schemas.openxmlformats.org/officeDocument/2006/relationships/image" Target="../media/image79.png"/><Relationship Id="rId10" Type="http://schemas.openxmlformats.org/officeDocument/2006/relationships/image" Target="../media/image12.svg"/><Relationship Id="rId4" Type="http://schemas.openxmlformats.org/officeDocument/2006/relationships/image" Target="../media/image78.sv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8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10" Type="http://schemas.openxmlformats.org/officeDocument/2006/relationships/image" Target="../media/image76.svg"/><Relationship Id="rId4" Type="http://schemas.openxmlformats.org/officeDocument/2006/relationships/image" Target="../media/image82.svg"/><Relationship Id="rId9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7.png"/><Relationship Id="rId7" Type="http://schemas.openxmlformats.org/officeDocument/2006/relationships/image" Target="../media/image7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85.png"/><Relationship Id="rId5" Type="http://schemas.openxmlformats.org/officeDocument/2006/relationships/image" Target="../media/image9.png"/><Relationship Id="rId10" Type="http://schemas.openxmlformats.org/officeDocument/2006/relationships/image" Target="../media/image84.svg"/><Relationship Id="rId4" Type="http://schemas.openxmlformats.org/officeDocument/2006/relationships/image" Target="../media/image48.svg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0" y="960120"/>
            <a:ext cx="694944" cy="6949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2520" y="960120"/>
            <a:ext cx="694944" cy="6949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4120" y="960120"/>
            <a:ext cx="694944" cy="6949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85800" y="987552"/>
            <a:ext cx="54406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Asesmen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Pembelajaran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Mendalam di SMK</a:t>
            </a:r>
            <a:endParaRPr lang="en-US" sz="4100" dirty="0"/>
          </a:p>
        </p:txBody>
      </p:sp>
      <p:sp>
        <p:nvSpPr>
          <p:cNvPr id="6" name="Text 1"/>
          <p:cNvSpPr/>
          <p:nvPr/>
        </p:nvSpPr>
        <p:spPr>
          <a:xfrm>
            <a:off x="713232" y="3310128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676"/>
                </a:solidFill>
              </a:rPr>
              <a:t>Merancang asesmen autentik untuk pengetahuan, keterampilan, sikap kerja, dan kesiapan dunia kerja.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731520" y="4160520"/>
            <a:ext cx="5349240" cy="310896"/>
          </a:xfrm>
          <a:prstGeom prst="roundRect">
            <a:avLst>
              <a:gd name="adj" fmla="val 23529"/>
            </a:avLst>
          </a:prstGeom>
          <a:solidFill>
            <a:srgbClr val="0E8F8F"/>
          </a:solidFill>
          <a:ln w="12700">
            <a:solidFill>
              <a:srgbClr val="0E8F8F">
                <a:alpha val="0"/>
              </a:srgbClr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77240" y="4233672"/>
            <a:ext cx="5257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Topik 3 • Pembelajaran Mendalam dan Asesmen Lanjut SMK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6560" y="2331720"/>
            <a:ext cx="347472" cy="34747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46520" y="2834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6D28D9"/>
                </a:solidFill>
              </a:rPr>
              <a:t>AaL</a:t>
            </a:r>
            <a:endParaRPr lang="en-US" sz="106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83880" y="2331720"/>
            <a:ext cx="347472" cy="34747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863840" y="2834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E8F8F"/>
                </a:solidFill>
              </a:rPr>
              <a:t>AfL</a:t>
            </a:r>
            <a:endParaRPr lang="en-US" sz="106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01200" y="2331720"/>
            <a:ext cx="347472" cy="34747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281160" y="2834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97316"/>
                </a:solidFill>
              </a:rPr>
              <a:t>AoL</a:t>
            </a:r>
            <a:endParaRPr lang="en-US" sz="106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66560" y="3886200"/>
            <a:ext cx="347472" cy="34747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44652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D5FB8"/>
                </a:solidFill>
              </a:rPr>
              <a:t>HOTS</a:t>
            </a:r>
            <a:endParaRPr lang="en-US" sz="106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83880" y="3886200"/>
            <a:ext cx="347472" cy="34747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86384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3864A"/>
                </a:solidFill>
              </a:rPr>
              <a:t>SOLO</a:t>
            </a:r>
            <a:endParaRPr lang="en-US" sz="106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601200" y="3886200"/>
            <a:ext cx="347472" cy="34747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28116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EF4444"/>
                </a:solidFill>
              </a:rPr>
              <a:t>Autentik</a:t>
            </a:r>
            <a:endParaRPr lang="en-US" sz="1060" dirty="0"/>
          </a:p>
        </p:txBody>
      </p:sp>
      <p:sp>
        <p:nvSpPr>
          <p:cNvPr id="21" name="Text 10"/>
          <p:cNvSpPr/>
          <p:nvPr/>
        </p:nvSpPr>
        <p:spPr>
          <a:xfrm>
            <a:off x="1051560" y="525780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2449"/>
                </a:solidFill>
              </a:rPr>
              <a:t>Dari penilaian akhir menuju asesmen sebagai alat belajar.</a:t>
            </a:r>
            <a:endParaRPr lang="en-US" sz="2200" dirty="0"/>
          </a:p>
        </p:txBody>
      </p:sp>
      <p:sp>
        <p:nvSpPr>
          <p:cNvPr id="22" name="Shape 11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Topik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Mahasiswa menganalisis prinsip, fungsi, dan karakteristik asesmen pembelajaran mendalam serta menyusun perangkat asesmen di SMK.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5FB8"/>
                </a:solidFill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5960" y="182880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B8"/>
                </a:solidFill>
              </a:rPr>
              <a:t>Analisis Prinsip Asesmen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6"/>
                </a:solidFill>
              </a:rPr>
              <a:t>Memahami asesmen yang tidak hanya menilai hasil, tetapi juga proses, HOTS, refleksi, dan transfer pengetahuan.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069080" y="1828800"/>
            <a:ext cx="0" cy="256032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F8F"/>
                </a:solidFill>
              </a:rPr>
              <a:t>2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182880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8F8F"/>
                </a:solidFill>
              </a:rPr>
              <a:t>Perangkat Asesmen SMK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6"/>
                </a:solidFill>
              </a:rPr>
              <a:t>Menyusun rubrik, observasi, portofolio, dan tugas kinerja yang menilai pengetahuan, keterampilan, dan sikap.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7818120" y="1828800"/>
            <a:ext cx="0" cy="256032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2104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</a:rPr>
              <a:t>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4040" y="182880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Siap Dunia Kerja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D6676"/>
                </a:solidFill>
              </a:rPr>
              <a:t>Memastikan bukti kompetensi relevan dengan standar industri dan situasi nyata.</a:t>
            </a:r>
            <a:endParaRPr lang="en-US" sz="1230" dirty="0"/>
          </a:p>
        </p:txBody>
      </p:sp>
      <p:sp>
        <p:nvSpPr>
          <p:cNvPr id="19" name="Shape 14"/>
          <p:cNvSpPr/>
          <p:nvPr/>
        </p:nvSpPr>
        <p:spPr>
          <a:xfrm>
            <a:off x="777240" y="461772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51560" y="5102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Ciri pembelajaran mendalam: masalah dunia nyata, berpikir kritis-reflektif, kolaborasi, komunikasi, dan transfer ke situasi baru.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Asesmen menjadi kunci untuk menstimulasi capaian belajar yang bermakna.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Gagasan Utama: Asesmen sebagai Alat Belajar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Asesmen pembelajaran mendalam menilai pemahaman menyeluruh, bukan sekadar hafalan atau hasil akhir.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32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D5FB8"/>
                </a:solidFill>
              </a:rPr>
              <a:t>Konsep inti</a:t>
            </a:r>
            <a:endParaRPr lang="en-US" sz="1340" dirty="0"/>
          </a:p>
        </p:txBody>
      </p:sp>
      <p:sp>
        <p:nvSpPr>
          <p:cNvPr id="7" name="Text 4"/>
          <p:cNvSpPr/>
          <p:nvPr/>
        </p:nvSpPr>
        <p:spPr>
          <a:xfrm>
            <a:off x="2304288" y="2221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6160" y="2011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7180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6D28D9"/>
                </a:solidFill>
              </a:rPr>
              <a:t>HOTS</a:t>
            </a:r>
            <a:endParaRPr lang="en-US" sz="1340" dirty="0"/>
          </a:p>
        </p:txBody>
      </p:sp>
      <p:sp>
        <p:nvSpPr>
          <p:cNvPr id="10" name="Text 6"/>
          <p:cNvSpPr/>
          <p:nvPr/>
        </p:nvSpPr>
        <p:spPr>
          <a:xfrm>
            <a:off x="4453128" y="2221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0" y="20116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E8F8F"/>
                </a:solidFill>
              </a:rPr>
              <a:t>Proses belajar</a:t>
            </a:r>
            <a:endParaRPr lang="en-US" sz="1340" dirty="0"/>
          </a:p>
        </p:txBody>
      </p:sp>
      <p:sp>
        <p:nvSpPr>
          <p:cNvPr id="13" name="Text 8"/>
          <p:cNvSpPr/>
          <p:nvPr/>
        </p:nvSpPr>
        <p:spPr>
          <a:xfrm>
            <a:off x="6601968" y="2221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3840" y="20116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6948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97316"/>
                </a:solidFill>
              </a:rPr>
              <a:t>Umpan balik</a:t>
            </a:r>
            <a:endParaRPr lang="en-US" sz="1340" dirty="0"/>
          </a:p>
        </p:txBody>
      </p:sp>
      <p:sp>
        <p:nvSpPr>
          <p:cNvPr id="16" name="Text 10"/>
          <p:cNvSpPr/>
          <p:nvPr/>
        </p:nvSpPr>
        <p:spPr>
          <a:xfrm>
            <a:off x="8750808" y="2221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2449"/>
                </a:solidFill>
              </a:rPr>
              <a:t>→</a:t>
            </a:r>
            <a:endParaRPr lang="en-US" sz="2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12680" y="201168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1832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23864A"/>
                </a:solidFill>
              </a:rPr>
              <a:t>Transfer nyata</a:t>
            </a:r>
            <a:endParaRPr lang="en-US" sz="1340" dirty="0"/>
          </a:p>
        </p:txBody>
      </p:sp>
      <p:sp>
        <p:nvSpPr>
          <p:cNvPr id="19" name="Shape 12"/>
          <p:cNvSpPr/>
          <p:nvPr/>
        </p:nvSpPr>
        <p:spPr>
          <a:xfrm>
            <a:off x="777240" y="365760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143000" y="4160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D5FB8"/>
                </a:solidFill>
              </a:rPr>
              <a:t>•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1344168" y="416966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Murid memahami konsep, menganalisis situasi, memecahkan masalah, dan menghubungkan pengetahuan ke konteks baru.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143000" y="46817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E8F8F"/>
                </a:solidFill>
              </a:rPr>
              <a:t>•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44168" y="469087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Guru memperoleh bukti untuk menyesuaikan pembelajaran, memberi umpan balik, dan memfasilitasi ketuntasan bertahap.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143000" y="52029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97316"/>
                </a:solidFill>
              </a:rPr>
              <a:t>•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1344168" y="52120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Hasil asesmen tidak berhenti pada angka, tetapi menjadi dasar perbaikan, refleksi, dan perkembangan kompetensi.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Tujuan utama: hasil belajar, proses belajar, dan kesiapan kerja dinilai secara terpadu.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Kasus: SMK Citra Estetika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Ibu Hani merancang proyek praktik perawatan wajah lengkap pada klien simulasi dalam suasana salon nyata.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6916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8F8F"/>
                </a:solidFill>
              </a:rPr>
              <a:t>Proyek Facial Treatment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737360" y="2240280"/>
            <a:ext cx="4023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676"/>
                </a:solidFill>
              </a:rPr>
              <a:t>Murid kelas XI mempraktikkan keterampilan kerja, pengetahuan tentang kulit dan produk, serta sikap profesional seperti higienitas, pelayanan, dan komunikasi.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3375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3467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23864A"/>
                </a:solidFill>
              </a:rPr>
              <a:t>Mahir prosedur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3337560" y="33467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676"/>
                </a:solidFill>
              </a:rPr>
              <a:t>urutan tepat, pijatan halus, pelayanan baik</a:t>
            </a:r>
            <a:endParaRPr lang="en-US" sz="107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395935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9684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97316"/>
                </a:solidFill>
              </a:rPr>
              <a:t>Teknis benar, sikap kurang</a:t>
            </a:r>
            <a:endParaRPr lang="en-US" sz="1220" dirty="0"/>
          </a:p>
        </p:txBody>
      </p:sp>
      <p:sp>
        <p:nvSpPr>
          <p:cNvPr id="13" name="Text 8"/>
          <p:cNvSpPr/>
          <p:nvPr/>
        </p:nvSpPr>
        <p:spPr>
          <a:xfrm>
            <a:off x="3337560" y="3968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676"/>
                </a:solidFill>
              </a:rPr>
              <a:t>higienitas alat dan kenyamanan klien belum konsisten</a:t>
            </a:r>
            <a:endParaRPr lang="en-US" sz="107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1560" y="458114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5902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F4444"/>
                </a:solidFill>
              </a:rPr>
              <a:t>Masih bingung</a:t>
            </a:r>
            <a:endParaRPr lang="en-US" sz="1220" dirty="0"/>
          </a:p>
        </p:txBody>
      </p:sp>
      <p:sp>
        <p:nvSpPr>
          <p:cNvPr id="16" name="Text 10"/>
          <p:cNvSpPr/>
          <p:nvPr/>
        </p:nvSpPr>
        <p:spPr>
          <a:xfrm>
            <a:off x="3337560" y="45902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D6676"/>
                </a:solidFill>
              </a:rPr>
              <a:t>belum tepat memilih produk sesuai kondisi kulit</a:t>
            </a:r>
            <a:endParaRPr lang="en-US" sz="1070" dirty="0"/>
          </a:p>
        </p:txBody>
      </p:sp>
      <p:sp>
        <p:nvSpPr>
          <p:cNvPr id="17" name="Shape 11"/>
          <p:cNvSpPr/>
          <p:nvPr/>
        </p:nvSpPr>
        <p:spPr>
          <a:xfrm>
            <a:off x="6263640" y="1691640"/>
            <a:ext cx="0" cy="361188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0840" y="1828800"/>
            <a:ext cx="658368" cy="6583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438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B8"/>
                </a:solidFill>
              </a:rPr>
              <a:t>Kebutuhan Baru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6812280" y="26060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5FB8"/>
                </a:solidFill>
              </a:rPr>
              <a:t>•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013448" y="2615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Asesmen autentik yang menilai proses dan hasil.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812280" y="31546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8F8F"/>
                </a:solidFill>
              </a:rPr>
              <a:t>•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013448" y="316382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Rubrik yang memotret pengetahuan, keterampilan, dan sikap.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812280" y="37033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97316"/>
                </a:solidFill>
              </a:rPr>
              <a:t>•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013448" y="37124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Mastery learning agar setiap tahap keterampilan dituntaskan.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812280" y="42519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864A"/>
                </a:solidFill>
              </a:rPr>
              <a:t>•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013448" y="426110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Umpan balik berkelanjutan untuk perbaikan kompetensi.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Konteks kasus menjadi dasar merancang perangkat asesmen yang komprehensif.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 Asesmen dalam Kasus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Penilaian praktik singkat di akhir pembelajaran belum mampu memberi gambaran menyeluruh.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1709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Hanya menilai hasil akhir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44168" y="2075688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Proses kerja, keputusan, dan perkembangan murid tidak terpantau.</a:t>
            </a:r>
            <a:endParaRPr lang="en-US" sz="118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16916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7728" y="1709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Belum komprehensif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67728" y="2075688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Pengetahuan kulit dan produk, teknik praktik, higienitas, pelayanan, dan komunikasi belum dinilai utuh.</a:t>
            </a:r>
            <a:endParaRPr lang="en-US" sz="118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33832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4168" y="3401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D5FB8"/>
                </a:solidFill>
              </a:rPr>
              <a:t>Umpan balik terlambat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44168" y="3767328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Murid baru mengetahui kekurangan setelah praktik selesai, sehingga perbaikan kurang efektif.</a:t>
            </a:r>
            <a:endParaRPr lang="en-US" sz="118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33832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67728" y="3401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8F8F"/>
                </a:solidFill>
              </a:rPr>
              <a:t>Belum berbasis mastery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967728" y="3767328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6676"/>
                </a:solidFill>
              </a:rPr>
              <a:t>Murid belum selalu mendapat kesempatan mengulang dan menuntaskan setiap tahap keterampilan.</a:t>
            </a:r>
            <a:endParaRPr lang="en-US" sz="1180" dirty="0"/>
          </a:p>
        </p:txBody>
      </p:sp>
      <p:sp>
        <p:nvSpPr>
          <p:cNvPr id="17" name="Shape 11"/>
          <p:cNvSpPr/>
          <p:nvPr/>
        </p:nvSpPr>
        <p:spPr>
          <a:xfrm>
            <a:off x="777240" y="4956048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05156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449"/>
                </a:solidFill>
              </a:rPr>
              <a:t>Inti masalah: asesmen belum menjadi siklus belajar yang mengarahkan perbaikan kompetensi murid.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Masalah asesmen muncul pada perencanaan, pelaksanaan, dan tindak lanjut.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Kerangka AaL, AfL, dan AoL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Ketiga fungsi asesmen harus seimbang agar penilaian benar-benar mendukung pembelajaran mendalam.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168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542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28D9"/>
                </a:solidFill>
              </a:rPr>
              <a:t>Assessment as Learning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Murid merefleksi, melakukan self-assessment, peer assessment, dan mengatur strategi belajar.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4114800" y="1737360"/>
            <a:ext cx="0" cy="28346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18288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542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8F8F"/>
                </a:solidFill>
              </a:rPr>
              <a:t>Assessment for Learning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1772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Guru memberi umpan balik formatif selama praktik untuk memperbaiki proses dan performa.</a:t>
            </a:r>
            <a:endParaRPr lang="en-US" sz="1220" dirty="0"/>
          </a:p>
        </p:txBody>
      </p:sp>
      <p:sp>
        <p:nvSpPr>
          <p:cNvPr id="12" name="Shape 8"/>
          <p:cNvSpPr/>
          <p:nvPr/>
        </p:nvSpPr>
        <p:spPr>
          <a:xfrm>
            <a:off x="7863840" y="1737360"/>
            <a:ext cx="0" cy="28346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0" y="1828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542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</a:rPr>
              <a:t>Assessment of Learning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6676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D6676"/>
                </a:solidFill>
              </a:rPr>
              <a:t>Capaian akhir dinilai melalui performance task, portofolio, atau ujian praktik autentik.</a:t>
            </a:r>
            <a:endParaRPr lang="en-US" sz="1220" dirty="0"/>
          </a:p>
        </p:txBody>
      </p:sp>
      <p:sp>
        <p:nvSpPr>
          <p:cNvPr id="16" name="Shape 11"/>
          <p:cNvSpPr/>
          <p:nvPr/>
        </p:nvSpPr>
        <p:spPr>
          <a:xfrm>
            <a:off x="777240" y="470916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51560" y="5184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Rancangan kasus Citra Estetika: refleksi jurnal → observasi praktik &amp; feedback → uji layanan facial treatment lengkap.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AaL membangun metakognisi, AfL memperbaiki proses, AoL memberi bukti capaian.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Prinsip Asesmen Autentik dan UbD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Asesmen dirancang sejak awal sebagai bukti pemahaman mendalam dan penguasaan kompetensi.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18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5FB8"/>
                </a:solidFill>
              </a:rPr>
              <a:t>Autentik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46120" y="16184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menyerupai tantangan dunia kerja nyata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2039112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23134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331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F"/>
                </a:solidFill>
              </a:rPr>
              <a:t>Bukti pemahaman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246120" y="233172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menampilkan kemampuan menjelaskan, menerapkan, dan merefleksi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2752344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30266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044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</a:rPr>
              <a:t>Backward design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246120" y="3044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tentukan bukti belajar sebelum merancang kegiatan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7240" y="3465576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680" y="37398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37581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</a:rPr>
              <a:t>Formatif-reflektif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3246120" y="375818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umpan balik digunakan untuk memperbaiki proses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" y="4178808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8680" y="445312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4471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4A"/>
                </a:solidFill>
              </a:rPr>
              <a:t>Rubrik transparan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246120" y="447141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676"/>
                </a:solidFill>
              </a:rPr>
              <a:t>kriteria keberhasilan jelas sejak awal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77240" y="489204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97280" y="562356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Mastery learning: murid diberi kesempatan memperbaiki dan menguatkan pemahaman sampai mencapai standar.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UbD menempatkan asesmen sebagai bagian inti dari desain pembelajaran.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Perangkat dan Instrumen Asesmen SMK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Instrumen dipilih sesuai bukti kompetensi yang ingin dilihat.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16916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1709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D5FB8"/>
                </a:solidFill>
              </a:rPr>
              <a:t>Rubrik Performa</a:t>
            </a:r>
            <a:endParaRPr lang="en-US" sz="1330" dirty="0"/>
          </a:p>
        </p:txBody>
      </p:sp>
      <p:sp>
        <p:nvSpPr>
          <p:cNvPr id="7" name="Text 4"/>
          <p:cNvSpPr/>
          <p:nvPr/>
        </p:nvSpPr>
        <p:spPr>
          <a:xfrm>
            <a:off x="1344168" y="20756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kriteria bertingkat untuk kualitas kinerja</a:t>
            </a:r>
            <a:endParaRPr lang="en-US" sz="114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7720" y="16916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93208" y="1709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0E8F8F"/>
                </a:solidFill>
              </a:rPr>
              <a:t>Observasi Praktik</a:t>
            </a:r>
            <a:endParaRPr lang="en-US" sz="1330" dirty="0"/>
          </a:p>
        </p:txBody>
      </p:sp>
      <p:sp>
        <p:nvSpPr>
          <p:cNvPr id="10" name="Text 6"/>
          <p:cNvSpPr/>
          <p:nvPr/>
        </p:nvSpPr>
        <p:spPr>
          <a:xfrm>
            <a:off x="5093208" y="20756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catatan proses, sikap, dan prosedur kerja</a:t>
            </a:r>
            <a:endParaRPr lang="en-US" sz="114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6760" y="16916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42248" y="1709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23864A"/>
                </a:solidFill>
              </a:rPr>
              <a:t>Checklist SOP</a:t>
            </a:r>
            <a:endParaRPr lang="en-US" sz="1330" dirty="0"/>
          </a:p>
        </p:txBody>
      </p:sp>
      <p:sp>
        <p:nvSpPr>
          <p:cNvPr id="13" name="Text 8"/>
          <p:cNvSpPr/>
          <p:nvPr/>
        </p:nvSpPr>
        <p:spPr>
          <a:xfrm>
            <a:off x="8842248" y="207568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elemen langkah kerja yang harus muncul</a:t>
            </a:r>
            <a:endParaRPr lang="en-US" sz="114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680" y="356616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44168" y="3584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F97316"/>
                </a:solidFill>
              </a:rPr>
              <a:t>Portofolio</a:t>
            </a:r>
            <a:endParaRPr lang="en-US" sz="1330" dirty="0"/>
          </a:p>
        </p:txBody>
      </p:sp>
      <p:sp>
        <p:nvSpPr>
          <p:cNvPr id="16" name="Text 10"/>
          <p:cNvSpPr/>
          <p:nvPr/>
        </p:nvSpPr>
        <p:spPr>
          <a:xfrm>
            <a:off x="1344168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bukti perkembangan, refleksi, produk, foto/video</a:t>
            </a:r>
            <a:endParaRPr lang="en-US" sz="114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7720" y="356616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93208" y="3584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6D28D9"/>
                </a:solidFill>
              </a:rPr>
              <a:t>Catatan Anekdotal</a:t>
            </a:r>
            <a:endParaRPr lang="en-US" sz="1330" dirty="0"/>
          </a:p>
        </p:txBody>
      </p:sp>
      <p:sp>
        <p:nvSpPr>
          <p:cNvPr id="19" name="Text 12"/>
          <p:cNvSpPr/>
          <p:nvPr/>
        </p:nvSpPr>
        <p:spPr>
          <a:xfrm>
            <a:off x="5093208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perilaku atau performa penting yang muncul</a:t>
            </a:r>
            <a:endParaRPr lang="en-US" sz="114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66760" y="3566160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42248" y="3584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EF4444"/>
                </a:solidFill>
              </a:rPr>
              <a:t>Grafik Perkembangan</a:t>
            </a:r>
            <a:endParaRPr lang="en-US" sz="1330" dirty="0"/>
          </a:p>
        </p:txBody>
      </p:sp>
      <p:sp>
        <p:nvSpPr>
          <p:cNvPr id="22" name="Text 14"/>
          <p:cNvSpPr/>
          <p:nvPr/>
        </p:nvSpPr>
        <p:spPr>
          <a:xfrm>
            <a:off x="8842248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D6676"/>
                </a:solidFill>
              </a:rPr>
              <a:t>kontinum kemajuan menuju mastery</a:t>
            </a:r>
            <a:endParaRPr lang="en-US" sz="1140" dirty="0"/>
          </a:p>
        </p:txBody>
      </p:sp>
      <p:sp>
        <p:nvSpPr>
          <p:cNvPr id="23" name="Shape 15"/>
          <p:cNvSpPr/>
          <p:nvPr/>
        </p:nvSpPr>
        <p:spPr>
          <a:xfrm>
            <a:off x="777240" y="5102352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1280160" y="5541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Teknik: tes tertulis/lisan, penugasan, observasi, kinerja, proyek, dan portofolio.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Instrumen harus memberi informasi tentang kekuatan dan langkah peningkatan performa.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Jenis Asesmen yang Relevan dengan Kesiapan Kerja SMK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Asesmen SMK terhubung langsung dengan budaya kerja dan standar kompetensi.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1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FB8"/>
                </a:solidFill>
              </a:rPr>
              <a:t>Asesmen PKL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6"/>
                </a:solidFill>
              </a:rPr>
              <a:t>Capaian pembelajaran di dunia kerja; dinilai pembimbing/instruktur bersama guru pendamping.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0" y="1828800"/>
            <a:ext cx="0" cy="26060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8F8F"/>
                </a:solidFill>
              </a:rPr>
              <a:t>UKK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1772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6"/>
                </a:solidFill>
              </a:rPr>
              <a:t>Pengukuran kualifikasi kompetensi pada akhir masa studi; dapat melibatkan LSP, PTUK, atau dunia kerja.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63840" y="1828800"/>
            <a:ext cx="0" cy="260604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9760" y="19202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Uji Unit Kompetensi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6676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6"/>
                </a:solidFill>
              </a:rPr>
              <a:t>Mengukur satu atau beberapa unit kompetensi untuk mastery learning dan skill passport.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43000" y="52303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449"/>
                </a:solidFill>
              </a:rPr>
              <a:t>Implikasi: perangkat asesmen kelas perlu membiasakan murid pada standar kinerja, bukti kompetensi, dan refleksi profesional.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PKL, UKK, dan Uji Unit Kompetensi menghubungkan sekolah dengan dunia kerja.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Solusi: Siklus Asesmen Autentik Facial Treatment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Asesmen dirancang berkesinambungan dari kesiapan awal sampai performa layanan lengkap.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20" y="19659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0000"/>
                </a:solidFill>
              </a:rPr>
              <a:t>Diagnostik awal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676"/>
                </a:solidFill>
              </a:rPr>
              <a:t>tes lisan singkat, identifikasi jenis kulit, pengalaman praktik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2404872" y="2057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999232" y="16916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6432" y="19659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9232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0000"/>
                </a:solidFill>
              </a:rPr>
              <a:t>Checkpoint proses</a:t>
            </a:r>
            <a:endParaRPr lang="en-US" sz="1230" dirty="0"/>
          </a:p>
        </p:txBody>
      </p:sp>
      <p:sp>
        <p:nvSpPr>
          <p:cNvPr id="13" name="Text 9"/>
          <p:cNvSpPr/>
          <p:nvPr/>
        </p:nvSpPr>
        <p:spPr>
          <a:xfrm>
            <a:off x="2953512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676"/>
                </a:solidFill>
              </a:rPr>
              <a:t>observasi teknik, higienitas, kenyamanan klien, pilihan produk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4672584" y="2057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266944" y="16916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4144" y="19659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6944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0000"/>
                </a:solidFill>
              </a:rPr>
              <a:t>Umpan balik &amp; latihan</a:t>
            </a:r>
            <a:endParaRPr lang="en-US" sz="1230" dirty="0"/>
          </a:p>
        </p:txBody>
      </p:sp>
      <p:sp>
        <p:nvSpPr>
          <p:cNvPr id="18" name="Text 13"/>
          <p:cNvSpPr/>
          <p:nvPr/>
        </p:nvSpPr>
        <p:spPr>
          <a:xfrm>
            <a:off x="5221224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676"/>
                </a:solidFill>
              </a:rPr>
              <a:t>feedback guru, peer assessment, perbaikan tahap keterampilan</a:t>
            </a:r>
            <a:endParaRPr lang="en-US" sz="1040" dirty="0"/>
          </a:p>
        </p:txBody>
      </p:sp>
      <p:sp>
        <p:nvSpPr>
          <p:cNvPr id="19" name="Text 14"/>
          <p:cNvSpPr/>
          <p:nvPr/>
        </p:nvSpPr>
        <p:spPr>
          <a:xfrm>
            <a:off x="6940296" y="2057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534656" y="16916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1856" y="1965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34656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0000"/>
                </a:solidFill>
              </a:rPr>
              <a:t>Performance task</a:t>
            </a:r>
            <a:endParaRPr lang="en-US" sz="1230" dirty="0"/>
          </a:p>
        </p:txBody>
      </p:sp>
      <p:sp>
        <p:nvSpPr>
          <p:cNvPr id="23" name="Text 17"/>
          <p:cNvSpPr/>
          <p:nvPr/>
        </p:nvSpPr>
        <p:spPr>
          <a:xfrm>
            <a:off x="7488936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676"/>
                </a:solidFill>
              </a:rPr>
              <a:t>layanan facial treatment lengkap pada klien simulasi</a:t>
            </a:r>
            <a:endParaRPr lang="en-US" sz="1040" dirty="0"/>
          </a:p>
        </p:txBody>
      </p:sp>
      <p:sp>
        <p:nvSpPr>
          <p:cNvPr id="24" name="Text 18"/>
          <p:cNvSpPr/>
          <p:nvPr/>
        </p:nvSpPr>
        <p:spPr>
          <a:xfrm>
            <a:off x="9208008" y="2057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9802368" y="169164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9568" y="19659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02368" y="2606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00000"/>
                </a:solidFill>
              </a:rPr>
              <a:t>Portofolio reflektif</a:t>
            </a:r>
            <a:endParaRPr lang="en-US" sz="1230" dirty="0"/>
          </a:p>
        </p:txBody>
      </p:sp>
      <p:sp>
        <p:nvSpPr>
          <p:cNvPr id="28" name="Text 21"/>
          <p:cNvSpPr/>
          <p:nvPr/>
        </p:nvSpPr>
        <p:spPr>
          <a:xfrm>
            <a:off x="9756648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5D6676"/>
                </a:solidFill>
              </a:rPr>
              <a:t>foto/prosedur, catatan kesalahan, rencana perbaikan</a:t>
            </a:r>
            <a:endParaRPr lang="en-US" sz="1040" dirty="0"/>
          </a:p>
        </p:txBody>
      </p:sp>
      <p:sp>
        <p:nvSpPr>
          <p:cNvPr id="29" name="Shape 22"/>
          <p:cNvSpPr/>
          <p:nvPr/>
        </p:nvSpPr>
        <p:spPr>
          <a:xfrm>
            <a:off x="777240" y="4224528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188720" y="4617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8F8F"/>
                </a:solidFill>
              </a:rPr>
              <a:t>•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389888" y="462686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Setiap tahap memiliki kriteria keberhasilan dan kesempatan perbaikan.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188720" y="5138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•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389888" y="514807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Ketuntasan tidak hanya pada teknik, tetapi juga pengetahuan produk, komunikasi, dan sikap kerja profesional.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Solusi menempatkan asesmen sebagai proses pembelajaran dan bukti kompetensi.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Matriks Bukti Kompetensi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Perangkat asesmen perlu menilai kompetensi vokasional secara holistik.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727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91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D5FB8"/>
                </a:solidFill>
              </a:rPr>
              <a:t>Pengetahuan</a:t>
            </a:r>
            <a:endParaRPr lang="en-US" sz="1230" dirty="0"/>
          </a:p>
        </p:txBody>
      </p:sp>
      <p:sp>
        <p:nvSpPr>
          <p:cNvPr id="7" name="Text 4"/>
          <p:cNvSpPr/>
          <p:nvPr/>
        </p:nvSpPr>
        <p:spPr>
          <a:xfrm>
            <a:off x="2743200" y="15910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jenis kulit, produk, prosedur, alasan tindakan</a:t>
            </a:r>
            <a:endParaRPr lang="en-US" sz="1110" dirty="0"/>
          </a:p>
        </p:txBody>
      </p:sp>
      <p:sp>
        <p:nvSpPr>
          <p:cNvPr id="8" name="Text 5"/>
          <p:cNvSpPr/>
          <p:nvPr/>
        </p:nvSpPr>
        <p:spPr>
          <a:xfrm>
            <a:off x="7635240" y="15910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D6676"/>
                </a:solidFill>
              </a:rPr>
              <a:t>Tes lisan / soal analitis</a:t>
            </a:r>
            <a:endParaRPr lang="en-US" sz="1110" dirty="0"/>
          </a:p>
        </p:txBody>
      </p:sp>
      <p:sp>
        <p:nvSpPr>
          <p:cNvPr id="9" name="Shape 6"/>
          <p:cNvSpPr/>
          <p:nvPr/>
        </p:nvSpPr>
        <p:spPr>
          <a:xfrm>
            <a:off x="777240" y="2029968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33172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350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E8F8F"/>
                </a:solidFill>
              </a:rPr>
              <a:t>Keterampilan</a:t>
            </a:r>
            <a:endParaRPr lang="en-US" sz="1230" dirty="0"/>
          </a:p>
        </p:txBody>
      </p:sp>
      <p:sp>
        <p:nvSpPr>
          <p:cNvPr id="12" name="Text 8"/>
          <p:cNvSpPr/>
          <p:nvPr/>
        </p:nvSpPr>
        <p:spPr>
          <a:xfrm>
            <a:off x="2743200" y="23500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urutan facial, teknik pijat, penggunaan alat</a:t>
            </a:r>
            <a:endParaRPr lang="en-US" sz="1110" dirty="0"/>
          </a:p>
        </p:txBody>
      </p:sp>
      <p:sp>
        <p:nvSpPr>
          <p:cNvPr id="13" name="Text 9"/>
          <p:cNvSpPr/>
          <p:nvPr/>
        </p:nvSpPr>
        <p:spPr>
          <a:xfrm>
            <a:off x="7635240" y="2350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D6676"/>
                </a:solidFill>
              </a:rPr>
              <a:t>Observasi kinerja</a:t>
            </a:r>
            <a:endParaRPr lang="en-US" sz="1110" dirty="0"/>
          </a:p>
        </p:txBody>
      </p:sp>
      <p:sp>
        <p:nvSpPr>
          <p:cNvPr id="14" name="Shape 10"/>
          <p:cNvSpPr/>
          <p:nvPr/>
        </p:nvSpPr>
        <p:spPr>
          <a:xfrm>
            <a:off x="777240" y="278892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30906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1089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97316"/>
                </a:solidFill>
              </a:rPr>
              <a:t>Sikap kerja</a:t>
            </a:r>
            <a:endParaRPr lang="en-US" sz="1230" dirty="0"/>
          </a:p>
        </p:txBody>
      </p:sp>
      <p:sp>
        <p:nvSpPr>
          <p:cNvPr id="17" name="Text 12"/>
          <p:cNvSpPr/>
          <p:nvPr/>
        </p:nvSpPr>
        <p:spPr>
          <a:xfrm>
            <a:off x="2743200" y="3108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higienitas, disiplin, komunikasi, kenyamanan klien</a:t>
            </a:r>
            <a:endParaRPr lang="en-US" sz="1110" dirty="0"/>
          </a:p>
        </p:txBody>
      </p:sp>
      <p:sp>
        <p:nvSpPr>
          <p:cNvPr id="18" name="Text 13"/>
          <p:cNvSpPr/>
          <p:nvPr/>
        </p:nvSpPr>
        <p:spPr>
          <a:xfrm>
            <a:off x="7635240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D6676"/>
                </a:solidFill>
              </a:rPr>
              <a:t>Rubrik sikap / checklist</a:t>
            </a:r>
            <a:endParaRPr lang="en-US" sz="1110" dirty="0"/>
          </a:p>
        </p:txBody>
      </p:sp>
      <p:sp>
        <p:nvSpPr>
          <p:cNvPr id="19" name="Shape 14"/>
          <p:cNvSpPr/>
          <p:nvPr/>
        </p:nvSpPr>
        <p:spPr>
          <a:xfrm>
            <a:off x="777240" y="3547872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240" y="38496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38679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6D28D9"/>
                </a:solidFill>
              </a:rPr>
              <a:t>Performa</a:t>
            </a:r>
            <a:endParaRPr lang="en-US" sz="1230" dirty="0"/>
          </a:p>
        </p:txBody>
      </p:sp>
      <p:sp>
        <p:nvSpPr>
          <p:cNvPr id="22" name="Text 16"/>
          <p:cNvSpPr/>
          <p:nvPr/>
        </p:nvSpPr>
        <p:spPr>
          <a:xfrm>
            <a:off x="2743200" y="38679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layanan lengkap sesuai standar salon simulasi</a:t>
            </a:r>
            <a:endParaRPr lang="en-US" sz="1110" dirty="0"/>
          </a:p>
        </p:txBody>
      </p:sp>
      <p:sp>
        <p:nvSpPr>
          <p:cNvPr id="23" name="Text 17"/>
          <p:cNvSpPr/>
          <p:nvPr/>
        </p:nvSpPr>
        <p:spPr>
          <a:xfrm>
            <a:off x="7635240" y="38679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D6676"/>
                </a:solidFill>
              </a:rPr>
              <a:t>Performance task</a:t>
            </a:r>
            <a:endParaRPr lang="en-US" sz="1110" dirty="0"/>
          </a:p>
        </p:txBody>
      </p:sp>
      <p:sp>
        <p:nvSpPr>
          <p:cNvPr id="24" name="Shape 18"/>
          <p:cNvSpPr/>
          <p:nvPr/>
        </p:nvSpPr>
        <p:spPr>
          <a:xfrm>
            <a:off x="777240" y="4306824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240" y="460857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70432" y="46268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23864A"/>
                </a:solidFill>
              </a:rPr>
              <a:t>Metakognisi</a:t>
            </a:r>
            <a:endParaRPr lang="en-US" sz="1230" dirty="0"/>
          </a:p>
        </p:txBody>
      </p:sp>
      <p:sp>
        <p:nvSpPr>
          <p:cNvPr id="27" name="Text 20"/>
          <p:cNvSpPr/>
          <p:nvPr/>
        </p:nvSpPr>
        <p:spPr>
          <a:xfrm>
            <a:off x="2743200" y="46268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F2937"/>
                </a:solidFill>
              </a:rPr>
              <a:t>refleksi kesalahan dan rencana perbaikan</a:t>
            </a:r>
            <a:endParaRPr lang="en-US" sz="1110" dirty="0"/>
          </a:p>
        </p:txBody>
      </p:sp>
      <p:sp>
        <p:nvSpPr>
          <p:cNvPr id="28" name="Text 21"/>
          <p:cNvSpPr/>
          <p:nvPr/>
        </p:nvSpPr>
        <p:spPr>
          <a:xfrm>
            <a:off x="7635240" y="4626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D6676"/>
                </a:solidFill>
              </a:rPr>
              <a:t>Jurnal refleksi</a:t>
            </a:r>
            <a:endParaRPr lang="en-US" sz="1110" dirty="0"/>
          </a:p>
        </p:txBody>
      </p:sp>
      <p:sp>
        <p:nvSpPr>
          <p:cNvPr id="29" name="Shape 22"/>
          <p:cNvSpPr/>
          <p:nvPr/>
        </p:nvSpPr>
        <p:spPr>
          <a:xfrm>
            <a:off x="777240" y="5065776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325880" y="5687568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Kriteria dibuat transparan agar murid dapat memahami standar dan memperbaiki performanya.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Matriks ini dapat dikembangkan menjadi rubrik performa, lembar observasi, dan portofolio.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Konsep Sintesis Strategi Asesmen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Hubungan antara masalah kasus, konsep asesmen mendalam, dan solusi perangkat asesmen.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0" y="19659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33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F4444"/>
                </a:solidFill>
              </a:rPr>
              <a:t>Masalah asesmen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676"/>
                </a:solidFill>
              </a:rPr>
              <a:t>akhir saja, belum utuh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2468880" y="2148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0440" y="19659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633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D5FB8"/>
                </a:solidFill>
              </a:rPr>
              <a:t>AaL + AfL + AoL</a:t>
            </a:r>
            <a:endParaRPr lang="en-US" sz="1380" dirty="0"/>
          </a:p>
        </p:txBody>
      </p:sp>
      <p:sp>
        <p:nvSpPr>
          <p:cNvPr id="11" name="Text 7"/>
          <p:cNvSpPr/>
          <p:nvPr/>
        </p:nvSpPr>
        <p:spPr>
          <a:xfrm>
            <a:off x="297180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676"/>
                </a:solidFill>
              </a:rPr>
              <a:t>refleksi, feedback, capaian</a:t>
            </a:r>
            <a:endParaRPr lang="en-US" sz="1080" dirty="0"/>
          </a:p>
        </p:txBody>
      </p:sp>
      <p:sp>
        <p:nvSpPr>
          <p:cNvPr id="12" name="Text 8"/>
          <p:cNvSpPr/>
          <p:nvPr/>
        </p:nvSpPr>
        <p:spPr>
          <a:xfrm>
            <a:off x="4709160" y="2148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0720" y="19659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2633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E8F8F"/>
                </a:solidFill>
              </a:rPr>
              <a:t>Instrumen autentik</a:t>
            </a:r>
            <a:endParaRPr lang="en-US" sz="1380" dirty="0"/>
          </a:p>
        </p:txBody>
      </p:sp>
      <p:sp>
        <p:nvSpPr>
          <p:cNvPr id="15" name="Text 10"/>
          <p:cNvSpPr/>
          <p:nvPr/>
        </p:nvSpPr>
        <p:spPr>
          <a:xfrm>
            <a:off x="521208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676"/>
                </a:solidFill>
              </a:rPr>
              <a:t>rubrik, observasi, portofolio</a:t>
            </a:r>
            <a:endParaRPr lang="en-US" sz="1080" dirty="0"/>
          </a:p>
        </p:txBody>
      </p:sp>
      <p:sp>
        <p:nvSpPr>
          <p:cNvPr id="16" name="Text 11"/>
          <p:cNvSpPr/>
          <p:nvPr/>
        </p:nvSpPr>
        <p:spPr>
          <a:xfrm>
            <a:off x="6949440" y="2148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0" y="19659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2360" y="2633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97316"/>
                </a:solidFill>
              </a:rPr>
              <a:t>Mastery learning</a:t>
            </a:r>
            <a:endParaRPr lang="en-US" sz="1380" dirty="0"/>
          </a:p>
        </p:txBody>
      </p:sp>
      <p:sp>
        <p:nvSpPr>
          <p:cNvPr id="19" name="Text 13"/>
          <p:cNvSpPr/>
          <p:nvPr/>
        </p:nvSpPr>
        <p:spPr>
          <a:xfrm>
            <a:off x="74523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676"/>
                </a:solidFill>
              </a:rPr>
              <a:t>tuntas tahap demi tahap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9189720" y="2148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41280" y="19659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92640" y="2633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23864A"/>
                </a:solidFill>
              </a:rPr>
              <a:t>Siap kerja</a:t>
            </a:r>
            <a:endParaRPr lang="en-US" sz="1380" dirty="0"/>
          </a:p>
        </p:txBody>
      </p:sp>
      <p:sp>
        <p:nvSpPr>
          <p:cNvPr id="23" name="Text 16"/>
          <p:cNvSpPr/>
          <p:nvPr/>
        </p:nvSpPr>
        <p:spPr>
          <a:xfrm>
            <a:off x="969264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676"/>
                </a:solidFill>
              </a:rPr>
              <a:t>kompeten dan profesional</a:t>
            </a:r>
            <a:endParaRPr lang="en-US" sz="1080" dirty="0"/>
          </a:p>
        </p:txBody>
      </p:sp>
      <p:sp>
        <p:nvSpPr>
          <p:cNvPr id="24" name="Shape 17"/>
          <p:cNvSpPr/>
          <p:nvPr/>
        </p:nvSpPr>
        <p:spPr>
          <a:xfrm>
            <a:off x="777240" y="420624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449"/>
                </a:solidFill>
              </a:rPr>
              <a:t>Level SOLO: relasional — menghubungkan konsep asesmen, bukti kompetensi, dan konteks praktik SMK menjadi kerangka utuh.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1600200" y="5440680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D6676"/>
                </a:solidFill>
              </a:rPr>
              <a:t>Bentuk berbagi: presentasi lisan, laporan tertulis, atau gallery walk.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Sintesis membuat solusi tidak hanya berupa jawaban, tetapi hubungan teori dan praktik.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 dan Tindak Lanjut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D6676"/>
                </a:solidFill>
              </a:rPr>
              <a:t>Setelah presentasi kelompok, mahasiswa mengevaluasi proses dan merancang penerapan di kelas nyata SMK.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10927080" cy="0"/>
          </a:xfrm>
          <a:prstGeom prst="line">
            <a:avLst/>
          </a:prstGeom>
          <a:noFill/>
          <a:ln w="13970">
            <a:solidFill>
              <a:srgbClr val="D5E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D5FB8"/>
                </a:solidFill>
              </a:rPr>
              <a:t>Refleksi Diri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800600" cy="0"/>
          </a:xfrm>
          <a:prstGeom prst="line">
            <a:avLst/>
          </a:prstGeom>
          <a:noFill/>
          <a:ln w="25400">
            <a:solidFill>
              <a:srgbClr val="1D5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5FB8"/>
                </a:solidFill>
              </a:rPr>
              <a:t>•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9848" y="22494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Apa yang sudah berhasil dilakukan kelompok?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5FB8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69848" y="2724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Tantangan apa yang muncul saat menyelesaikan kasus?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1912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D5FB8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69848" y="32004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Sejauh mana tujuan pembelajaran tercapai?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E8F8F"/>
                </a:solidFill>
              </a:rPr>
              <a:t>Tindak Lanjut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46520" y="2011680"/>
            <a:ext cx="4754880" cy="0"/>
          </a:xfrm>
          <a:prstGeom prst="line">
            <a:avLst/>
          </a:prstGeom>
          <a:noFill/>
          <a:ln w="25400">
            <a:solidFill>
              <a:srgbClr val="0E8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40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8F8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93408" y="22494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Menyempurnakan rubrik performa dan lembar observasi.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27157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8F8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93408" y="2724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Mencoba asesmen formatif pada praktik nyata.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1912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8F8F"/>
                </a:solidFill>
              </a:rPr>
              <a:t>•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93408" y="32004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Menggunakan portofolio dan refleksi sebagai bukti kemajuan.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315968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3120" y="475488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5FB8"/>
                </a:solidFill>
              </a:rPr>
              <a:t>Rancang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944368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0" y="475488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0332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8F8F"/>
                </a:solidFill>
              </a:rPr>
              <a:t>Coba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956048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6480" y="47548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71500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316"/>
                </a:solidFill>
              </a:rPr>
              <a:t>Umpan balik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6967728" y="4864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449"/>
                </a:solidFill>
              </a:rPr>
              <a:t>→</a:t>
            </a:r>
            <a:endParaRPr lang="en-US" sz="2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8160" y="475488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2668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864A"/>
                </a:solidFill>
              </a:rPr>
              <a:t>Perbaiki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Refleksi menjadi dasar perbaikan perangkat asesmen dan praktik mengajar.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412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Utama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1691640"/>
            <a:ext cx="9738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Asesmen pembelajaran mendalam di SMK harus autentik, berkelanjutan, transparan, dan digunakan untuk memperbaiki belajar — bukan hanya memberi nilai akhir.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480" y="31546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D5FB8"/>
                </a:solidFill>
              </a:rPr>
              <a:t>Autentik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1880" y="3154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46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8F8F"/>
                </a:solidFill>
              </a:rPr>
              <a:t>Formatif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9280" y="315468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D28D9"/>
                </a:solidFill>
              </a:rPr>
              <a:t>Reflektif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680" y="315468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94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97316"/>
                </a:solidFill>
              </a:rPr>
              <a:t>Holistik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4080" y="315468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3268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864A"/>
                </a:solidFill>
              </a:rPr>
              <a:t>Mastery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777240" y="4709160"/>
            <a:ext cx="1065276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3154680" y="5303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2449"/>
                </a:solidFill>
              </a:rPr>
              <a:t>Terima kasih</a:t>
            </a:r>
            <a:endParaRPr lang="en-US" sz="2800" dirty="0"/>
          </a:p>
        </p:txBody>
      </p:sp>
      <p:sp>
        <p:nvSpPr>
          <p:cNvPr id="16" name="Shape 9"/>
          <p:cNvSpPr/>
          <p:nvPr/>
        </p:nvSpPr>
        <p:spPr>
          <a:xfrm>
            <a:off x="621792" y="6199632"/>
            <a:ext cx="10927080" cy="0"/>
          </a:xfrm>
          <a:prstGeom prst="line">
            <a:avLst/>
          </a:prstGeom>
          <a:noFill/>
          <a:ln w="12700">
            <a:solidFill>
              <a:srgbClr val="D5E3F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58368" y="634593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D6676"/>
                </a:solidFill>
              </a:rPr>
              <a:t>Perangkat asesmen yang baik membantu murid siap menghadapi dunia kerja dan kehidupan nyata.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1349</Words>
  <Application>Microsoft Office PowerPoint</Application>
  <PresentationFormat>Widescreen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Asesmen Pembelajaran Mendalam dan Autentik di SMK</dc:title>
  <dc:subject>Topik 3 - Asesmen Pembelajaran Mendalam di SMK</dc:subject>
  <dc:creator>OpenAI</dc:creator>
  <cp:lastModifiedBy>Ahmad Nursyifa</cp:lastModifiedBy>
  <cp:revision>2</cp:revision>
  <dcterms:created xsi:type="dcterms:W3CDTF">2026-08-11T13:53:31Z</dcterms:created>
  <dcterms:modified xsi:type="dcterms:W3CDTF">2026-08-11T13:58:12Z</dcterms:modified>
</cp:coreProperties>
</file>