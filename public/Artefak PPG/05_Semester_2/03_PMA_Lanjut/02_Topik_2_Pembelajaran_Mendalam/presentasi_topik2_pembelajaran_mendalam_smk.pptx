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534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Relationship Id="rId14" Type="http://schemas.openxmlformats.org/officeDocument/2006/relationships/image" Target="../media/image5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sv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Relationship Id="rId14" Type="http://schemas.openxmlformats.org/officeDocument/2006/relationships/image" Target="../media/image6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69.png"/><Relationship Id="rId7" Type="http://schemas.openxmlformats.org/officeDocument/2006/relationships/image" Target="../media/image59.png"/><Relationship Id="rId12" Type="http://schemas.openxmlformats.org/officeDocument/2006/relationships/image" Target="../media/image7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73.png"/><Relationship Id="rId5" Type="http://schemas.openxmlformats.org/officeDocument/2006/relationships/image" Target="../media/image19.png"/><Relationship Id="rId10" Type="http://schemas.openxmlformats.org/officeDocument/2006/relationships/image" Target="../media/image72.svg"/><Relationship Id="rId4" Type="http://schemas.openxmlformats.org/officeDocument/2006/relationships/image" Target="../media/image70.svg"/><Relationship Id="rId9" Type="http://schemas.openxmlformats.org/officeDocument/2006/relationships/image" Target="../media/image7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7.png"/><Relationship Id="rId7" Type="http://schemas.openxmlformats.org/officeDocument/2006/relationships/image" Target="../media/image77.png"/><Relationship Id="rId12" Type="http://schemas.openxmlformats.org/officeDocument/2006/relationships/image" Target="../media/image8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sv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svg"/><Relationship Id="rId4" Type="http://schemas.openxmlformats.org/officeDocument/2006/relationships/image" Target="../media/image8.svg"/><Relationship Id="rId9" Type="http://schemas.openxmlformats.org/officeDocument/2006/relationships/image" Target="../media/image7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8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8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12" Type="http://schemas.openxmlformats.org/officeDocument/2006/relationships/image" Target="../media/image9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svg"/><Relationship Id="rId11" Type="http://schemas.openxmlformats.org/officeDocument/2006/relationships/image" Target="../media/image91.png"/><Relationship Id="rId5" Type="http://schemas.openxmlformats.org/officeDocument/2006/relationships/image" Target="../media/image87.png"/><Relationship Id="rId10" Type="http://schemas.openxmlformats.org/officeDocument/2006/relationships/image" Target="../media/image90.svg"/><Relationship Id="rId4" Type="http://schemas.openxmlformats.org/officeDocument/2006/relationships/image" Target="../media/image2.svg"/><Relationship Id="rId9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0880" y="987552"/>
            <a:ext cx="658368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8200" y="987552"/>
            <a:ext cx="658368" cy="65836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75520" y="987552"/>
            <a:ext cx="658368" cy="65836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31520" y="1143000"/>
            <a:ext cx="5715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1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Menghadirkan</a:t>
            </a:r>
            <a:endParaRPr lang="en-US" sz="4100" dirty="0"/>
          </a:p>
          <a:p>
            <a:pPr marL="0" indent="0">
              <a:buNone/>
            </a:pPr>
            <a:r>
              <a:rPr lang="en-US" sz="41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Dunia Kerja ke Sekolah</a:t>
            </a:r>
            <a:endParaRPr lang="en-US" sz="4100" dirty="0"/>
          </a:p>
        </p:txBody>
      </p:sp>
      <p:sp>
        <p:nvSpPr>
          <p:cNvPr id="6" name="Text 1"/>
          <p:cNvSpPr/>
          <p:nvPr/>
        </p:nvSpPr>
        <p:spPr>
          <a:xfrm>
            <a:off x="749808" y="3063240"/>
            <a:ext cx="5715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6676"/>
                </a:solidFill>
              </a:rPr>
              <a:t>Pembelajaran Mendalam di SMK melalui PBL, PjBL, TeFa, Kelas Wirausaha, Kelas Industri, dan PKL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768096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F8F"/>
                </a:solidFill>
              </a:rPr>
              <a:t>Topik 2 • Pembelajaran Mendalam dan Asesmen Lanjut SMK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8000" y="2286000"/>
            <a:ext cx="347472" cy="34747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537960" y="2788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</a:rPr>
              <a:t>PBL</a:t>
            </a:r>
            <a:endParaRPr lang="en-US" sz="10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2286000"/>
            <a:ext cx="347472" cy="34747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909560" y="2788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8F8F"/>
                </a:solidFill>
              </a:rPr>
              <a:t>PjBL</a:t>
            </a:r>
            <a:endParaRPr lang="en-US" sz="10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0" y="2286000"/>
            <a:ext cx="347472" cy="347472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281160" y="2788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5FB8"/>
                </a:solidFill>
              </a:rPr>
              <a:t>TeFa</a:t>
            </a:r>
            <a:endParaRPr lang="en-US" sz="105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58000" y="3749040"/>
            <a:ext cx="347472" cy="347472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537960" y="4251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864A"/>
                </a:solidFill>
              </a:rPr>
              <a:t>Kelas Industri</a:t>
            </a:r>
            <a:endParaRPr lang="en-US" sz="10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58200" y="3749040"/>
            <a:ext cx="347472" cy="347472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8138160" y="4251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</a:rPr>
              <a:t>Wirausaha</a:t>
            </a:r>
            <a:endParaRPr lang="en-US" sz="105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966960" y="3749040"/>
            <a:ext cx="347472" cy="347472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9646920" y="4251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</a:rPr>
              <a:t>PKL</a:t>
            </a:r>
            <a:endParaRPr lang="en-US" sz="1050" dirty="0"/>
          </a:p>
        </p:txBody>
      </p:sp>
      <p:sp>
        <p:nvSpPr>
          <p:cNvPr id="20" name="Shape 9"/>
          <p:cNvSpPr/>
          <p:nvPr/>
        </p:nvSpPr>
        <p:spPr>
          <a:xfrm>
            <a:off x="731520" y="4846320"/>
            <a:ext cx="10607040" cy="0"/>
          </a:xfrm>
          <a:prstGeom prst="line">
            <a:avLst/>
          </a:prstGeom>
          <a:noFill/>
          <a:ln w="15240">
            <a:solidFill>
              <a:srgbClr val="D5E3F6"/>
            </a:solidFill>
            <a:prstDash val="solid"/>
          </a:ln>
        </p:spPr>
      </p:sp>
      <p:sp>
        <p:nvSpPr>
          <p:cNvPr id="21" name="Text 10"/>
          <p:cNvSpPr/>
          <p:nvPr/>
        </p:nvSpPr>
        <p:spPr>
          <a:xfrm>
            <a:off x="777240" y="5166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2449"/>
                </a:solidFill>
              </a:rPr>
              <a:t>Dari pengalaman belajar autentik menuju kompetensi kerja.</a:t>
            </a:r>
            <a:endParaRPr lang="en-US" sz="2200" dirty="0"/>
          </a:p>
        </p:txBody>
      </p:sp>
      <p:sp>
        <p:nvSpPr>
          <p:cNvPr id="22" name="Shape 11"/>
          <p:cNvSpPr/>
          <p:nvPr/>
        </p:nvSpPr>
        <p:spPr>
          <a:xfrm>
            <a:off x="640080" y="6199632"/>
            <a:ext cx="108813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3" name="Text 12"/>
          <p:cNvSpPr/>
          <p:nvPr/>
        </p:nvSpPr>
        <p:spPr>
          <a:xfrm>
            <a:off x="685800" y="63276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Disusun sebagai presentasi ringkas dari dokumen Topik 2.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Tujuan Topik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id-ID" sz="1250" dirty="0">
                <a:solidFill>
                  <a:srgbClr val="5D6676"/>
                </a:solidFill>
              </a:rPr>
              <a:t>Memahami </a:t>
            </a:r>
            <a:r>
              <a:rPr lang="en-US" sz="1250" dirty="0" err="1">
                <a:solidFill>
                  <a:srgbClr val="5D6676"/>
                </a:solidFill>
              </a:rPr>
              <a:t>konsep</a:t>
            </a:r>
            <a:r>
              <a:rPr lang="en-US" sz="1250" dirty="0">
                <a:solidFill>
                  <a:srgbClr val="5D6676"/>
                </a:solidFill>
              </a:rPr>
              <a:t> pembelajaran mendalam di SMK dan menyusun rancangan pembelajaran serta asesmen berpihak pada murid.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3564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740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5FB8"/>
                </a:solidFill>
              </a:rPr>
              <a:t>Konsep PM di SMK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154680"/>
            <a:ext cx="2743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5D6676"/>
                </a:solidFill>
              </a:rPr>
              <a:t>Menjelaskan relevansi pembelajaran mendalam dengan PBL, PjBL, TeFa, Kelas Wirausaha, Kelas Industri, dan PKL.</a:t>
            </a:r>
            <a:endParaRPr lang="en-US" sz="1240" dirty="0"/>
          </a:p>
        </p:txBody>
      </p:sp>
      <p:sp>
        <p:nvSpPr>
          <p:cNvPr id="8" name="Shape 5"/>
          <p:cNvSpPr/>
          <p:nvPr/>
        </p:nvSpPr>
        <p:spPr>
          <a:xfrm>
            <a:off x="4160520" y="1874520"/>
            <a:ext cx="0" cy="283464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0" y="19202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8F8F"/>
                </a:solidFill>
              </a:rPr>
              <a:t>Rancangan &amp; Asesmen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343400" y="3154680"/>
            <a:ext cx="2743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5D6676"/>
                </a:solidFill>
              </a:rPr>
              <a:t>Menyusun desain pembelajaran yang berpihak pada murid dan berorientasi penguasaan kompetensi.</a:t>
            </a:r>
            <a:endParaRPr lang="en-US" sz="1240" dirty="0"/>
          </a:p>
        </p:txBody>
      </p:sp>
      <p:sp>
        <p:nvSpPr>
          <p:cNvPr id="12" name="Shape 8"/>
          <p:cNvSpPr/>
          <p:nvPr/>
        </p:nvSpPr>
        <p:spPr>
          <a:xfrm>
            <a:off x="7589520" y="1874520"/>
            <a:ext cx="0" cy="283464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5400" y="19202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</a:rPr>
              <a:t>Ekosistem DUDI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7772400" y="3154680"/>
            <a:ext cx="2743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5D6676"/>
                </a:solidFill>
              </a:rPr>
              <a:t>Menyatukan sekolah, guru, orang tua, kepala sekolah, dunia industri, dan pengguna lulusan.</a:t>
            </a:r>
            <a:endParaRPr lang="en-US" sz="1240" dirty="0"/>
          </a:p>
        </p:txBody>
      </p:sp>
      <p:sp>
        <p:nvSpPr>
          <p:cNvPr id="16" name="Text 11"/>
          <p:cNvSpPr/>
          <p:nvPr/>
        </p:nvSpPr>
        <p:spPr>
          <a:xfrm>
            <a:off x="1554480" y="5166360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82449"/>
                </a:solidFill>
              </a:rPr>
              <a:t>Prinsip utama: berkesadaran, bermakna, dan menggembirakan.</a:t>
            </a:r>
            <a:endParaRPr lang="en-US" sz="2100" dirty="0"/>
          </a:p>
        </p:txBody>
      </p:sp>
      <p:sp>
        <p:nvSpPr>
          <p:cNvPr id="17" name="Shape 12"/>
          <p:cNvSpPr/>
          <p:nvPr/>
        </p:nvSpPr>
        <p:spPr>
          <a:xfrm>
            <a:off x="640080" y="6199632"/>
            <a:ext cx="108813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85800" y="63276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Tujuan topik: konsep → model kontekstual → rancangan pembelajaran dan asesmen.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Pembelajaran Mendalam di SMK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6"/>
                </a:solidFill>
              </a:rPr>
              <a:t>Pembelajaran menghubungkan pengetahuan konseptual dan prosedural dengan konteks baru dan dunia kerja.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3564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740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5FB8"/>
                </a:solidFill>
              </a:rPr>
              <a:t>Berkesadaran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D6676"/>
                </a:solidFill>
              </a:rPr>
              <a:t>Murid tahu tujuan, proses, dan peran dirinya dalam belajar.</a:t>
            </a:r>
            <a:endParaRPr lang="en-US" sz="1220" dirty="0"/>
          </a:p>
        </p:txBody>
      </p:sp>
      <p:sp>
        <p:nvSpPr>
          <p:cNvPr id="8" name="Shape 5"/>
          <p:cNvSpPr/>
          <p:nvPr/>
        </p:nvSpPr>
        <p:spPr>
          <a:xfrm>
            <a:off x="4160520" y="1828800"/>
            <a:ext cx="0" cy="214884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0720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8F8F"/>
                </a:solidFill>
              </a:rPr>
              <a:t>Bermakna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1772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D6676"/>
                </a:solidFill>
              </a:rPr>
              <a:t>Konsep terhubung dengan praktik, konteks keahlian, dan kebutuhan industri.</a:t>
            </a:r>
            <a:endParaRPr lang="en-US" sz="1220" dirty="0"/>
          </a:p>
        </p:txBody>
      </p:sp>
      <p:sp>
        <p:nvSpPr>
          <p:cNvPr id="12" name="Shape 8"/>
          <p:cNvSpPr/>
          <p:nvPr/>
        </p:nvSpPr>
        <p:spPr>
          <a:xfrm>
            <a:off x="7863840" y="1828800"/>
            <a:ext cx="0" cy="214884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64040" y="18745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</a:rPr>
              <a:t>Menggembirakan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32104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D6676"/>
                </a:solidFill>
              </a:rPr>
              <a:t>Pembelajaran menantang, kolaboratif, aman, dan memberi ruang partisipasi.</a:t>
            </a:r>
            <a:endParaRPr lang="en-US" sz="1220" dirty="0"/>
          </a:p>
        </p:txBody>
      </p:sp>
      <p:sp>
        <p:nvSpPr>
          <p:cNvPr id="16" name="Shape 11"/>
          <p:cNvSpPr/>
          <p:nvPr/>
        </p:nvSpPr>
        <p:spPr>
          <a:xfrm>
            <a:off x="822960" y="4251960"/>
            <a:ext cx="1056132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43200" y="47091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240280" y="5303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8D9"/>
                </a:solidFill>
              </a:rPr>
              <a:t>Memahami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7947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2449"/>
                </a:solidFill>
              </a:rPr>
              <a:t>→</a:t>
            </a:r>
            <a:endParaRPr lang="en-US" sz="26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94960" y="470916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92040" y="5303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5FB8"/>
                </a:solidFill>
              </a:rPr>
              <a:t>Mengaplikasi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4465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2449"/>
                </a:solidFill>
              </a:rPr>
              <a:t>→</a:t>
            </a:r>
            <a:endParaRPr lang="en-US" sz="26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46720" y="4709160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543800" y="5303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864A"/>
                </a:solidFill>
              </a:rPr>
              <a:t>Merefleksi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640080" y="6199632"/>
            <a:ext cx="108813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685800" y="63276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Pembelajaran mendalam bukan sekadar aktivitas, tetapi pemahaman yang diterapkan dan direfleksikan.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Kasus SMK Negeri Mandiri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6"/>
                </a:solidFill>
              </a:rPr>
              <a:t>Tiga program keahlian menerapkan model berbeda untuk menghadirkan pengalaman belajar nyata.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3564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1680" y="1874520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06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5FB8"/>
                </a:solidFill>
              </a:rPr>
              <a:t>TKR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449"/>
                </a:solidFill>
              </a:rPr>
              <a:t>Kelas Industri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56432"/>
            <a:ext cx="27432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D6676"/>
                </a:solidFill>
              </a:rPr>
              <a:t>Praktik otomotif dengan standar bengkel resmi, SOP, teknisi industri, dan peralatan modern.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4114800" y="1828800"/>
            <a:ext cx="0" cy="274320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0720" y="187452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606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F8F"/>
                </a:solidFill>
              </a:rPr>
              <a:t>Tata Busana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61772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449"/>
                </a:solidFill>
              </a:rPr>
              <a:t>Teaching Factory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17720" y="3456432"/>
            <a:ext cx="27432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D6676"/>
                </a:solidFill>
              </a:rPr>
              <a:t>Proses produksi nyata di sekolah: desain, bahan, menjahit, sampai produk diterima konsumen.</a:t>
            </a:r>
            <a:endParaRPr lang="en-US" sz="1220" dirty="0"/>
          </a:p>
        </p:txBody>
      </p:sp>
      <p:sp>
        <p:nvSpPr>
          <p:cNvPr id="14" name="Shape 10"/>
          <p:cNvSpPr/>
          <p:nvPr/>
        </p:nvSpPr>
        <p:spPr>
          <a:xfrm>
            <a:off x="7863840" y="1828800"/>
            <a:ext cx="0" cy="274320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09760" y="1874520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606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</a:rPr>
              <a:t>BDP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6676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449"/>
                </a:solidFill>
              </a:rPr>
              <a:t>Kewirausahaan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66760" y="3456432"/>
            <a:ext cx="27432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D6676"/>
                </a:solidFill>
              </a:rPr>
              <a:t>Toko online, promosi, harga, layanan konsumen, dan penanganan komplain pelanggan.</a:t>
            </a:r>
            <a:endParaRPr lang="en-US" sz="1220" dirty="0"/>
          </a:p>
        </p:txBody>
      </p:sp>
      <p:sp>
        <p:nvSpPr>
          <p:cNvPr id="19" name="Text 14"/>
          <p:cNvSpPr/>
          <p:nvPr/>
        </p:nvSpPr>
        <p:spPr>
          <a:xfrm>
            <a:off x="1463040" y="521208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82449"/>
                </a:solidFill>
              </a:rPr>
              <a:t>Ketiganya berbasis pengalaman nyata, berorientasi kompetensi dunia kerja, dan mendukung mastery learning.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640080" y="6199632"/>
            <a:ext cx="108813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85800" y="63276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Kasus menunjukkan variasi model berdasarkan karakteristik program keahlian.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Peta Model Pembelajaran Kontekstual SMK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6"/>
                </a:solidFill>
              </a:rPr>
              <a:t>PBL, PjBL, TeFa, Kelas Industri, Kelas Wirausaha, dan PKL dapat membangun ekosistem belajar yang saling melengkapi.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3564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7800" y="2651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0" y="3337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449"/>
                </a:solidFill>
              </a:rPr>
              <a:t>Dunia Kerja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82449"/>
                </a:solidFill>
              </a:rPr>
              <a:t>di Sekolah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187452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61872" y="1874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</a:rPr>
              <a:t>PBL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261872" y="21945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676"/>
                </a:solidFill>
              </a:rPr>
              <a:t>Masalah nyata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" y="416052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61872" y="4160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</a:rPr>
              <a:t>PjBL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261872" y="44805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676"/>
                </a:solidFill>
              </a:rPr>
              <a:t>Proyek/produk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00600" y="4754880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39512" y="4754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</a:rPr>
              <a:t>TeFa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239512" y="50749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676"/>
                </a:solidFill>
              </a:rPr>
              <a:t>Produksi di sekolah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49640" y="4160520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988552" y="4160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</a:rPr>
              <a:t>Kelas Industri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8988552" y="44805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676"/>
                </a:solidFill>
              </a:rPr>
              <a:t>Standar mitra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49640" y="1874520"/>
            <a:ext cx="347472" cy="34747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988552" y="1874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</a:rPr>
              <a:t>Wirausaha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8988552" y="21945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676"/>
                </a:solidFill>
              </a:rPr>
              <a:t>Bisnis mandiri</a:t>
            </a:r>
            <a:endParaRPr lang="en-US" sz="10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00600" y="1645920"/>
            <a:ext cx="347472" cy="34747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39512" y="1645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</a:rPr>
              <a:t>PKL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5239512" y="19659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676"/>
                </a:solidFill>
              </a:rPr>
              <a:t>Praktik kerja nyata</a:t>
            </a:r>
            <a:endParaRPr lang="en-US" sz="1050" dirty="0"/>
          </a:p>
        </p:txBody>
      </p:sp>
      <p:sp>
        <p:nvSpPr>
          <p:cNvPr id="25" name="Shape 16"/>
          <p:cNvSpPr/>
          <p:nvPr/>
        </p:nvSpPr>
        <p:spPr>
          <a:xfrm>
            <a:off x="640080" y="6199632"/>
            <a:ext cx="108813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685800" y="63276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Model kontekstual perlu diorkestrasi, bukan dipakai secara terpisah.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Persamaan dan Perbedaan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6"/>
                </a:solidFill>
              </a:rPr>
              <a:t>Semua model autentik, tetapi memiliki titik tekan yang berbeda.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3564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E8F8F"/>
                </a:solidFill>
              </a:rPr>
              <a:t>Persamaan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121408"/>
            <a:ext cx="4572000" cy="0"/>
          </a:xfrm>
          <a:prstGeom prst="line">
            <a:avLst/>
          </a:prstGeom>
          <a:noFill/>
          <a:ln w="25400">
            <a:solidFill>
              <a:srgbClr val="0E8F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E8F8F"/>
                </a:solidFill>
              </a:rPr>
              <a:t>•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1069848" y="23408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Berbasis pengalaman nyata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E8F8F"/>
                </a:solidFill>
              </a:rPr>
              <a:t>•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1069848" y="27523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Berorientasi keterampilan dunia kerja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E8F8F"/>
                </a:solidFill>
              </a:rPr>
              <a:t>•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1069848" y="31638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Melibatkan industri, masyarakat, atau konsumen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E8F8F"/>
                </a:solidFill>
              </a:rPr>
              <a:t>•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69848" y="35753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Menghasilkan produk, jasa, atau performa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868680" y="3977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E8F8F"/>
                </a:solidFill>
              </a:rPr>
              <a:t>•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1069848" y="39867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Mengembangkan hard skills dan soft skills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400800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D5FB8"/>
                </a:solidFill>
              </a:rPr>
              <a:t>Perbedaan Fokus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0" y="2121408"/>
            <a:ext cx="4572000" cy="0"/>
          </a:xfrm>
          <a:prstGeom prst="line">
            <a:avLst/>
          </a:prstGeom>
          <a:noFill/>
          <a:ln w="25400">
            <a:solidFill>
              <a:srgbClr val="1D5F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2677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D5FB8"/>
                </a:solidFill>
              </a:rPr>
              <a:t>Kelas Industri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8001000" y="22677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D6676"/>
                </a:solidFill>
              </a:rPr>
              <a:t>standarisasi kerja mitra industri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400800" y="27249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E8F8F"/>
                </a:solidFill>
              </a:rPr>
              <a:t>TeFa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8001000" y="27249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D6676"/>
                </a:solidFill>
              </a:rPr>
              <a:t>proses produksi barang/jasa di sekolah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6400800" y="31821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F97316"/>
                </a:solidFill>
              </a:rPr>
              <a:t>Kewirausahaan</a:t>
            </a:r>
            <a:endParaRPr lang="en-US" sz="1170" dirty="0"/>
          </a:p>
        </p:txBody>
      </p:sp>
      <p:sp>
        <p:nvSpPr>
          <p:cNvPr id="24" name="Text 22"/>
          <p:cNvSpPr/>
          <p:nvPr/>
        </p:nvSpPr>
        <p:spPr>
          <a:xfrm>
            <a:off x="8001000" y="31821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D6676"/>
                </a:solidFill>
              </a:rPr>
              <a:t>mental dan keterampilan bisnis mandiri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6400800" y="36393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23864A"/>
                </a:solidFill>
              </a:rPr>
              <a:t>PKL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8001000" y="36393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D6676"/>
                </a:solidFill>
              </a:rPr>
              <a:t>penerapan kompetensi di tempat kerja nyata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6400800" y="4096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6D28D9"/>
                </a:solidFill>
              </a:rPr>
              <a:t>PBL/PjBL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8001000" y="40965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D6676"/>
                </a:solidFill>
              </a:rPr>
              <a:t>masalah/proyek sebagai penggerak belajar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822960" y="5029200"/>
            <a:ext cx="1056132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544068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449"/>
                </a:solidFill>
              </a:rPr>
              <a:t>Kesimpulan: model berbeda tetap dapat diarahkan pada penguasaan kompetensi bertahap.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0080" y="6199632"/>
            <a:ext cx="108813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63276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Persamaan dan perbedaan menjadi dasar memilih model sesuai tujuan dan konteks.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Pengelolaan Model untuk Mastery Learning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6"/>
                </a:solidFill>
              </a:rPr>
              <a:t>Murid perlu mencapai penguasaan kompetensi secara bertahap sebelum melanjutkan ke pengalaman kerja yang lebih kompleks.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3564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210312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743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D5FB8"/>
                </a:solidFill>
              </a:rPr>
              <a:t>Peta CP</a:t>
            </a:r>
            <a:endParaRPr lang="en-US" sz="1230" dirty="0"/>
          </a:p>
        </p:txBody>
      </p:sp>
      <p:sp>
        <p:nvSpPr>
          <p:cNvPr id="7" name="Text 4"/>
          <p:cNvSpPr/>
          <p:nvPr/>
        </p:nvSpPr>
        <p:spPr>
          <a:xfrm>
            <a:off x="1920240" y="2331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33472" y="210312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04872" y="2743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E8F8F"/>
                </a:solidFill>
              </a:rPr>
              <a:t>Asesmen awal</a:t>
            </a:r>
            <a:endParaRPr lang="en-US" sz="1230" dirty="0"/>
          </a:p>
        </p:txBody>
      </p:sp>
      <p:sp>
        <p:nvSpPr>
          <p:cNvPr id="10" name="Text 6"/>
          <p:cNvSpPr/>
          <p:nvPr/>
        </p:nvSpPr>
        <p:spPr>
          <a:xfrm>
            <a:off x="3547872" y="2331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61104" y="210312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32504" y="2743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97316"/>
                </a:solidFill>
              </a:rPr>
              <a:t>Penguatan dasar</a:t>
            </a:r>
            <a:endParaRPr lang="en-US" sz="1230" dirty="0"/>
          </a:p>
        </p:txBody>
      </p:sp>
      <p:sp>
        <p:nvSpPr>
          <p:cNvPr id="13" name="Text 8"/>
          <p:cNvSpPr/>
          <p:nvPr/>
        </p:nvSpPr>
        <p:spPr>
          <a:xfrm>
            <a:off x="5175504" y="2331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88736" y="2103120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60136" y="2743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6D28D9"/>
                </a:solidFill>
              </a:rPr>
              <a:t>Model autentik</a:t>
            </a:r>
            <a:endParaRPr lang="en-US" sz="1230" dirty="0"/>
          </a:p>
        </p:txBody>
      </p:sp>
      <p:sp>
        <p:nvSpPr>
          <p:cNvPr id="16" name="Text 10"/>
          <p:cNvSpPr/>
          <p:nvPr/>
        </p:nvSpPr>
        <p:spPr>
          <a:xfrm>
            <a:off x="6803136" y="2331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16368" y="2103120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87768" y="2743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3864A"/>
                </a:solidFill>
              </a:rPr>
              <a:t>Checkpoint</a:t>
            </a:r>
            <a:endParaRPr lang="en-US" sz="1230" dirty="0"/>
          </a:p>
        </p:txBody>
      </p:sp>
      <p:sp>
        <p:nvSpPr>
          <p:cNvPr id="19" name="Text 12"/>
          <p:cNvSpPr/>
          <p:nvPr/>
        </p:nvSpPr>
        <p:spPr>
          <a:xfrm>
            <a:off x="8430768" y="2331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44000" y="2103120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915400" y="2743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EF4444"/>
                </a:solidFill>
              </a:rPr>
              <a:t>Remedial/Pengayaan</a:t>
            </a:r>
            <a:endParaRPr lang="en-US" sz="1230" dirty="0"/>
          </a:p>
        </p:txBody>
      </p:sp>
      <p:sp>
        <p:nvSpPr>
          <p:cNvPr id="22" name="Text 14"/>
          <p:cNvSpPr/>
          <p:nvPr/>
        </p:nvSpPr>
        <p:spPr>
          <a:xfrm>
            <a:off x="10058400" y="2331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71632" y="2103120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543032" y="2743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82449"/>
                </a:solidFill>
              </a:rPr>
              <a:t>Bukti mastery</a:t>
            </a:r>
            <a:endParaRPr lang="en-US" sz="1230" dirty="0"/>
          </a:p>
        </p:txBody>
      </p:sp>
      <p:sp>
        <p:nvSpPr>
          <p:cNvPr id="25" name="Shape 16"/>
          <p:cNvSpPr/>
          <p:nvPr/>
        </p:nvSpPr>
        <p:spPr>
          <a:xfrm>
            <a:off x="822960" y="3794760"/>
            <a:ext cx="1056132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137160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D5FB8"/>
                </a:solidFill>
              </a:rPr>
              <a:t>•</a:t>
            </a:r>
            <a:endParaRPr lang="en-US" sz="1700" dirty="0"/>
          </a:p>
        </p:txBody>
      </p:sp>
      <p:sp>
        <p:nvSpPr>
          <p:cNvPr id="27" name="Text 18"/>
          <p:cNvSpPr/>
          <p:nvPr/>
        </p:nvSpPr>
        <p:spPr>
          <a:xfrm>
            <a:off x="1572768" y="426110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Model dipilih berdasarkan tujuan pembelajaran, kebutuhan murid, fasilitas, waktu, dan tuntutan kompetensi kejuruan.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371600" y="4754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E8F8F"/>
                </a:solidFill>
              </a:rPr>
              <a:t>•</a:t>
            </a:r>
            <a:endParaRPr lang="en-US" sz="1700" dirty="0"/>
          </a:p>
        </p:txBody>
      </p:sp>
      <p:sp>
        <p:nvSpPr>
          <p:cNvPr id="29" name="Text 20"/>
          <p:cNvSpPr/>
          <p:nvPr/>
        </p:nvSpPr>
        <p:spPr>
          <a:xfrm>
            <a:off x="1572768" y="476402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Asesmen formatif menjadi dasar penguatan, remedial, pengayaan, dan keputusan lanjut ke tahap berikutnya.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1371600" y="5257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97316"/>
                </a:solidFill>
              </a:rPr>
              <a:t>•</a:t>
            </a:r>
            <a:endParaRPr lang="en-US" sz="1700" dirty="0"/>
          </a:p>
        </p:txBody>
      </p:sp>
      <p:sp>
        <p:nvSpPr>
          <p:cNvPr id="31" name="Text 22"/>
          <p:cNvSpPr/>
          <p:nvPr/>
        </p:nvSpPr>
        <p:spPr>
          <a:xfrm>
            <a:off x="1572768" y="526694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Mastery learning berarti murid menunjukkan bukti penguasaan, bukan sekadar menyelesaikan aktivitas.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640080" y="6199632"/>
            <a:ext cx="108813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685800" y="63276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Alur ini menjaga pembelajaran tetap bertahap, tuntas, dan responsif.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 Saya sebagai Guru Informatika/SMK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6"/>
                </a:solidFill>
              </a:rPr>
              <a:t>Strategi untuk mengelola pembelajaran sebelum KIK, TeFa, Kelas Industri, dan PKL.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3564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60020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184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5FB8"/>
                </a:solidFill>
              </a:rPr>
              <a:t>Identifikasi CP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520440" y="161848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</a:rPr>
              <a:t>Pecah elemen kompetensi menjadi indikator kecil.</a:t>
            </a:r>
            <a:endParaRPr lang="en-US" sz="1140" dirty="0"/>
          </a:p>
        </p:txBody>
      </p:sp>
      <p:sp>
        <p:nvSpPr>
          <p:cNvPr id="8" name="Shape 5"/>
          <p:cNvSpPr/>
          <p:nvPr/>
        </p:nvSpPr>
        <p:spPr>
          <a:xfrm>
            <a:off x="822960" y="2075688"/>
            <a:ext cx="1056132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233172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3500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8F"/>
                </a:solidFill>
              </a:rPr>
              <a:t>Cek kesiapan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520440" y="235000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</a:rPr>
              <a:t>Asesmen awal konsep, keterampilan, sikap kerja, dan kebutuhan dukungan.</a:t>
            </a:r>
            <a:endParaRPr lang="en-US" sz="1140" dirty="0"/>
          </a:p>
        </p:txBody>
      </p:sp>
      <p:sp>
        <p:nvSpPr>
          <p:cNvPr id="12" name="Shape 8"/>
          <p:cNvSpPr/>
          <p:nvPr/>
        </p:nvSpPr>
        <p:spPr>
          <a:xfrm>
            <a:off x="822960" y="2807208"/>
            <a:ext cx="1056132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306324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081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7316"/>
                </a:solidFill>
              </a:rPr>
              <a:t>Latihan bertahap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520440" y="30815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</a:rPr>
              <a:t>Mulai dari simulasi sederhana menuju tugas kerja autentik.</a:t>
            </a:r>
            <a:endParaRPr lang="en-US" sz="1140" dirty="0"/>
          </a:p>
        </p:txBody>
      </p:sp>
      <p:sp>
        <p:nvSpPr>
          <p:cNvPr id="16" name="Shape 11"/>
          <p:cNvSpPr/>
          <p:nvPr/>
        </p:nvSpPr>
        <p:spPr>
          <a:xfrm>
            <a:off x="822960" y="3538728"/>
            <a:ext cx="1056132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379476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813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</a:rPr>
              <a:t>Standar profesional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3520440" y="381304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</a:rPr>
              <a:t>SOP, keselamatan, kualitas, komunikasi, dan dokumentasi kerja.</a:t>
            </a:r>
            <a:endParaRPr lang="en-US" sz="1140" dirty="0"/>
          </a:p>
        </p:txBody>
      </p:sp>
      <p:sp>
        <p:nvSpPr>
          <p:cNvPr id="20" name="Shape 14"/>
          <p:cNvSpPr/>
          <p:nvPr/>
        </p:nvSpPr>
        <p:spPr>
          <a:xfrm>
            <a:off x="822960" y="4270248"/>
            <a:ext cx="1056132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4400" y="452628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5445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64A"/>
                </a:solidFill>
              </a:rPr>
              <a:t>Portofolio &amp; refleksi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3520440" y="454456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</a:rPr>
              <a:t>Bukti proses, umpan balik, perbaikan, dan target berikutnya.</a:t>
            </a:r>
            <a:endParaRPr lang="en-US" sz="1140" dirty="0"/>
          </a:p>
        </p:txBody>
      </p:sp>
      <p:sp>
        <p:nvSpPr>
          <p:cNvPr id="24" name="Shape 17"/>
          <p:cNvSpPr/>
          <p:nvPr/>
        </p:nvSpPr>
        <p:spPr>
          <a:xfrm>
            <a:off x="822960" y="5001768"/>
            <a:ext cx="1056132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143000" y="57150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449"/>
                </a:solidFill>
              </a:rPr>
              <a:t>Tujuan: murid siap memasuki konteks kerja yang lebih autentik tanpa kehilangan arah belajar.</a:t>
            </a:r>
            <a:endParaRPr lang="en-US" sz="1700" dirty="0"/>
          </a:p>
        </p:txBody>
      </p:sp>
      <p:sp>
        <p:nvSpPr>
          <p:cNvPr id="26" name="Shape 19"/>
          <p:cNvSpPr/>
          <p:nvPr/>
        </p:nvSpPr>
        <p:spPr>
          <a:xfrm>
            <a:off x="640080" y="6199632"/>
            <a:ext cx="108813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85800" y="63276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Strategi guru berfungsi sebagai jembatan menuju pembelajaran kerja nyata.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Merancang PjBL dan TeFa yang Imersif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6"/>
                </a:solidFill>
              </a:rPr>
              <a:t>Pengalaman belajar menjadi mendalam ketika murid menjalani alur kerja yang utuh.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3564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7320" y="2194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07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F97316"/>
                </a:solidFill>
              </a:rPr>
              <a:t>Masalah/pesanan nyata</a:t>
            </a:r>
            <a:endParaRPr lang="en-US" sz="1330" dirty="0"/>
          </a:p>
        </p:txBody>
      </p:sp>
      <p:sp>
        <p:nvSpPr>
          <p:cNvPr id="7" name="Text 4"/>
          <p:cNvSpPr/>
          <p:nvPr/>
        </p:nvSpPr>
        <p:spPr>
          <a:xfrm>
            <a:off x="2331720" y="2359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6160" y="21945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71800" y="2907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D5FB8"/>
                </a:solidFill>
              </a:rPr>
              <a:t>Perencanaan kerja</a:t>
            </a:r>
            <a:endParaRPr lang="en-US" sz="1330" dirty="0"/>
          </a:p>
        </p:txBody>
      </p:sp>
      <p:sp>
        <p:nvSpPr>
          <p:cNvPr id="10" name="Text 6"/>
          <p:cNvSpPr/>
          <p:nvPr/>
        </p:nvSpPr>
        <p:spPr>
          <a:xfrm>
            <a:off x="4480560" y="2359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0" y="21945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0640" y="2907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0E8F8F"/>
                </a:solidFill>
              </a:rPr>
              <a:t>Produksi/praktik</a:t>
            </a:r>
            <a:endParaRPr lang="en-US" sz="1330" dirty="0"/>
          </a:p>
        </p:txBody>
      </p:sp>
      <p:sp>
        <p:nvSpPr>
          <p:cNvPr id="13" name="Text 8"/>
          <p:cNvSpPr/>
          <p:nvPr/>
        </p:nvSpPr>
        <p:spPr>
          <a:xfrm>
            <a:off x="6629400" y="2359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63840" y="219456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69480" y="2907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23864A"/>
                </a:solidFill>
              </a:rPr>
              <a:t>Quality control</a:t>
            </a:r>
            <a:endParaRPr lang="en-US" sz="1330" dirty="0"/>
          </a:p>
        </p:txBody>
      </p:sp>
      <p:sp>
        <p:nvSpPr>
          <p:cNvPr id="16" name="Text 10"/>
          <p:cNvSpPr/>
          <p:nvPr/>
        </p:nvSpPr>
        <p:spPr>
          <a:xfrm>
            <a:off x="8778240" y="2359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12680" y="219456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418320" y="2907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6D28D9"/>
                </a:solidFill>
              </a:rPr>
              <a:t>Presentasi &amp; refleksi</a:t>
            </a:r>
            <a:endParaRPr lang="en-US" sz="1330" dirty="0"/>
          </a:p>
        </p:txBody>
      </p:sp>
      <p:sp>
        <p:nvSpPr>
          <p:cNvPr id="19" name="Shape 12"/>
          <p:cNvSpPr/>
          <p:nvPr/>
        </p:nvSpPr>
        <p:spPr>
          <a:xfrm>
            <a:off x="822960" y="3886200"/>
            <a:ext cx="1056132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1280160" y="4343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0E8F8F"/>
                </a:solidFill>
              </a:rPr>
              <a:t>•</a:t>
            </a:r>
            <a:endParaRPr lang="en-US" sz="1650" dirty="0"/>
          </a:p>
        </p:txBody>
      </p:sp>
      <p:sp>
        <p:nvSpPr>
          <p:cNvPr id="21" name="Text 14"/>
          <p:cNvSpPr/>
          <p:nvPr/>
        </p:nvSpPr>
        <p:spPr>
          <a:xfrm>
            <a:off x="1481328" y="4352544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Peran murid dibuat jelas: perencana, pelaksana, pencatat, quality control, komunikator/presenter.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280160" y="4800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D5FB8"/>
                </a:solidFill>
              </a:rPr>
              <a:t>•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1481328" y="4809744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Standar keberhasilan disampaikan sejak awal melalui rubrik dan contoh kinerja.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280160" y="5257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97316"/>
                </a:solidFill>
              </a:rPr>
              <a:t>•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1481328" y="5266944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Refleksi diarahkan pada keputusan, kesalahan, perbaikan, dan bukti penguasaan kompetensi.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40080" y="6199632"/>
            <a:ext cx="108813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85800" y="63276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PjBL dan TeFa bukan hanya produk akhir, tetapi proses kerja yang bermakna.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Refleksi</a:t>
            </a: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000" b="1" dirty="0" err="1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Singkat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6"/>
                </a:solidFill>
              </a:rPr>
              <a:t>Ringkasan refleksi setelah membaca kasus SMK Negeri Mandiri.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3564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740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5FB8"/>
                </a:solidFill>
              </a:rPr>
              <a:t>Hal baru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27432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5D6676"/>
                </a:solidFill>
              </a:rPr>
              <a:t>Model pembelajaran SMK dapat berbeda pada setiap jurusan, tetapi tetap mengarah pada pengalaman autentik dan kompetensi kerja.</a:t>
            </a:r>
            <a:endParaRPr lang="en-US" sz="1240" dirty="0"/>
          </a:p>
        </p:txBody>
      </p:sp>
      <p:sp>
        <p:nvSpPr>
          <p:cNvPr id="8" name="Shape 5"/>
          <p:cNvSpPr/>
          <p:nvPr/>
        </p:nvSpPr>
        <p:spPr>
          <a:xfrm>
            <a:off x="4160520" y="1920240"/>
            <a:ext cx="0" cy="246888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0720" y="1965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8F8F"/>
                </a:solidFill>
              </a:rPr>
              <a:t>Paling menarik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17720" y="3246120"/>
            <a:ext cx="27432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5D6676"/>
                </a:solidFill>
              </a:rPr>
              <a:t>Teaching Factory, karena murid menjalani proses produksi nyata dari pesanan, proses, kualitas, sampai konsumen.</a:t>
            </a:r>
            <a:endParaRPr lang="en-US" sz="1240" dirty="0"/>
          </a:p>
        </p:txBody>
      </p:sp>
      <p:sp>
        <p:nvSpPr>
          <p:cNvPr id="12" name="Shape 8"/>
          <p:cNvSpPr/>
          <p:nvPr/>
        </p:nvSpPr>
        <p:spPr>
          <a:xfrm>
            <a:off x="7863840" y="1920240"/>
            <a:ext cx="0" cy="246888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64040" y="19659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7316"/>
                </a:solidFill>
              </a:rPr>
              <a:t>Pertanyaan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321040" y="3246120"/>
            <a:ext cx="27432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5D6676"/>
                </a:solidFill>
              </a:rPr>
              <a:t>Bagaimana sekolah memastikan setiap model tetap adil, tuntas, dan sesuai kesiapan murid?</a:t>
            </a:r>
            <a:endParaRPr lang="en-US" sz="1240" dirty="0"/>
          </a:p>
        </p:txBody>
      </p:sp>
      <p:sp>
        <p:nvSpPr>
          <p:cNvPr id="16" name="Text 11"/>
          <p:cNvSpPr/>
          <p:nvPr/>
        </p:nvSpPr>
        <p:spPr>
          <a:xfrm>
            <a:off x="1554480" y="516636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449"/>
                </a:solidFill>
              </a:rPr>
              <a:t>Refleksi ini menegaskan bahwa model pembelajaran perlu disertai asesmen, pengelolaan kelas, dan tindak lanjut yang jelas.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40080" y="6199632"/>
            <a:ext cx="108813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85800" y="63276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Refleksi menghubungkan kasus dengan rencana praktik mengajar.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Sintesis Akhir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6"/>
                </a:solidFill>
              </a:rPr>
              <a:t>Pembelajaran mendalam di SMK perlu dirancang sebagai ekosistem pengalaman belajar autentik.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3564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5FB8"/>
                </a:solidFill>
              </a:rPr>
              <a:t>PBL/PjBL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06040" y="16916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676"/>
                </a:solidFill>
              </a:rPr>
              <a:t>masalah &amp; proyek nyata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8F"/>
                </a:solidFill>
              </a:rPr>
              <a:t>TeFa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06040" y="22860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676"/>
                </a:solidFill>
              </a:rPr>
              <a:t>produksi di sekolah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64A"/>
                </a:solidFill>
              </a:rPr>
              <a:t>Kelas Industri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06040" y="28803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676"/>
                </a:solidFill>
              </a:rPr>
              <a:t>standar profesional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7316"/>
                </a:solidFill>
              </a:rPr>
              <a:t>Kelas Wirausaha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06040" y="34747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676"/>
                </a:solidFill>
              </a:rPr>
              <a:t>mental bisnis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</a:rPr>
              <a:t>PKL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40690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676"/>
                </a:solidFill>
              </a:rPr>
              <a:t>situasi kerja langsung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82449"/>
                </a:solidFill>
              </a:rPr>
              <a:t>→</a:t>
            </a:r>
            <a:endParaRPr lang="en-US" sz="34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9400" y="2057400"/>
            <a:ext cx="548640" cy="5486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22376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F8F"/>
                </a:solidFill>
              </a:rPr>
              <a:t>Rancangan berpihak pada murid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269480" y="26517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8F8F"/>
                </a:solidFill>
              </a:rPr>
              <a:t>•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470648" y="26609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Tujuan kompetensi jelas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269480" y="3017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8F8F"/>
                </a:solidFill>
              </a:rPr>
              <a:t>•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470648" y="3026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Konteks kerja autentik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269480" y="33832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8F8F"/>
                </a:solidFill>
              </a:rPr>
              <a:t>•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470648" y="3392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Asesmen formatif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69480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8F8F"/>
                </a:solidFill>
              </a:rPr>
              <a:t>•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70648" y="37581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Remedial dan pengayaan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4114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8F8F"/>
                </a:solidFill>
              </a:rPr>
              <a:t>•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470648" y="41239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Refleksi berkelanjutan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417320" y="557784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449"/>
                </a:solidFill>
              </a:rPr>
              <a:t>Output: lulusan kompeten, mandiri, adaptif, dan siap kerja.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640080" y="6199632"/>
            <a:ext cx="108813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63276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Synthesis: model, asesmen, dan kebutuhan murid perlu dirancang dalam satu alur.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 Utama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17320" y="1691640"/>
            <a:ext cx="93268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7"/>
                </a:solidFill>
              </a:rPr>
              <a:t>Pembelajaran mendalam di SMK menjadi kuat ketika PBL, PjBL, TeFa, Kelas Industri, Kelas Wirausaha, dan PKL dikelola sebagai ekosistem pengalaman belajar autentik yang berpihak pada murid.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4480" y="31546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D5FB8"/>
                </a:solidFill>
              </a:rPr>
              <a:t>Autentik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1880" y="31546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546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8F8F"/>
                </a:solidFill>
              </a:rPr>
              <a:t>Imersif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69280" y="315468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120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97316"/>
                </a:solidFill>
              </a:rPr>
              <a:t>Bertahap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6680" y="3154680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694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864A"/>
                </a:solidFill>
              </a:rPr>
              <a:t>Tuntas</a:t>
            </a:r>
            <a:endParaRPr lang="en-US" sz="14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84080" y="3154680"/>
            <a:ext cx="457200" cy="4572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3268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D28D9"/>
                </a:solidFill>
              </a:rPr>
              <a:t>Reflektif</a:t>
            </a:r>
            <a:endParaRPr lang="en-US" sz="1450" dirty="0"/>
          </a:p>
        </p:txBody>
      </p:sp>
      <p:sp>
        <p:nvSpPr>
          <p:cNvPr id="14" name="Shape 7"/>
          <p:cNvSpPr/>
          <p:nvPr/>
        </p:nvSpPr>
        <p:spPr>
          <a:xfrm>
            <a:off x="822960" y="4709160"/>
            <a:ext cx="1056132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3200400" y="5303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2449"/>
                </a:solidFill>
              </a:rPr>
              <a:t>Terima kasih</a:t>
            </a:r>
            <a:endParaRPr lang="en-US" sz="2800" dirty="0"/>
          </a:p>
        </p:txBody>
      </p:sp>
      <p:sp>
        <p:nvSpPr>
          <p:cNvPr id="16" name="Shape 9"/>
          <p:cNvSpPr/>
          <p:nvPr/>
        </p:nvSpPr>
        <p:spPr>
          <a:xfrm>
            <a:off x="640080" y="6199632"/>
            <a:ext cx="108813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85800" y="63276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Pembelajaran yang dekat dengan dunia kerja membantu murid siap menghadapi masa depan.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1063</Words>
  <Application>Microsoft Office PowerPoint</Application>
  <PresentationFormat>Widescreen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Ahmad Nursyifa</cp:lastModifiedBy>
  <cp:revision>2</cp:revision>
  <dcterms:created xsi:type="dcterms:W3CDTF">2026-08-11T13:24:58Z</dcterms:created>
  <dcterms:modified xsi:type="dcterms:W3CDTF">2026-08-11T13:51:11Z</dcterms:modified>
</cp:coreProperties>
</file>