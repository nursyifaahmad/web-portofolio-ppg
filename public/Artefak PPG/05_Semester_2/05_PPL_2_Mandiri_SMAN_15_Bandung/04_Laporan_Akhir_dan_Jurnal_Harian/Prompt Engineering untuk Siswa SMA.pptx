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4" r:id="rId9"/>
    <p:sldId id="262" r:id="rId10"/>
    <p:sldId id="263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JetBrains Mono"/>
      <p:regular r:id="rId17"/>
    </p:embeddedFont>
    <p:embeddedFont>
      <p:font typeface="Plus Jakarta Sans"/>
      <p:bold r:id="rId18"/>
      <p: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F6459-F6E9-4945-996C-95873A4DC195}" type="datetimeFigureOut">
              <a:rPr lang="id-ID" smtClean="0"/>
              <a:t>22/09/2026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8658A-6E91-4C9B-A633-D1004B12950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962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8658A-6E91-4C9B-A633-D1004B129505}" type="slidenum">
              <a:rPr lang="id-ID" smtClean="0"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10456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86147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1958429"/>
            <a:ext cx="194437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JetBrains Mono"/>
              </a:rPr>
              <a:t>MATERI PEMBELAJARAN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358479"/>
            <a:ext cx="860107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Seni </a:t>
            </a:r>
            <a:r>
              <a:rPr sz="4200" b="1" i="0" u="none" dirty="0" err="1">
                <a:solidFill>
                  <a:srgbClr val="FFFFFF"/>
                </a:solidFill>
                <a:latin typeface="Plus Jakarta Sans"/>
              </a:rPr>
              <a:t>Berkomunikasi</a:t>
            </a: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 </a:t>
            </a:r>
            <a:r>
              <a:rPr sz="4200" b="1" i="0" u="none" dirty="0" err="1">
                <a:solidFill>
                  <a:srgbClr val="FFFFFF"/>
                </a:solidFill>
                <a:latin typeface="Plus Jakarta Sans"/>
              </a:rPr>
              <a:t>dengan</a:t>
            </a: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 AI</a:t>
            </a:r>
            <a:endParaRPr sz="4200" b="1" dirty="0">
              <a:solidFill>
                <a:srgbClr val="FFFFFF"/>
              </a:solidFill>
              <a:latin typeface="Plus Jakarta Sans"/>
            </a:endParaRPr>
          </a:p>
          <a:p>
            <a:pPr algn="l">
              <a:lnSpc>
                <a:spcPts val="4830"/>
              </a:lnSpc>
            </a:pPr>
            <a:r>
              <a:rPr lang="id-ID" sz="4200" b="1" i="0" u="none" dirty="0">
                <a:solidFill>
                  <a:srgbClr val="FFFFFF"/>
                </a:solidFill>
                <a:latin typeface="Plus Jakarta Sans"/>
              </a:rPr>
              <a:t>"</a:t>
            </a:r>
            <a:r>
              <a:rPr sz="4200" b="1" i="0" u="none" dirty="0">
                <a:solidFill>
                  <a:srgbClr val="FFFFFF"/>
                </a:solidFill>
                <a:latin typeface="Plus Jakarta Sans"/>
              </a:rPr>
              <a:t>Prompt Engineering"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09737"/>
            <a:ext cx="10782300" cy="2752725"/>
          </a:xfrm>
          <a:prstGeom prst="roundRect">
            <a:avLst>
              <a:gd name="adj" fmla="val 55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0240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462" y="2147887"/>
            <a:ext cx="238125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Apa itu Prompt Engineering?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671762"/>
            <a:ext cx="6225778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Definisi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4" y="3119437"/>
            <a:ext cx="10182225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400" dirty="0" err="1">
                <a:solidFill>
                  <a:srgbClr val="475569"/>
                </a:solidFill>
                <a:latin typeface="Plus Jakarta Sans"/>
              </a:rPr>
              <a:t>Sebuah</a:t>
            </a:r>
            <a:r>
              <a:rPr sz="2400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dirty="0" err="1">
                <a:solidFill>
                  <a:srgbClr val="FF0000"/>
                </a:solidFill>
                <a:latin typeface="Plus Jakarta Sans"/>
              </a:rPr>
              <a:t>seni</a:t>
            </a:r>
            <a:r>
              <a:rPr sz="2400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dirty="0" err="1">
                <a:solidFill>
                  <a:srgbClr val="475569"/>
                </a:solidFill>
                <a:latin typeface="Plus Jakarta Sans"/>
              </a:rPr>
              <a:t>untuk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b="0" i="0" u="none" dirty="0" err="1">
                <a:solidFill>
                  <a:srgbClr val="00B0F0"/>
                </a:solidFill>
                <a:latin typeface="Plus Jakarta Sans"/>
              </a:rPr>
              <a:t>merancang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2400" b="0" i="0" u="none" dirty="0" err="1">
                <a:solidFill>
                  <a:srgbClr val="00B0F0"/>
                </a:solidFill>
                <a:latin typeface="Plus Jakarta Sans"/>
              </a:rPr>
              <a:t>menyusun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, dan </a:t>
            </a:r>
            <a:r>
              <a:rPr sz="2400" b="0" i="0" u="none" dirty="0" err="1">
                <a:solidFill>
                  <a:srgbClr val="00B0F0"/>
                </a:solidFill>
                <a:latin typeface="Plus Jakarta Sans"/>
              </a:rPr>
              <a:t>mengoptimalkan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b="0" i="0" u="none" dirty="0" err="1">
                <a:solidFill>
                  <a:srgbClr val="FF0000"/>
                </a:solidFill>
                <a:latin typeface="Plus Jakarta Sans"/>
              </a:rPr>
              <a:t>instruksi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 agar </a:t>
            </a:r>
            <a:r>
              <a:rPr sz="2400" b="0" i="0" u="none" dirty="0">
                <a:solidFill>
                  <a:srgbClr val="FF0000"/>
                </a:solidFill>
                <a:latin typeface="Plus Jakarta Sans"/>
              </a:rPr>
              <a:t>AI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b="0" i="0" u="none" dirty="0" err="1">
                <a:solidFill>
                  <a:srgbClr val="475569"/>
                </a:solidFill>
                <a:latin typeface="Plus Jakarta Sans"/>
              </a:rPr>
              <a:t>menghasilkan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b="0" i="0" u="none" dirty="0" err="1">
                <a:solidFill>
                  <a:srgbClr val="475569"/>
                </a:solidFill>
                <a:latin typeface="Plus Jakarta Sans"/>
              </a:rPr>
              <a:t>keluaran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2400" b="0" i="0" u="none" dirty="0" err="1">
                <a:solidFill>
                  <a:srgbClr val="FF0000"/>
                </a:solidFill>
                <a:latin typeface="Plus Jakarta Sans"/>
              </a:rPr>
              <a:t>akurat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 dan </a:t>
            </a:r>
            <a:r>
              <a:rPr sz="2400" b="0" i="0" u="none" dirty="0" err="1">
                <a:solidFill>
                  <a:srgbClr val="FF0000"/>
                </a:solidFill>
                <a:latin typeface="Plus Jakarta Sans"/>
              </a:rPr>
              <a:t>relevan</a:t>
            </a:r>
            <a:r>
              <a:rPr sz="24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24137"/>
            <a:ext cx="5372100" cy="2800350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 w="476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624137"/>
            <a:ext cx="5372100" cy="47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795587"/>
            <a:ext cx="5372100" cy="2457450"/>
          </a:xfrm>
          <a:prstGeom prst="roundRect">
            <a:avLst>
              <a:gd name="adj" fmla="val 6201"/>
            </a:avLst>
          </a:prstGeom>
          <a:solidFill>
            <a:srgbClr val="F8FAFC"/>
          </a:solidFill>
          <a:ln w="476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2795587"/>
            <a:ext cx="5372100" cy="476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534909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Komponen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 Utama </a:t>
            </a:r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dalam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 Prompt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33475"/>
            <a:ext cx="11582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Plus Jakarta Sans"/>
              </a:rPr>
              <a:t>Elemen kunci untuk membangun perintah yang terstruktur dan bermutu tinggi.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8937"/>
            <a:ext cx="4857750" cy="2190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01 / 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100387"/>
            <a:ext cx="4857750" cy="1847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Plus Jakarta Sans"/>
              </a:rPr>
              <a:t>02 /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00412"/>
            <a:ext cx="6250781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Peran (Role)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8087"/>
            <a:ext cx="4857750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Menentukan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FF0000"/>
                </a:solidFill>
                <a:latin typeface="Plus Jakarta Sans"/>
              </a:rPr>
              <a:t>identitas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sudut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pandang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AI.</a:t>
            </a:r>
            <a:r>
              <a:rPr dirty="0"/>
              <a:t>
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Contoh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: "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Bertindaklah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sebagai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 murid SMA."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471862"/>
            <a:ext cx="56769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Konteks (Context)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919537"/>
            <a:ext cx="4857750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Latar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belakang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situasi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informasi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FF0000"/>
                </a:solidFill>
                <a:latin typeface="Plus Jakarta Sans"/>
              </a:rPr>
              <a:t>pendukung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terkait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tugas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yang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diberikan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kepada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8554"/>
            <a:ext cx="3555950" cy="2093416"/>
          </a:xfrm>
          <a:prstGeom prst="roundRect">
            <a:avLst>
              <a:gd name="adj" fmla="val 5459"/>
            </a:avLst>
          </a:prstGeom>
          <a:solidFill>
            <a:srgbClr val="F8FAFC"/>
          </a:solidFill>
          <a:ln w="381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958554"/>
            <a:ext cx="355595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7950" y="2958554"/>
            <a:ext cx="3555950" cy="2093416"/>
          </a:xfrm>
          <a:prstGeom prst="roundRect">
            <a:avLst>
              <a:gd name="adj" fmla="val 5459"/>
            </a:avLst>
          </a:prstGeom>
          <a:solidFill>
            <a:srgbClr val="F8FAFC"/>
          </a:solidFill>
          <a:ln w="381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17950" y="2958554"/>
            <a:ext cx="3555950" cy="381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26300" y="3118544"/>
            <a:ext cx="3555950" cy="1773435"/>
          </a:xfrm>
          <a:prstGeom prst="roundRect">
            <a:avLst>
              <a:gd name="adj" fmla="val 6445"/>
            </a:avLst>
          </a:prstGeom>
          <a:solidFill>
            <a:srgbClr val="F8FAFC"/>
          </a:solidFill>
          <a:ln w="38100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26300" y="3118544"/>
            <a:ext cx="3555950" cy="38100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534909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Komponen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 Utama </a:t>
            </a:r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dalam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 Prompt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33475"/>
            <a:ext cx="11582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Plus Jakarta Sans"/>
              </a:rPr>
              <a:t>Instruksi spesifik, batasan, dan format hasil akhir.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187154"/>
            <a:ext cx="319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D97706"/>
                </a:solidFill>
                <a:latin typeface="Plus Jakarta Sans"/>
              </a:rPr>
              <a:t>03 / </a:t>
            </a:r>
            <a:r>
              <a:rPr lang="id-ID" sz="1050" b="1" i="0" u="none" dirty="0">
                <a:solidFill>
                  <a:srgbClr val="D97706"/>
                </a:solidFill>
                <a:latin typeface="Plus Jakarta Sans"/>
              </a:rPr>
              <a:t>INSTRUCTION (TASK)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6550" y="3187154"/>
            <a:ext cx="3194000" cy="1636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04 /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4900" y="3347144"/>
            <a:ext cx="31940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9333EA"/>
                </a:solidFill>
                <a:latin typeface="Plus Jakarta Sans"/>
              </a:rPr>
              <a:t>05 /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01479"/>
            <a:ext cx="41216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63429"/>
            <a:ext cx="319400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Plus Jakarta Sans"/>
              </a:rPr>
              <a:t>Tugas spesifik atau perintah utama yang harus dikerjakan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550" y="3501479"/>
            <a:ext cx="406710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Batasan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550" y="3863429"/>
            <a:ext cx="319400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>
                <a:solidFill>
                  <a:srgbClr val="475569"/>
                </a:solidFill>
                <a:latin typeface="Plus Jakarta Sans"/>
              </a:rPr>
              <a:t>Aturan kontrol hasil.</a:t>
            </a:r>
            <a:r>
              <a:t>
</a:t>
            </a:r>
            <a:r>
              <a:rPr sz="1800" b="0" i="1" u="none">
                <a:solidFill>
                  <a:srgbClr val="475569"/>
                </a:solidFill>
                <a:latin typeface="Plus Jakarta Sans"/>
              </a:rPr>
              <a:t>Contoh: "Maksimal 3 paragraf."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4900" y="3661469"/>
            <a:ext cx="3937099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Format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900" y="4023419"/>
            <a:ext cx="31940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Bentuk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akhir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seperti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tabel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poin-poin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kode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, dan File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Ekstensi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0939"/>
            <a:ext cx="5372100" cy="2546746"/>
          </a:xfrm>
          <a:prstGeom prst="roundRect">
            <a:avLst>
              <a:gd name="adj" fmla="val 59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10929"/>
            <a:ext cx="5372100" cy="2226766"/>
          </a:xfrm>
          <a:prstGeom prst="roundRect">
            <a:avLst>
              <a:gd name="adj" fmla="val 68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Teknik Dasar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33475"/>
            <a:ext cx="11582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Plus Jakarta Sans"/>
              </a:rPr>
              <a:t>Metode pendekatan untuk mengoptimalkan interaksi dengan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17639"/>
            <a:ext cx="4933950" cy="20133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TEKNIK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177629"/>
            <a:ext cx="4933950" cy="16933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Plus Jakarta Sans"/>
              </a:rPr>
              <a:t>TEKNIK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312914"/>
            <a:ext cx="6325790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Plus Jakarta Sans"/>
              </a:rPr>
              <a:t>Zero-shot Prompting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741539"/>
            <a:ext cx="4914900" cy="942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Memberikan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instruksi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langsung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FF0000"/>
                </a:solidFill>
                <a:latin typeface="Plus Jakarta Sans"/>
              </a:rPr>
              <a:t>tanpa</a:t>
            </a:r>
            <a:r>
              <a:rPr sz="1800" b="0" i="0" u="none" dirty="0">
                <a:solidFill>
                  <a:srgbClr val="FF0000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FF0000"/>
                </a:solidFill>
                <a:latin typeface="Plus Jakarta Sans"/>
              </a:rPr>
              <a:t>contoh</a:t>
            </a:r>
            <a:r>
              <a:rPr sz="1800" b="0" i="0" u="none" dirty="0">
                <a:solidFill>
                  <a:srgbClr val="FF0000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terlebih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dahulu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.</a:t>
            </a:r>
            <a:r>
              <a:rPr dirty="0"/>
              <a:t>
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Contoh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: "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Buatkan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ringkasan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dari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teks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1" u="none" dirty="0" err="1">
                <a:solidFill>
                  <a:srgbClr val="475569"/>
                </a:solidFill>
                <a:latin typeface="Plus Jakarta Sans"/>
              </a:rPr>
              <a:t>berikut</a:t>
            </a:r>
            <a:r>
              <a:rPr sz="1800" b="0" i="1" u="none" dirty="0">
                <a:solidFill>
                  <a:srgbClr val="475569"/>
                </a:solidFill>
                <a:latin typeface="Plus Jakarta Sans"/>
              </a:rPr>
              <a:t>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472904"/>
            <a:ext cx="5705475" cy="3143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Plus Jakarta Sans"/>
              </a:rPr>
              <a:t>Few-shot Prompting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3901529"/>
            <a:ext cx="491490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0" i="0" u="none" dirty="0" err="1">
                <a:solidFill>
                  <a:srgbClr val="FF0000"/>
                </a:solidFill>
                <a:latin typeface="Plus Jakarta Sans"/>
              </a:rPr>
              <a:t>Menyertakan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beberapa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FF0000"/>
                </a:solidFill>
                <a:latin typeface="Plus Jakarta Sans"/>
              </a:rPr>
              <a:t>contoh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pola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format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jawaban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sebelum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meminta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AI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mengerjakan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tugas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utama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599" y="2209800"/>
            <a:ext cx="10620375" cy="3629025"/>
          </a:xfrm>
          <a:prstGeom prst="roundRect">
            <a:avLst>
              <a:gd name="adj" fmla="val 41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2562225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25" y="271462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Plus Jakarta Sans"/>
              </a:rPr>
              <a:t>Chain of Thought (CoT)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33475"/>
            <a:ext cx="115824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64748B"/>
                </a:solidFill>
                <a:latin typeface="Plus Jakarta Sans"/>
              </a:rPr>
              <a:t>Teknik tingkat lanjut untuk meningkatkan akurasi penalaran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286125"/>
            <a:ext cx="6075759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Definisi &amp; Fungsi CoT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4" y="3771900"/>
            <a:ext cx="9725025" cy="666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Meminta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AI </a:t>
            </a:r>
            <a:r>
              <a:rPr sz="1800" b="0" i="0" u="none" dirty="0" err="1">
                <a:solidFill>
                  <a:srgbClr val="FF0000"/>
                </a:solidFill>
                <a:latin typeface="Plus Jakarta Sans"/>
              </a:rPr>
              <a:t>menjabarkan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proses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berpikir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langkah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demi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langkah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sebelum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memberikan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kesimpulan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akhir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. Sangat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efektif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untuk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penalaran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logika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atau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pemrograman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599" y="1219200"/>
            <a:ext cx="10620375" cy="4619625"/>
          </a:xfrm>
          <a:prstGeom prst="roundRect">
            <a:avLst>
              <a:gd name="adj" fmla="val 41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490384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Contoh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 Chain of Thought (</a:t>
            </a:r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CoT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400175"/>
            <a:ext cx="9725025" cy="26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endParaRPr sz="3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37523D-0A50-D966-624F-A57AFEBB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6" y="2201236"/>
            <a:ext cx="10115551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alt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Prompt Tanpa CoT :</a:t>
            </a:r>
            <a:endParaRPr kumimoji="0" lang="id-ID" alt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"Budi membeli 3 buah buku seharga Rp15.000 per buah dan 2 buah pulpen seharga Rp4.000 per buah. Jika dia membayar dengan uang Rp100.000, </a:t>
            </a:r>
            <a:r>
              <a:rPr kumimoji="0" lang="id-ID" altLang="id-ID" sz="28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berapa uang kembaliannya?</a:t>
            </a:r>
            <a:r>
              <a:rPr kumimoji="0" lang="id-ID" alt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</a:t>
            </a:r>
            <a:endParaRPr kumimoji="0" lang="id-ID" alt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d-ID" altLang="id-ID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Hasil AI </a:t>
            </a:r>
            <a:r>
              <a:rPr kumimoji="0" lang="id-ID" altLang="id-ID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"Uang kembaliannya adalah Rp47.000."</a:t>
            </a:r>
            <a:r>
              <a:rPr kumimoji="0" lang="id-ID" altLang="id-ID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(Kadang AI bisa salah hitung jika angkanya rumit tanpa proses penjabaran).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21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599" y="1219200"/>
            <a:ext cx="10620375" cy="4619625"/>
          </a:xfrm>
          <a:prstGeom prst="roundRect">
            <a:avLst>
              <a:gd name="adj" fmla="val 419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800" dirty="0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4903843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Contoh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 Chain of Thought (</a:t>
            </a:r>
            <a:r>
              <a:rPr sz="3000" b="1" i="0" u="none" dirty="0" err="1">
                <a:solidFill>
                  <a:srgbClr val="0F172A"/>
                </a:solidFill>
                <a:latin typeface="Plus Jakarta Sans"/>
              </a:rPr>
              <a:t>CoT</a:t>
            </a:r>
            <a:r>
              <a:rPr sz="3000" b="1" i="0" u="none" dirty="0">
                <a:solidFill>
                  <a:srgbClr val="0F172A"/>
                </a:solidFill>
                <a:latin typeface="Plus Jakarta Sans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99" y="1400175"/>
            <a:ext cx="9725025" cy="269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endParaRPr sz="3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A37523D-0A50-D966-624F-A57AFEBB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6" y="1308685"/>
            <a:ext cx="10115551" cy="4847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Prompt dengan Teknik CoT:</a:t>
            </a:r>
            <a:endParaRPr kumimoji="0" lang="id-ID" alt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"Budi membeli 3 buah buku seharga Rp15.000 per buah dan 2 buah pulpen seharga Rp4.000 per buah. Jika dia membayar dengan uang Rp100.000, berapa uang kembaliannya? </a:t>
            </a:r>
            <a:r>
              <a:rPr kumimoji="0" lang="id-ID" altLang="id-ID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 Text"/>
              </a:rPr>
              <a:t>Tuliskan langkah-langkah perhitungannya secara berurutan sebelum menyimpulkan jawaban akhir</a:t>
            </a:r>
            <a:r>
              <a:rPr kumimoji="0" lang="id-ID" altLang="id-ID" sz="2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r>
              <a:rPr kumimoji="0" lang="id-ID" altLang="id-ID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</a:t>
            </a:r>
            <a:endParaRPr kumimoji="0" lang="id-ID" alt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Hasil AI (Dengan CoT):</a:t>
            </a:r>
            <a:endParaRPr kumimoji="0" lang="id-ID" alt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Hitung total harga buku:</a:t>
            </a:r>
            <a:r>
              <a:rPr kumimoji="0" lang="id-ID" alt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3 buku x Rp15.000 = Rp45.000.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Hitung total harga pulpen:</a:t>
            </a:r>
            <a:r>
              <a:rPr kumimoji="0" lang="id-ID" alt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2 pulpen x Rp4.000 = Rp8.000.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Hitung total belanja keseluruhan:</a:t>
            </a:r>
            <a:r>
              <a:rPr kumimoji="0" lang="id-ID" alt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Rp45.000 + Rp8.000 = Rp53.000.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Hitung uang kembalian:</a:t>
            </a:r>
            <a:r>
              <a:rPr kumimoji="0" lang="id-ID" alt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Uang yang dibayar (Rp100.000) - Total belanja (Rp53.000) = </a:t>
            </a: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Rp47.000</a:t>
            </a:r>
            <a:r>
              <a:rPr kumimoji="0" lang="id-ID" alt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altLang="id-ID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Kesimpulan:</a:t>
            </a:r>
            <a:r>
              <a:rPr kumimoji="0" lang="id-ID" altLang="id-ID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Jadi, uang kembalian Budi adalah Rp47.000.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altLang="id-ID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341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94707"/>
            <a:ext cx="5372100" cy="2163960"/>
          </a:xfrm>
          <a:prstGeom prst="roundRect">
            <a:avLst>
              <a:gd name="adj" fmla="val 7042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99457"/>
            <a:ext cx="5372100" cy="2354460"/>
          </a:xfrm>
          <a:prstGeom prst="roundRect">
            <a:avLst>
              <a:gd name="adj" fmla="val 647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551932"/>
            <a:ext cx="48196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86525" y="3456682"/>
            <a:ext cx="4819650" cy="6667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99507"/>
            <a:ext cx="209550" cy="209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104257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Studi Kasus: Perbandingan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57275"/>
            <a:ext cx="115824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64748B"/>
                </a:solidFill>
                <a:latin typeface="Plus Jakarta Sans"/>
              </a:rPr>
              <a:t>Bagaimana detail kalimat mengubah total kualitas jawaban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" y="3170932"/>
            <a:ext cx="5738812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Plus Jakarta Sans"/>
              </a:rPr>
              <a:t>Prompt Lemah (Vague)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666232"/>
            <a:ext cx="4686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34155"/>
                </a:solidFill>
                <a:latin typeface="JetBrains Mono"/>
              </a:rPr>
              <a:t>"</a:t>
            </a:r>
            <a:r>
              <a:rPr sz="1500" b="0" i="0" u="none" dirty="0" err="1">
                <a:solidFill>
                  <a:srgbClr val="334155"/>
                </a:solidFill>
                <a:latin typeface="JetBrains Mono"/>
              </a:rPr>
              <a:t>Jelaskan</a:t>
            </a:r>
            <a:r>
              <a:rPr sz="15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JetBrains Mono"/>
              </a:rPr>
              <a:t>tentang</a:t>
            </a:r>
            <a:r>
              <a:rPr sz="15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JetBrains Mono"/>
              </a:rPr>
              <a:t>jaringan</a:t>
            </a:r>
            <a:r>
              <a:rPr sz="150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500" b="0" i="0" u="none" dirty="0" err="1">
                <a:solidFill>
                  <a:srgbClr val="334155"/>
                </a:solidFill>
                <a:latin typeface="JetBrains Mono"/>
              </a:rPr>
              <a:t>komputer</a:t>
            </a:r>
            <a:r>
              <a:rPr sz="1500" b="0" i="0" u="none" dirty="0">
                <a:solidFill>
                  <a:srgbClr val="334155"/>
                </a:solidFill>
                <a:latin typeface="JetBrains Mono"/>
              </a:rPr>
              <a:t>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142482"/>
            <a:ext cx="49149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>
                <a:solidFill>
                  <a:srgbClr val="475569"/>
                </a:solidFill>
                <a:latin typeface="Plus Jakarta Sans"/>
              </a:rPr>
              <a:t>Hasil:</a:t>
            </a:r>
            <a:r>
              <a:rPr sz="1800" b="0" i="0" u="none">
                <a:solidFill>
                  <a:srgbClr val="475569"/>
                </a:solidFill>
                <a:latin typeface="Plus Jakarta Sans"/>
              </a:rPr>
              <a:t> Penjelasan terlalu luas dan tidak spesifik untuk anak SMA.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2275" y="3075682"/>
            <a:ext cx="5419725" cy="266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6A34A"/>
                </a:solidFill>
                <a:latin typeface="Plus Jakarta Sans"/>
              </a:rPr>
              <a:t>Prompt Terstruktur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825" y="3570982"/>
            <a:ext cx="46863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"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Bertindaklah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sebagai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350" dirty="0">
                <a:solidFill>
                  <a:srgbClr val="334155"/>
                </a:solidFill>
                <a:latin typeface="JetBrains Mono"/>
              </a:rPr>
              <a:t>A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hli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Jaringan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.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Jelaskan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 LAN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pakai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analogi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rumah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dalam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 3 </a:t>
            </a:r>
            <a:r>
              <a:rPr sz="1350" b="0" i="0" u="none" dirty="0" err="1">
                <a:solidFill>
                  <a:srgbClr val="334155"/>
                </a:solidFill>
                <a:latin typeface="JetBrains Mono"/>
              </a:rPr>
              <a:t>poin</a:t>
            </a:r>
            <a:r>
              <a:rPr sz="1350" b="0" i="0" u="none" dirty="0">
                <a:solidFill>
                  <a:srgbClr val="334155"/>
                </a:solidFill>
                <a:latin typeface="JetBrains Mono"/>
              </a:rPr>
              <a:t>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237732"/>
            <a:ext cx="491490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800" b="1" i="0" u="none" dirty="0">
                <a:solidFill>
                  <a:srgbClr val="475569"/>
                </a:solidFill>
                <a:latin typeface="Plus Jakarta Sans"/>
              </a:rPr>
              <a:t>Hasil: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Tepat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sasaran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analogi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jelas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, dan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ringkas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800" b="0" i="0" u="none" dirty="0" err="1">
                <a:solidFill>
                  <a:srgbClr val="475569"/>
                </a:solidFill>
                <a:latin typeface="Plus Jakarta Sans"/>
              </a:rPr>
              <a:t>dibaca</a:t>
            </a:r>
            <a:r>
              <a:rPr sz="18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28032"/>
            <a:ext cx="5372100" cy="2297310"/>
          </a:xfrm>
          <a:prstGeom prst="roundRect">
            <a:avLst>
              <a:gd name="adj" fmla="val 6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36639"/>
            <a:ext cx="5372100" cy="2679948"/>
          </a:xfrm>
          <a:prstGeom prst="roundRect">
            <a:avLst>
              <a:gd name="adj" fmla="val 56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LKPD: Eksperimen Langsung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3100" y="3759696"/>
            <a:ext cx="26384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Prompt </a:t>
            </a:r>
            <a:r>
              <a:rPr sz="1800" b="1" i="0" u="none" dirty="0" err="1">
                <a:solidFill>
                  <a:srgbClr val="0F172A"/>
                </a:solidFill>
                <a:latin typeface="Plus Jakarta Sans"/>
              </a:rPr>
              <a:t>Tanpa</a:t>
            </a:r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1800" b="1" i="0" u="none" dirty="0" err="1">
                <a:solidFill>
                  <a:srgbClr val="0F172A"/>
                </a:solidFill>
                <a:latin typeface="Plus Jakarta Sans"/>
              </a:rPr>
              <a:t>Struktur</a:t>
            </a:r>
            <a:endParaRPr sz="18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91462" y="3759696"/>
            <a:ext cx="20097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0F172A"/>
                </a:solidFill>
                <a:latin typeface="Plus Jakarta Sans"/>
              </a:rPr>
              <a:t>Prompt </a:t>
            </a:r>
            <a:r>
              <a:rPr sz="1800" b="1" i="0" u="none" dirty="0" err="1">
                <a:solidFill>
                  <a:srgbClr val="0F172A"/>
                </a:solidFill>
                <a:latin typeface="Plus Jakarta Sans"/>
              </a:rPr>
              <a:t>Terstruktur</a:t>
            </a:r>
            <a:endParaRPr sz="1800" b="1" i="0" u="none" dirty="0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512</Words>
  <Application>Microsoft Office PowerPoint</Application>
  <PresentationFormat>Widescreen</PresentationFormat>
  <Paragraphs>62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JetBrains Mono</vt:lpstr>
      <vt:lpstr>Google Sans Text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Ahmad Nursyifa</cp:lastModifiedBy>
  <cp:revision>5</cp:revision>
  <dcterms:created xsi:type="dcterms:W3CDTF">2013-01-27T09:14:16Z</dcterms:created>
  <dcterms:modified xsi:type="dcterms:W3CDTF">2026-09-22T05:59:11Z</dcterms:modified>
  <cp:category/>
</cp:coreProperties>
</file>