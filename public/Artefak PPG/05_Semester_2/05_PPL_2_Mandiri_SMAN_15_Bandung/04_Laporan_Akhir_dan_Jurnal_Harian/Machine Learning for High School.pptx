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6" r:id="rId3"/>
    <p:sldId id="260" r:id="rId4"/>
    <p:sldId id="257" r:id="rId5"/>
    <p:sldId id="258" r:id="rId6"/>
    <p:sldId id="259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39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50" y="2403127"/>
            <a:ext cx="201930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2907952"/>
            <a:ext cx="9001125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 dirty="0" err="1">
                <a:solidFill>
                  <a:srgbClr val="0F172A"/>
                </a:solidFill>
                <a:latin typeface="Space Grotesk"/>
              </a:rPr>
              <a:t>Mengenal</a:t>
            </a:r>
            <a:r>
              <a:rPr sz="4800" b="1" i="0" u="none" dirty="0">
                <a:solidFill>
                  <a:srgbClr val="0F172A"/>
                </a:solidFill>
                <a:latin typeface="Space Grotesk"/>
              </a:rPr>
              <a:t>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768923"/>
            <a:ext cx="85725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64748B"/>
                </a:solidFill>
                <a:latin typeface="Plus Jakarta Sans"/>
              </a:rPr>
              <a:t>Bagaimana komputer belajar secara mandiri dari data tanpa diprogram secara manual.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0C0353-B672-3A97-7F20-41597EDDDE37}"/>
              </a:ext>
            </a:extLst>
          </p:cNvPr>
          <p:cNvSpPr txBox="1"/>
          <p:nvPr/>
        </p:nvSpPr>
        <p:spPr>
          <a:xfrm>
            <a:off x="1595437" y="1860202"/>
            <a:ext cx="9001125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 dirty="0">
                <a:solidFill>
                  <a:srgbClr val="0F172A"/>
                </a:solidFill>
                <a:latin typeface="Space Grotesk"/>
              </a:rPr>
              <a:t>How Do You </a:t>
            </a:r>
            <a:r>
              <a:rPr sz="4800" b="1" i="0" u="none" dirty="0">
                <a:solidFill>
                  <a:srgbClr val="FF0000"/>
                </a:solidFill>
                <a:latin typeface="Space Grotesk"/>
              </a:rPr>
              <a:t>Feel</a:t>
            </a:r>
            <a:r>
              <a:rPr sz="4800" b="1" i="0" u="none" dirty="0">
                <a:solidFill>
                  <a:srgbClr val="0F172A"/>
                </a:solidFill>
                <a:latin typeface="Space Grotesk"/>
              </a:rPr>
              <a:t> Today 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BB8113-6F5D-F9E0-1C2C-9755D1663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549" y="2347912"/>
            <a:ext cx="6438900" cy="351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085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19362"/>
            <a:ext cx="5334000" cy="2609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19362"/>
            <a:ext cx="5334000" cy="2609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981325"/>
            <a:ext cx="478059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4F46E5"/>
                </a:solidFill>
                <a:latin typeface="Space Grotesk"/>
              </a:rPr>
              <a:t>Definisi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448050"/>
            <a:ext cx="45529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Machine Learning (Pembelajaran Mesin) adalah cabang dari Artificial Intelligence (AI) yang berfokus pada pengembangan sistem komputer agar bisa </a:t>
            </a:r>
            <a:r>
              <a:rPr sz="1500" b="1" i="0" u="none">
                <a:solidFill>
                  <a:srgbClr val="475569"/>
                </a:solidFill>
                <a:latin typeface="Plus Jakarta Sans"/>
              </a:rPr>
              <a:t>belajar sendiri dari data</a:t>
            </a:r>
            <a:r>
              <a:rPr sz="1500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7025" y="2909887"/>
            <a:ext cx="478059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 dirty="0">
                <a:solidFill>
                  <a:srgbClr val="4F46E5"/>
                </a:solidFill>
                <a:latin typeface="Space Grotesk"/>
              </a:rPr>
              <a:t>Cara </a:t>
            </a:r>
            <a:r>
              <a:rPr sz="1950" b="1" i="0" u="none" dirty="0" err="1">
                <a:solidFill>
                  <a:srgbClr val="4F46E5"/>
                </a:solidFill>
                <a:latin typeface="Space Grotesk"/>
              </a:rPr>
              <a:t>Kerja</a:t>
            </a:r>
            <a:r>
              <a:rPr sz="1950" b="1" i="0" u="none" dirty="0">
                <a:solidFill>
                  <a:srgbClr val="4F46E5"/>
                </a:solidFill>
                <a:latin typeface="Space Grotesk"/>
              </a:rPr>
              <a:t>: </a:t>
            </a:r>
            <a:r>
              <a:rPr sz="1950" b="1" i="0" u="none" dirty="0" err="1">
                <a:solidFill>
                  <a:srgbClr val="4F46E5"/>
                </a:solidFill>
                <a:latin typeface="Space Grotesk"/>
              </a:rPr>
              <a:t>Dibalik</a:t>
            </a:r>
            <a:r>
              <a:rPr sz="1950" b="1" i="0" u="none" dirty="0">
                <a:solidFill>
                  <a:srgbClr val="4F46E5"/>
                </a:solidFill>
                <a:latin typeface="Space Grotesk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3376612"/>
            <a:ext cx="4552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 dirty="0" err="1">
                <a:solidFill>
                  <a:srgbClr val="475569"/>
                </a:solidFill>
                <a:latin typeface="Plus Jakarta Sans"/>
              </a:rPr>
              <a:t>Pemrograman</a:t>
            </a:r>
            <a:r>
              <a:rPr sz="1500" b="1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475569"/>
                </a:solidFill>
                <a:latin typeface="Plus Jakarta Sans"/>
              </a:rPr>
              <a:t>Tradisional</a:t>
            </a:r>
            <a:r>
              <a:rPr sz="1500" b="1" i="0" u="none" dirty="0">
                <a:solidFill>
                  <a:srgbClr val="475569"/>
                </a:solidFill>
                <a:latin typeface="Plus Jakarta Sans"/>
              </a:rPr>
              <a:t>:</a:t>
            </a:r>
            <a:r>
              <a:rPr dirty="0"/>
              <a:t>
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Data +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Aturan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= Hasil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4129087"/>
            <a:ext cx="4552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Plus Jakarta Sans"/>
              </a:rPr>
              <a:t>Machine Learning:</a:t>
            </a:r>
            <a:r>
              <a:t>
</a:t>
            </a:r>
            <a:r>
              <a:rPr sz="1500" b="0" i="0" u="none">
                <a:solidFill>
                  <a:srgbClr val="475569"/>
                </a:solidFill>
                <a:latin typeface="Plus Jakarta Sans"/>
              </a:rPr>
              <a:t> Data + Hasil (Contoh) = Mesin Mencari Aturan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1E293B"/>
                </a:solidFill>
                <a:latin typeface="Space Grotesk"/>
              </a:rPr>
              <a:t>Apa itu Machine Learning?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47912"/>
            <a:ext cx="3492549" cy="2952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347912"/>
            <a:ext cx="3492549" cy="2952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47912"/>
            <a:ext cx="3492549" cy="2952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328987"/>
            <a:ext cx="304709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Space Grotesk"/>
              </a:rPr>
              <a:t>1. Pelatihan (Training)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738562"/>
            <a:ext cx="29019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Komputer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diberi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data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dalam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jumlah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besar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,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misalnya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ribuan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foto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kucing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dan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bukan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475569"/>
                </a:solidFill>
                <a:latin typeface="Plus Jakarta Sans"/>
              </a:rPr>
              <a:t>kucing</a:t>
            </a: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3328987"/>
            <a:ext cx="304709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Space Grotesk"/>
              </a:rPr>
              <a:t>2. Mengenali Pola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738562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Algoritma menganalisis data untuk mencari ciri-ciri khusus, seperti bentuk telinga, kumis, atau ukuran.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328987"/>
            <a:ext cx="304709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Space Grotesk"/>
              </a:rPr>
              <a:t>3. Membuat Prediksi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738562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Saat diberi foto baru, komputer menebak secara mandiri berdasarkan pola yang telah dipelajari.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47962"/>
            <a:ext cx="314325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747962"/>
            <a:ext cx="361950" cy="361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747962"/>
            <a:ext cx="361950" cy="361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1E293B"/>
                </a:solidFill>
                <a:latin typeface="Space Grotesk"/>
              </a:rPr>
              <a:t>Tahapan Kerja Machine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47912"/>
            <a:ext cx="3492549" cy="2952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347912"/>
            <a:ext cx="3492549" cy="2952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347912"/>
            <a:ext cx="3492549" cy="2952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328987"/>
            <a:ext cx="304709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Space Grotesk"/>
              </a:rPr>
              <a:t>Rekomendasi Konten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738562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Sistem di YouTube atau Netflix menyesuaikan tontonan berdasarkan riwayat pilihan dan selera Anda.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074" y="3328987"/>
            <a:ext cx="304709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Space Grotesk"/>
              </a:rPr>
              <a:t>Pengenalan Wajah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074" y="3738562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Fitur </a:t>
            </a:r>
            <a:r>
              <a:rPr sz="1500" b="0" i="1" u="none">
                <a:solidFill>
                  <a:srgbClr val="475569"/>
                </a:solidFill>
                <a:latin typeface="Plus Jakarta Sans"/>
              </a:rPr>
              <a:t>face unlock</a:t>
            </a:r>
            <a:r>
              <a:rPr sz="1500" b="0" i="0" u="none">
                <a:solidFill>
                  <a:srgbClr val="475569"/>
                </a:solidFill>
                <a:latin typeface="Plus Jakarta Sans"/>
              </a:rPr>
              <a:t> pada smartphone untuk mengenali identitas pemilik perangkat dengan cepat.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3374" y="3328987"/>
            <a:ext cx="3047099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E293B"/>
                </a:solidFill>
                <a:latin typeface="Space Grotesk"/>
              </a:rPr>
              <a:t>Filter Spam 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3374" y="3738562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Sistem otomatis memisahkan pesan masuk yang penting dengan pesan sampah atau promosi palsu.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47962"/>
            <a:ext cx="361950" cy="3619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747962"/>
            <a:ext cx="361950" cy="3619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747962"/>
            <a:ext cx="361950" cy="361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1E293B"/>
                </a:solidFill>
                <a:latin typeface="Space Grotesk"/>
              </a:rPr>
              <a:t>Penerapan Sehari-hari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3071F6-0339-B611-F9FE-9E1DE8BBAF48}"/>
              </a:ext>
            </a:extLst>
          </p:cNvPr>
          <p:cNvSpPr txBox="1"/>
          <p:nvPr/>
        </p:nvSpPr>
        <p:spPr>
          <a:xfrm>
            <a:off x="1595437" y="1355377"/>
            <a:ext cx="9001125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 dirty="0">
                <a:solidFill>
                  <a:srgbClr val="0F172A"/>
                </a:solidFill>
                <a:latin typeface="Space Grotesk"/>
              </a:rPr>
              <a:t>Ayo </a:t>
            </a:r>
            <a:r>
              <a:rPr sz="4800" b="1" i="0" u="none" dirty="0">
                <a:solidFill>
                  <a:srgbClr val="FF0000"/>
                </a:solidFill>
                <a:latin typeface="Space Grotesk"/>
              </a:rPr>
              <a:t>Latihan</a:t>
            </a:r>
            <a:r>
              <a:rPr sz="4800" b="1" i="0" u="none" dirty="0">
                <a:solidFill>
                  <a:srgbClr val="0F172A"/>
                </a:solidFill>
                <a:latin typeface="Space Grotesk"/>
              </a:rPr>
              <a:t> !!!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09B0CA-EBB1-82C0-B107-61C505FBC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138" y="2311275"/>
            <a:ext cx="5572125" cy="369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118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203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Plus Jakarta Sans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Ahmad Nursyifa</cp:lastModifiedBy>
  <cp:revision>3</cp:revision>
  <dcterms:created xsi:type="dcterms:W3CDTF">2013-01-27T09:14:16Z</dcterms:created>
  <dcterms:modified xsi:type="dcterms:W3CDTF">2026-09-08T11:51:18Z</dcterms:modified>
  <cp:category/>
</cp:coreProperties>
</file>