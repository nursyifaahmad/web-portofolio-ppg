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9672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C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SIKLUS I • INFORMATIKA X-5 • SMAN 15 BANDUNG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83096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B7C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83096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B7C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9728"/>
            <a:ext cx="12191695" cy="64008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600000">
            <a:off x="7909560" y="109728"/>
            <a:ext cx="4160520" cy="3337560"/>
          </a:xfrm>
          <a:prstGeom prst="arc">
            <a:avLst/>
          </a:prstGeom>
          <a:solidFill>
            <a:srgbClr val="1F8A8A">
              <a:alpha val="92000"/>
            </a:srgbClr>
          </a:solidFill>
          <a:ln w="12700">
            <a:solidFill>
              <a:srgbClr val="1F8A8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69680" y="3474720"/>
            <a:ext cx="2377440" cy="2377440"/>
          </a:xfrm>
          <a:prstGeom prst="ellipse">
            <a:avLst/>
          </a:prstGeom>
          <a:solidFill>
            <a:srgbClr val="F4B942">
              <a:alpha val="95000"/>
            </a:srgbClr>
          </a:solidFill>
          <a:ln w="12700">
            <a:solidFill>
              <a:srgbClr val="F4B94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8229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30" kern="0" dirty="0">
                <a:solidFill>
                  <a:srgbClr val="B6E4DD"/>
                </a:solidFill>
              </a:rPr>
              <a:t>SIKLUS 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1325880"/>
            <a:ext cx="6720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Berpikir Algoritmik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melalui Problem Based Learning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13232" y="3035808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E9EE"/>
                </a:solidFill>
              </a:rPr>
              <a:t>Algoritma • Diagram Alir • Pseudocode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3822192"/>
            <a:ext cx="5303520" cy="1078992"/>
          </a:xfrm>
          <a:prstGeom prst="roundRect">
            <a:avLst>
              <a:gd name="adj" fmla="val 7627"/>
            </a:avLst>
          </a:prstGeom>
          <a:solidFill>
            <a:srgbClr val="214963">
              <a:alpha val="95000"/>
            </a:srgbClr>
          </a:solidFill>
          <a:ln w="12700">
            <a:solidFill>
              <a:srgbClr val="3762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04164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6E4DD"/>
                </a:solidFill>
              </a:rPr>
              <a:t>Misi hari ini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4315968"/>
            <a:ext cx="4709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Coba solusi terlebih dahulu sebelum meminta contoh.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3232" y="563270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7DE"/>
                </a:solidFill>
              </a:rPr>
              <a:t>Kelas X-5 • Fase E • 80 menit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83096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B7C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768096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Target pembelajaran hari ini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1271016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984"/>
                </a:solidFill>
              </a:rPr>
              <a:t>Di akhir pembelajaran, kamu mampu menunjukkan enam kemampuan berikut.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66928" y="1856232"/>
            <a:ext cx="345643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020824"/>
            <a:ext cx="384048" cy="384048"/>
          </a:xfrm>
          <a:prstGeom prst="ellipse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084832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25296" y="2020824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IPO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9808" y="2423160"/>
            <a:ext cx="3090672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D3A"/>
                </a:solidFill>
              </a:rPr>
              <a:t>Menentukan input, proses, dan output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34256" y="1856232"/>
            <a:ext cx="345643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98848" y="2020824"/>
            <a:ext cx="384048" cy="384048"/>
          </a:xfrm>
          <a:prstGeom prst="ellipse">
            <a:avLst/>
          </a:prstGeom>
          <a:solidFill>
            <a:srgbClr val="3478B8"/>
          </a:solidFill>
          <a:ln w="12700">
            <a:solidFill>
              <a:srgbClr val="3478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98848" y="2084832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92624" y="2020824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Algoritma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17136" y="2423160"/>
            <a:ext cx="3090672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D3A"/>
                </a:solidFill>
              </a:rPr>
              <a:t>Menyusun langkah yang runtut dan logis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01584" y="1856232"/>
            <a:ext cx="345643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66176" y="2020824"/>
            <a:ext cx="384048" cy="384048"/>
          </a:xfrm>
          <a:prstGeom prst="ellipse">
            <a:avLst/>
          </a:prstGeom>
          <a:solidFill>
            <a:srgbClr val="F06C5B"/>
          </a:solidFill>
          <a:ln w="12700">
            <a:solidFill>
              <a:srgbClr val="F06C5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66176" y="2084832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759952" y="2020824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Percabangan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84464" y="2423160"/>
            <a:ext cx="3090672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D3A"/>
                </a:solidFill>
              </a:rPr>
              <a:t>Menentukan kondisi dan keputusan dengan tepat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6928" y="3703320"/>
            <a:ext cx="3456432" cy="1481328"/>
          </a:xfrm>
          <a:prstGeom prst="roundRect">
            <a:avLst>
              <a:gd name="adj" fmla="val 4938"/>
            </a:avLst>
          </a:prstGeom>
          <a:solidFill>
            <a:srgbClr val="FAFCFD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3867912"/>
            <a:ext cx="384048" cy="384048"/>
          </a:xfrm>
          <a:prstGeom prst="ellipse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931920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225296" y="3867912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Flowchart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49808" y="4270248"/>
            <a:ext cx="3090672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D3A"/>
                </a:solidFill>
              </a:rPr>
              <a:t>Menggambar alur dengan simbol yang sesuai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34256" y="3703320"/>
            <a:ext cx="3456432" cy="1481328"/>
          </a:xfrm>
          <a:prstGeom prst="roundRect">
            <a:avLst>
              <a:gd name="adj" fmla="val 4938"/>
            </a:avLst>
          </a:prstGeom>
          <a:solidFill>
            <a:srgbClr val="FAFCFD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98848" y="3867912"/>
            <a:ext cx="384048" cy="384048"/>
          </a:xfrm>
          <a:prstGeom prst="ellipse">
            <a:avLst/>
          </a:prstGeom>
          <a:solidFill>
            <a:srgbClr val="3478B8"/>
          </a:solidFill>
          <a:ln w="12700">
            <a:solidFill>
              <a:srgbClr val="3478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98848" y="3931920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92624" y="3867912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Pseudocode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17136" y="4270248"/>
            <a:ext cx="3090672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D3A"/>
                </a:solidFill>
              </a:rPr>
              <a:t>Menuliskan solusi secara terstruktur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101584" y="3703320"/>
            <a:ext cx="3456432" cy="1481328"/>
          </a:xfrm>
          <a:prstGeom prst="roundRect">
            <a:avLst>
              <a:gd name="adj" fmla="val 4938"/>
            </a:avLst>
          </a:prstGeom>
          <a:solidFill>
            <a:srgbClr val="FAFCFD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66176" y="3867912"/>
            <a:ext cx="384048" cy="384048"/>
          </a:xfrm>
          <a:prstGeom prst="ellipse">
            <a:avLst/>
          </a:prstGeom>
          <a:solidFill>
            <a:srgbClr val="F06C5B"/>
          </a:solidFill>
          <a:ln w="12700">
            <a:solidFill>
              <a:srgbClr val="F06C5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66176" y="3931920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759952" y="3867912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Uji &amp; Perbaiki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284464" y="4270248"/>
            <a:ext cx="3090672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D3A"/>
                </a:solidFill>
              </a:rPr>
              <a:t>Menguji hasil dan memperbaiki kesalahan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160520" y="5806440"/>
            <a:ext cx="3886200" cy="320040"/>
          </a:xfrm>
          <a:prstGeom prst="roundRect">
            <a:avLst>
              <a:gd name="adj" fmla="val 22857"/>
            </a:avLst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15384" y="5884164"/>
            <a:ext cx="3776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8A5A00"/>
                </a:solidFill>
              </a:rPr>
              <a:t>Target kualitas: minimal skor 3 dari 4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83096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B7C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768096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Alur kegiatan 80 menit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1271016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984"/>
                </a:solidFill>
              </a:rPr>
              <a:t>Ikuti setiap tahap agar proses belajar berjalan cepat dan terarah.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2148840"/>
            <a:ext cx="1179576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240">
            <a:solidFill>
              <a:srgbClr val="D8E2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2331720"/>
            <a:ext cx="1051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7324D"/>
                </a:solidFill>
              </a:rPr>
              <a:t>Pembuka</a:t>
            </a:r>
            <a:endParaRPr lang="en-US" sz="920" dirty="0"/>
          </a:p>
        </p:txBody>
      </p:sp>
      <p:sp>
        <p:nvSpPr>
          <p:cNvPr id="6" name="Text 4"/>
          <p:cNvSpPr/>
          <p:nvPr/>
        </p:nvSpPr>
        <p:spPr>
          <a:xfrm>
            <a:off x="566928" y="274320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146D72"/>
                </a:solidFill>
              </a:rPr>
              <a:t>5 m</a:t>
            </a:r>
            <a:endParaRPr lang="en-US" sz="930" dirty="0"/>
          </a:p>
        </p:txBody>
      </p:sp>
      <p:sp>
        <p:nvSpPr>
          <p:cNvPr id="7" name="Shape 5"/>
          <p:cNvSpPr/>
          <p:nvPr/>
        </p:nvSpPr>
        <p:spPr>
          <a:xfrm>
            <a:off x="1714500" y="2487168"/>
            <a:ext cx="109728" cy="256032"/>
          </a:xfrm>
          <a:prstGeom prst="chevron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56232" y="2148840"/>
            <a:ext cx="1179576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240">
            <a:solidFill>
              <a:srgbClr val="D8E2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20240" y="2331720"/>
            <a:ext cx="1051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7324D"/>
                </a:solidFill>
              </a:rPr>
              <a:t>Orientasi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1920240" y="274320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146D72"/>
                </a:solidFill>
              </a:rPr>
              <a:t>10 m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3067812" y="2487168"/>
            <a:ext cx="109728" cy="256032"/>
          </a:xfrm>
          <a:prstGeom prst="chevron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9544" y="2148840"/>
            <a:ext cx="1179576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240">
            <a:solidFill>
              <a:srgbClr val="D8E2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73552" y="2331720"/>
            <a:ext cx="1051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7324D"/>
                </a:solidFill>
              </a:rPr>
              <a:t>Organisasi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3273552" y="274320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146D72"/>
                </a:solidFill>
              </a:rPr>
              <a:t>5 m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4421124" y="2487168"/>
            <a:ext cx="109728" cy="256032"/>
          </a:xfrm>
          <a:prstGeom prst="chevron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62856" y="2148840"/>
            <a:ext cx="1179576" cy="960120"/>
          </a:xfrm>
          <a:prstGeom prst="roundRect">
            <a:avLst>
              <a:gd name="adj" fmla="val 7619"/>
            </a:avLst>
          </a:prstGeom>
          <a:solidFill>
            <a:srgbClr val="D4EEEA"/>
          </a:solidFill>
          <a:ln w="15240">
            <a:solidFill>
              <a:srgbClr val="1F8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2331720"/>
            <a:ext cx="1051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7324D"/>
                </a:solidFill>
              </a:rPr>
              <a:t>Penyelidikan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4626864" y="274320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146D72"/>
                </a:solidFill>
              </a:rPr>
              <a:t>20 m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5774436" y="2487168"/>
            <a:ext cx="109728" cy="256032"/>
          </a:xfrm>
          <a:prstGeom prst="chevron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16168" y="2148840"/>
            <a:ext cx="1179576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240">
            <a:solidFill>
              <a:srgbClr val="D8E2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80176" y="2331720"/>
            <a:ext cx="1051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7324D"/>
                </a:solidFill>
              </a:rPr>
              <a:t>Presentasi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5980176" y="274320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146D72"/>
                </a:solidFill>
              </a:rPr>
              <a:t>10 m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7127748" y="2487168"/>
            <a:ext cx="109728" cy="256032"/>
          </a:xfrm>
          <a:prstGeom prst="chevron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69480" y="2148840"/>
            <a:ext cx="1179576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240">
            <a:solidFill>
              <a:srgbClr val="D8E2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33488" y="2331720"/>
            <a:ext cx="1051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7324D"/>
                </a:solidFill>
              </a:rPr>
              <a:t>Evaluasi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7333488" y="274320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146D72"/>
                </a:solidFill>
              </a:rPr>
              <a:t>5 m</a:t>
            </a:r>
            <a:endParaRPr lang="en-US" sz="930" dirty="0"/>
          </a:p>
        </p:txBody>
      </p:sp>
      <p:sp>
        <p:nvSpPr>
          <p:cNvPr id="27" name="Shape 25"/>
          <p:cNvSpPr/>
          <p:nvPr/>
        </p:nvSpPr>
        <p:spPr>
          <a:xfrm>
            <a:off x="8481060" y="2487168"/>
            <a:ext cx="109728" cy="256032"/>
          </a:xfrm>
          <a:prstGeom prst="chevron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22792" y="2148840"/>
            <a:ext cx="1389888" cy="960120"/>
          </a:xfrm>
          <a:prstGeom prst="roundRect">
            <a:avLst>
              <a:gd name="adj" fmla="val 7619"/>
            </a:avLst>
          </a:prstGeom>
          <a:solidFill>
            <a:srgbClr val="FDE8E4"/>
          </a:solidFill>
          <a:ln w="15240">
            <a:solidFill>
              <a:srgbClr val="F06C5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0" y="2331720"/>
            <a:ext cx="12618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7324D"/>
                </a:solidFill>
              </a:rPr>
              <a:t>Asesmen</a:t>
            </a:r>
            <a:endParaRPr lang="en-US" sz="920" dirty="0"/>
          </a:p>
        </p:txBody>
      </p:sp>
      <p:sp>
        <p:nvSpPr>
          <p:cNvPr id="30" name="Text 28"/>
          <p:cNvSpPr/>
          <p:nvPr/>
        </p:nvSpPr>
        <p:spPr>
          <a:xfrm>
            <a:off x="8686800" y="2743200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F06C5B"/>
                </a:solidFill>
              </a:rPr>
              <a:t>20 m</a:t>
            </a:r>
            <a:endParaRPr lang="en-US" sz="930" dirty="0"/>
          </a:p>
        </p:txBody>
      </p:sp>
      <p:sp>
        <p:nvSpPr>
          <p:cNvPr id="31" name="Shape 29"/>
          <p:cNvSpPr/>
          <p:nvPr/>
        </p:nvSpPr>
        <p:spPr>
          <a:xfrm>
            <a:off x="10044684" y="2487168"/>
            <a:ext cx="109728" cy="256032"/>
          </a:xfrm>
          <a:prstGeom prst="chevron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186416" y="2148840"/>
            <a:ext cx="1179576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240">
            <a:solidFill>
              <a:srgbClr val="D8E2E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250424" y="2331720"/>
            <a:ext cx="1051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7324D"/>
                </a:solidFill>
              </a:rPr>
              <a:t>Refleksi</a:t>
            </a:r>
            <a:endParaRPr lang="en-US" sz="920" dirty="0"/>
          </a:p>
        </p:txBody>
      </p:sp>
      <p:sp>
        <p:nvSpPr>
          <p:cNvPr id="34" name="Text 32"/>
          <p:cNvSpPr/>
          <p:nvPr/>
        </p:nvSpPr>
        <p:spPr>
          <a:xfrm>
            <a:off x="10250424" y="274320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146D72"/>
                </a:solidFill>
              </a:rPr>
              <a:t>5 m</a:t>
            </a:r>
            <a:endParaRPr lang="en-US" sz="930" dirty="0"/>
          </a:p>
        </p:txBody>
      </p:sp>
      <p:sp>
        <p:nvSpPr>
          <p:cNvPr id="35" name="Shape 33"/>
          <p:cNvSpPr/>
          <p:nvPr/>
        </p:nvSpPr>
        <p:spPr>
          <a:xfrm>
            <a:off x="1097280" y="3977640"/>
            <a:ext cx="9966960" cy="1133856"/>
          </a:xfrm>
          <a:prstGeom prst="roundRect">
            <a:avLst>
              <a:gd name="adj" fmla="val 6452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371600" y="422452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6E4DD"/>
                </a:solidFill>
              </a:rPr>
              <a:t>Kunci waktu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788920" y="4169664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Saat slide berpindah, tahap juga berpindah. Selesaikan pekerjaan sesuai batas waktu yang ditampilkan.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2194560" y="5577840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7984"/>
                </a:solidFill>
              </a:rPr>
              <a:t>Bekerja cepat ≠ terburu-buru. Utamakan logika yang dapat dijelaskan.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83096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B7C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47472"/>
            <a:ext cx="1508760" cy="310896"/>
          </a:xfrm>
          <a:prstGeom prst="roundRect">
            <a:avLst>
              <a:gd name="adj" fmla="val 20588"/>
            </a:avLst>
          </a:prstGeom>
          <a:solidFill>
            <a:srgbClr val="D4EEEA"/>
          </a:solidFill>
          <a:ln w="12700">
            <a:solidFill>
              <a:srgbClr val="D4EE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02336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6D72"/>
                </a:solidFill>
              </a:rPr>
              <a:t>PEMBUKA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561320" y="329184"/>
            <a:ext cx="1051560" cy="329184"/>
          </a:xfrm>
          <a:prstGeom prst="roundRect">
            <a:avLst>
              <a:gd name="adj" fmla="val 22222"/>
            </a:avLst>
          </a:prstGeom>
          <a:solidFill>
            <a:srgbClr val="FFF4D6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43616" y="393192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A5A00"/>
                </a:solidFill>
              </a:rPr>
              <a:t>5 MENIT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30352" y="768096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Pemantik: komputer tidak bisa menebak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48640" y="1271016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984"/>
                </a:solidFill>
              </a:rPr>
              <a:t>Pikirkan dulu selama ±30 detik sebelum menjawab.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58368" y="1920240"/>
            <a:ext cx="53035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212848"/>
            <a:ext cx="384048" cy="384048"/>
          </a:xfrm>
          <a:prstGeom prst="ellipse">
            <a:avLst/>
          </a:prstGeom>
          <a:solidFill>
            <a:srgbClr val="1F8A8A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508760" y="2148840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</a:rPr>
              <a:t>Apa yang terjadi jika urutan instruksi kepada komputer salah?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236208" y="1920240"/>
            <a:ext cx="53035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2212848"/>
            <a:ext cx="384048" cy="384048"/>
          </a:xfrm>
          <a:prstGeom prst="ellipse">
            <a:avLst/>
          </a:prstGeom>
          <a:solidFill>
            <a:srgbClr val="3478B8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86600" y="2148840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</a:rPr>
              <a:t>Bagaimana komputer tahu kapan harus memilih satu keputusan?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828800" y="4709160"/>
            <a:ext cx="1600200" cy="594360"/>
          </a:xfrm>
          <a:prstGeom prst="roundRect">
            <a:avLst>
              <a:gd name="adj" fmla="val 12308"/>
            </a:avLst>
          </a:prstGeom>
          <a:solidFill>
            <a:srgbClr val="FDE8E4"/>
          </a:solidFill>
          <a:ln w="15240">
            <a:solidFill>
              <a:srgbClr val="1F8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01952" y="4882896"/>
            <a:ext cx="1453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324D"/>
                </a:solidFill>
              </a:rPr>
              <a:t>Masalah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474720" y="4873752"/>
            <a:ext cx="301752" cy="256032"/>
          </a:xfrm>
          <a:prstGeom prst="chevron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13048" y="4709160"/>
            <a:ext cx="1600200" cy="594360"/>
          </a:xfrm>
          <a:prstGeom prst="roundRect">
            <a:avLst>
              <a:gd name="adj" fmla="val 12308"/>
            </a:avLst>
          </a:prstGeom>
          <a:solidFill>
            <a:srgbClr val="E7F5F2"/>
          </a:solidFill>
          <a:ln w="15240">
            <a:solidFill>
              <a:srgbClr val="3478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86200" y="4882896"/>
            <a:ext cx="1453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324D"/>
                </a:solidFill>
              </a:rPr>
              <a:t>Langkah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58968" y="4873752"/>
            <a:ext cx="301752" cy="256032"/>
          </a:xfrm>
          <a:prstGeom prst="chevron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97296" y="4709160"/>
            <a:ext cx="1600200" cy="594360"/>
          </a:xfrm>
          <a:prstGeom prst="roundRect">
            <a:avLst>
              <a:gd name="adj" fmla="val 12308"/>
            </a:avLst>
          </a:prstGeom>
          <a:solidFill>
            <a:srgbClr val="FFF4D6"/>
          </a:solidFill>
          <a:ln w="15240">
            <a:solidFill>
              <a:srgbClr val="1F8A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70448" y="4882896"/>
            <a:ext cx="1453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324D"/>
                </a:solidFill>
              </a:rPr>
              <a:t>Keputusan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443216" y="4873752"/>
            <a:ext cx="301752" cy="256032"/>
          </a:xfrm>
          <a:prstGeom prst="chevron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81544" y="4709160"/>
            <a:ext cx="1600200" cy="594360"/>
          </a:xfrm>
          <a:prstGeom prst="roundRect">
            <a:avLst>
              <a:gd name="adj" fmla="val 12308"/>
            </a:avLst>
          </a:prstGeom>
          <a:solidFill>
            <a:srgbClr val="E7F0FA"/>
          </a:solidFill>
          <a:ln w="15240">
            <a:solidFill>
              <a:srgbClr val="3478B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54696" y="4882896"/>
            <a:ext cx="1453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324D"/>
                </a:solidFill>
              </a:rPr>
              <a:t>Hasil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83096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B7C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47472"/>
            <a:ext cx="1508760" cy="310896"/>
          </a:xfrm>
          <a:prstGeom prst="roundRect">
            <a:avLst>
              <a:gd name="adj" fmla="val 20588"/>
            </a:avLst>
          </a:prstGeom>
          <a:solidFill>
            <a:srgbClr val="D4EEEA"/>
          </a:solidFill>
          <a:ln w="12700">
            <a:solidFill>
              <a:srgbClr val="D4EE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02336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6D72"/>
                </a:solidFill>
              </a:rPr>
              <a:t>PBL 1 • ORIENTASI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561320" y="329184"/>
            <a:ext cx="1051560" cy="329184"/>
          </a:xfrm>
          <a:prstGeom prst="roundRect">
            <a:avLst>
              <a:gd name="adj" fmla="val 22222"/>
            </a:avLst>
          </a:prstGeom>
          <a:solidFill>
            <a:srgbClr val="FFF4D6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43616" y="393192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A5A00"/>
                </a:solidFill>
              </a:rPr>
              <a:t>10 MENIT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30352" y="768096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Masalah: Sistem Penentuan Biaya Parkir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48640" y="1271016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984"/>
                </a:solidFill>
              </a:rPr>
              <a:t>Baca masalahnya. Jangan langsung mencari contoh jawaban.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58368" y="1828800"/>
            <a:ext cx="699516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1488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Sebuah tempat parkir menetapkan biaya: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2724912"/>
            <a:ext cx="617220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r>
              <a:rPr lang="en-US" sz="1500" dirty="0">
                <a:solidFill>
                  <a:srgbClr val="1D2D3A"/>
                </a:solidFill>
              </a:rPr>
              <a:t>• Maksimal 2 jam: </a:t>
            </a:r>
            <a:pPr indent="0" marL="0">
              <a:buNone/>
            </a:pPr>
            <a:r>
              <a:rPr lang="en-US" sz="1500" b="1" dirty="0">
                <a:solidFill>
                  <a:srgbClr val="146D72"/>
                </a:solidFill>
              </a:rPr>
              <a:t>Rp5.000</a:t>
            </a:r>
            <a:endParaRPr lang="en-US" sz="1500" dirty="0"/>
          </a:p>
          <a:p>
            <a:endParaRPr lang="en-US" sz="1500" dirty="0"/>
          </a:p>
          <a:p>
            <a:r>
              <a:rPr lang="en-US" sz="1500" dirty="0">
                <a:solidFill>
                  <a:srgbClr val="1D2D3A"/>
                </a:solidFill>
              </a:rPr>
              <a:t>• Lebih dari 2 jam: setiap jam berikutnya </a:t>
            </a:r>
            <a:pPr indent="0" marL="0">
              <a:buNone/>
            </a:pPr>
            <a:r>
              <a:rPr lang="en-US" sz="1500" b="1" dirty="0">
                <a:solidFill>
                  <a:srgbClr val="F06C5B"/>
                </a:solidFill>
              </a:rPr>
              <a:t>+ Rp2.000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60120" y="4069080"/>
            <a:ext cx="6355080" cy="658368"/>
          </a:xfrm>
          <a:prstGeom prst="roundRect">
            <a:avLst>
              <a:gd name="adj" fmla="val 9722"/>
            </a:avLst>
          </a:prstGeom>
          <a:solidFill>
            <a:srgbClr val="FFF4D6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70432" y="4242816"/>
            <a:ext cx="5925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7A5200"/>
                </a:solidFill>
              </a:rPr>
              <a:t>Tantangan: buat solusi algoritmik yang menentukan biaya parkir berdasarkan lama parkir.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955280" y="1828800"/>
            <a:ext cx="3611880" cy="1188720"/>
          </a:xfrm>
          <a:prstGeom prst="roundRect">
            <a:avLst>
              <a:gd name="adj" fmla="val 6154"/>
            </a:avLst>
          </a:prstGeom>
          <a:solidFill>
            <a:srgbClr val="E7F5F2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8160" y="199339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Tanya diri sendiri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38160" y="2395728"/>
            <a:ext cx="32461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D3A"/>
                </a:solidFill>
              </a:rPr>
              <a:t>Data apa yang masuk? Hasil apa yang keluar?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955280" y="3246120"/>
            <a:ext cx="3611880" cy="1188720"/>
          </a:xfrm>
          <a:prstGeom prst="roundRect">
            <a:avLst>
              <a:gd name="adj" fmla="val 6154"/>
            </a:avLst>
          </a:prstGeom>
          <a:solidFill>
            <a:srgbClr val="E7F0FA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38160" y="341071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Cari titik keputusan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38160" y="3813048"/>
            <a:ext cx="32461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D3A"/>
                </a:solidFill>
              </a:rPr>
              <a:t>Kapan aturan biaya berubah?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955280" y="4663440"/>
            <a:ext cx="3611880" cy="1188720"/>
          </a:xfrm>
          <a:prstGeom prst="roundRect">
            <a:avLst>
              <a:gd name="adj" fmla="val 6154"/>
            </a:avLst>
          </a:prstGeom>
          <a:solidFill>
            <a:srgbClr val="FDE8E4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8160" y="482803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6C5B"/>
                </a:solidFill>
              </a:rPr>
              <a:t>Belum boleh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138160" y="5230368"/>
            <a:ext cx="32461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D3A"/>
                </a:solidFill>
              </a:rPr>
              <a:t>Jangan meminta contoh algoritma jadi.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83096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B7C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47472"/>
            <a:ext cx="1508760" cy="310896"/>
          </a:xfrm>
          <a:prstGeom prst="roundRect">
            <a:avLst>
              <a:gd name="adj" fmla="val 20588"/>
            </a:avLst>
          </a:prstGeom>
          <a:solidFill>
            <a:srgbClr val="D4EEEA"/>
          </a:solidFill>
          <a:ln w="12700">
            <a:solidFill>
              <a:srgbClr val="D4EE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02336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6D72"/>
                </a:solidFill>
              </a:rPr>
              <a:t>PBL 2 • ORGANISASI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561320" y="329184"/>
            <a:ext cx="1051560" cy="329184"/>
          </a:xfrm>
          <a:prstGeom prst="roundRect">
            <a:avLst>
              <a:gd name="adj" fmla="val 22222"/>
            </a:avLst>
          </a:prstGeom>
          <a:solidFill>
            <a:srgbClr val="FFF4D6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43616" y="393192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A5A00"/>
                </a:solidFill>
              </a:rPr>
              <a:t>5 MENIT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30352" y="768096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Atur kelompok &amp; bagi peran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48640" y="1271016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984"/>
                </a:solidFill>
              </a:rPr>
              <a:t>Kelompok sudah ditentukan. Mulai kerja begitu LKPD dibagikan.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3474720" cy="1335024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" y="1993392"/>
            <a:ext cx="384048" cy="384048"/>
          </a:xfrm>
          <a:prstGeom prst="ellipse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2057400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298448" y="1993392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Koordinator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2395728"/>
            <a:ext cx="3108960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D3A"/>
                </a:solidFill>
              </a:rPr>
              <a:t>Menjaga alur diskusi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434840" y="1828800"/>
            <a:ext cx="3474720" cy="1335024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99432" y="1993392"/>
            <a:ext cx="384048" cy="384048"/>
          </a:xfrm>
          <a:prstGeom prst="ellipse">
            <a:avLst/>
          </a:prstGeom>
          <a:solidFill>
            <a:srgbClr val="3478B8"/>
          </a:solidFill>
          <a:ln w="12700">
            <a:solidFill>
              <a:srgbClr val="3478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99432" y="2057400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93208" y="1993392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Analis masalah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17720" y="2395728"/>
            <a:ext cx="3108960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D3A"/>
                </a:solidFill>
              </a:rPr>
              <a:t>Menentukan IPO &amp; kondisi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29600" y="1828800"/>
            <a:ext cx="3474720" cy="1335024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94192" y="1993392"/>
            <a:ext cx="384048" cy="384048"/>
          </a:xfrm>
          <a:prstGeom prst="ellipse">
            <a:avLst/>
          </a:prstGeom>
          <a:solidFill>
            <a:srgbClr val="F06C5B"/>
          </a:solidFill>
          <a:ln w="12700">
            <a:solidFill>
              <a:srgbClr val="F06C5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94192" y="2057400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887968" y="1993392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Penyusun algoritma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412480" y="2395728"/>
            <a:ext cx="3108960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D3A"/>
                </a:solidFill>
              </a:rPr>
              <a:t>Menyusun langkah solusi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3520440"/>
            <a:ext cx="3474720" cy="1335024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4672" y="3685032"/>
            <a:ext cx="384048" cy="384048"/>
          </a:xfrm>
          <a:prstGeom prst="ellipse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" y="3749040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298448" y="3685032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Perancang flowchart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2960" y="4087368"/>
            <a:ext cx="3108960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D3A"/>
                </a:solidFill>
              </a:rPr>
              <a:t>Menggambar alur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434840" y="3520440"/>
            <a:ext cx="3474720" cy="1335024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99432" y="3685032"/>
            <a:ext cx="384048" cy="384048"/>
          </a:xfrm>
          <a:prstGeom prst="ellipse">
            <a:avLst/>
          </a:prstGeom>
          <a:solidFill>
            <a:srgbClr val="3478B8"/>
          </a:solidFill>
          <a:ln w="12700">
            <a:solidFill>
              <a:srgbClr val="3478B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99432" y="3749040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93208" y="3685032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Penyusun pseudocode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617720" y="4087368"/>
            <a:ext cx="3108960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D3A"/>
                </a:solidFill>
              </a:rPr>
              <a:t>Menuliskan solusi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229600" y="3520440"/>
            <a:ext cx="3474720" cy="1335024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394192" y="3685032"/>
            <a:ext cx="384048" cy="384048"/>
          </a:xfrm>
          <a:prstGeom prst="ellipse">
            <a:avLst/>
          </a:prstGeom>
          <a:solidFill>
            <a:srgbClr val="F06C5B"/>
          </a:solidFill>
          <a:ln w="12700">
            <a:solidFill>
              <a:srgbClr val="F06C5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94192" y="3749040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887968" y="3685032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Penguji / Presenter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412480" y="4087368"/>
            <a:ext cx="3108960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D3A"/>
                </a:solidFill>
              </a:rPr>
              <a:t>Menguji &amp; menjelaskan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011680" y="5440680"/>
            <a:ext cx="8092440" cy="566928"/>
          </a:xfrm>
          <a:prstGeom prst="roundRect">
            <a:avLst>
              <a:gd name="adj" fmla="val 9677"/>
            </a:avLst>
          </a:prstGeom>
          <a:solidFill>
            <a:srgbClr val="FFF4D6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40280" y="5596128"/>
            <a:ext cx="7635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A5200"/>
                </a:solidFill>
              </a:rPr>
              <a:t>Jika anggota kelompok 5 orang, satu orang boleh memegang dua peran. Semua anggota tetap harus memahami solusi.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83096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B7C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47472"/>
            <a:ext cx="1508760" cy="310896"/>
          </a:xfrm>
          <a:prstGeom prst="roundRect">
            <a:avLst>
              <a:gd name="adj" fmla="val 20588"/>
            </a:avLst>
          </a:prstGeom>
          <a:solidFill>
            <a:srgbClr val="D4EEEA"/>
          </a:solidFill>
          <a:ln w="12700">
            <a:solidFill>
              <a:srgbClr val="D4EE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02336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6D72"/>
                </a:solidFill>
              </a:rPr>
              <a:t>PBL 3 • PENYELIDIKAN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561320" y="329184"/>
            <a:ext cx="1051560" cy="329184"/>
          </a:xfrm>
          <a:prstGeom prst="roundRect">
            <a:avLst>
              <a:gd name="adj" fmla="val 22222"/>
            </a:avLst>
          </a:prstGeom>
          <a:solidFill>
            <a:srgbClr val="FFF4D6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43616" y="393192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A5A00"/>
                </a:solidFill>
              </a:rPr>
              <a:t>20 MENIT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30352" y="768096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Susun solusi kelompok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48640" y="1271016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984"/>
                </a:solidFill>
              </a:rPr>
              <a:t>Gunakan LKPD. Guru membantu lewat pertanyaan, bukan memberikan jawaban jadi.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85800" y="1920240"/>
            <a:ext cx="1508760" cy="594360"/>
          </a:xfrm>
          <a:prstGeom prst="roundRect">
            <a:avLst>
              <a:gd name="adj" fmla="val 12308"/>
            </a:avLst>
          </a:prstGeom>
          <a:solidFill>
            <a:srgbClr val="E7F5F2"/>
          </a:solidFill>
          <a:ln w="15240">
            <a:solidFill>
              <a:srgbClr val="1F8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2093976"/>
            <a:ext cx="1362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324D"/>
                </a:solidFill>
              </a:rPr>
              <a:t>IPO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40280" y="2084832"/>
            <a:ext cx="146304" cy="256032"/>
          </a:xfrm>
          <a:prstGeom prst="chevron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23160" y="1920240"/>
            <a:ext cx="1508760" cy="594360"/>
          </a:xfrm>
          <a:prstGeom prst="roundRect">
            <a:avLst>
              <a:gd name="adj" fmla="val 12308"/>
            </a:avLst>
          </a:prstGeom>
          <a:solidFill>
            <a:srgbClr val="E7F0FA"/>
          </a:solidFill>
          <a:ln w="15240">
            <a:solidFill>
              <a:srgbClr val="3478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96312" y="2093976"/>
            <a:ext cx="1362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324D"/>
                </a:solidFill>
              </a:rPr>
              <a:t>Algoritma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977640" y="2084832"/>
            <a:ext cx="146304" cy="256032"/>
          </a:xfrm>
          <a:prstGeom prst="chevron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60520" y="1920240"/>
            <a:ext cx="1508760" cy="594360"/>
          </a:xfrm>
          <a:prstGeom prst="roundRect">
            <a:avLst>
              <a:gd name="adj" fmla="val 12308"/>
            </a:avLst>
          </a:prstGeom>
          <a:solidFill>
            <a:srgbClr val="FFF4D6"/>
          </a:solidFill>
          <a:ln w="15240">
            <a:solidFill>
              <a:srgbClr val="1F8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33672" y="2093976"/>
            <a:ext cx="1362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324D"/>
                </a:solidFill>
              </a:rPr>
              <a:t>Percabangan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715000" y="2084832"/>
            <a:ext cx="146304" cy="256032"/>
          </a:xfrm>
          <a:prstGeom prst="chevron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97880" y="1920240"/>
            <a:ext cx="1508760" cy="594360"/>
          </a:xfrm>
          <a:prstGeom prst="roundRect">
            <a:avLst>
              <a:gd name="adj" fmla="val 12308"/>
            </a:avLst>
          </a:prstGeom>
          <a:solidFill>
            <a:srgbClr val="E7F5F2"/>
          </a:solidFill>
          <a:ln w="15240">
            <a:solidFill>
              <a:srgbClr val="3478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71032" y="2093976"/>
            <a:ext cx="1362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324D"/>
                </a:solidFill>
              </a:rPr>
              <a:t>Flowchart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452360" y="2084832"/>
            <a:ext cx="146304" cy="256032"/>
          </a:xfrm>
          <a:prstGeom prst="chevron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35240" y="1920240"/>
            <a:ext cx="1508760" cy="594360"/>
          </a:xfrm>
          <a:prstGeom prst="roundRect">
            <a:avLst>
              <a:gd name="adj" fmla="val 12308"/>
            </a:avLst>
          </a:prstGeom>
          <a:solidFill>
            <a:srgbClr val="E7F0FA"/>
          </a:solidFill>
          <a:ln w="15240">
            <a:solidFill>
              <a:srgbClr val="1F8A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08392" y="2093976"/>
            <a:ext cx="1362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324D"/>
                </a:solidFill>
              </a:rPr>
              <a:t>Pseudocode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189720" y="2084832"/>
            <a:ext cx="146304" cy="256032"/>
          </a:xfrm>
          <a:prstGeom prst="chevron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372600" y="1920240"/>
            <a:ext cx="1508760" cy="594360"/>
          </a:xfrm>
          <a:prstGeom prst="roundRect">
            <a:avLst>
              <a:gd name="adj" fmla="val 12308"/>
            </a:avLst>
          </a:prstGeom>
          <a:solidFill>
            <a:srgbClr val="FDE8E4"/>
          </a:solidFill>
          <a:ln w="15240">
            <a:solidFill>
              <a:srgbClr val="3478B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45752" y="2093976"/>
            <a:ext cx="1362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324D"/>
                </a:solidFill>
              </a:rPr>
              <a:t>Uji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31520" y="2971800"/>
            <a:ext cx="5349240" cy="2176272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" y="32461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4D"/>
                </a:solidFill>
              </a:rPr>
              <a:t>Gunakan pertanyaan ini saat buntu: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51560" y="3657600"/>
            <a:ext cx="4617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D2D3A"/>
                </a:solidFill>
              </a:rPr>
              <a:t>• Apa yang harus diketahui lebih dahulu?</a:t>
            </a:r>
            <a:endParaRPr lang="en-US" sz="1120" dirty="0"/>
          </a:p>
        </p:txBody>
      </p:sp>
      <p:sp>
        <p:nvSpPr>
          <p:cNvPr id="28" name="Text 26"/>
          <p:cNvSpPr/>
          <p:nvPr/>
        </p:nvSpPr>
        <p:spPr>
          <a:xfrm>
            <a:off x="1051560" y="3986784"/>
            <a:ext cx="4617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D2D3A"/>
                </a:solidFill>
              </a:rPr>
              <a:t>• Kapan biaya tambahan mulai berlaku?</a:t>
            </a:r>
            <a:endParaRPr lang="en-US" sz="1120" dirty="0"/>
          </a:p>
        </p:txBody>
      </p:sp>
      <p:sp>
        <p:nvSpPr>
          <p:cNvPr id="29" name="Text 27"/>
          <p:cNvSpPr/>
          <p:nvPr/>
        </p:nvSpPr>
        <p:spPr>
          <a:xfrm>
            <a:off x="1051560" y="4315968"/>
            <a:ext cx="4617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D2D3A"/>
                </a:solidFill>
              </a:rPr>
              <a:t>• Bagaimana jika parkir tepat 2 jam?</a:t>
            </a:r>
            <a:endParaRPr lang="en-US" sz="1120" dirty="0"/>
          </a:p>
        </p:txBody>
      </p:sp>
      <p:sp>
        <p:nvSpPr>
          <p:cNvPr id="30" name="Text 28"/>
          <p:cNvSpPr/>
          <p:nvPr/>
        </p:nvSpPr>
        <p:spPr>
          <a:xfrm>
            <a:off x="1051560" y="4645152"/>
            <a:ext cx="4617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D2D3A"/>
                </a:solidFill>
              </a:rPr>
              <a:t>• Apakah solusi bekerja untuk beberapa data uji?</a:t>
            </a:r>
            <a:endParaRPr lang="en-US" sz="1120" dirty="0"/>
          </a:p>
        </p:txBody>
      </p:sp>
      <p:sp>
        <p:nvSpPr>
          <p:cNvPr id="31" name="Shape 29"/>
          <p:cNvSpPr/>
          <p:nvPr/>
        </p:nvSpPr>
        <p:spPr>
          <a:xfrm>
            <a:off x="6400800" y="2971800"/>
            <a:ext cx="5074920" cy="2176272"/>
          </a:xfrm>
          <a:prstGeom prst="roundRect">
            <a:avLst>
              <a:gd name="adj" fmla="val 3361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20840" y="329184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6E4DD"/>
                </a:solidFill>
              </a:rPr>
              <a:t>Aturan emas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720840" y="374904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COBA → UJI → PERBAIKI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720840" y="4370832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DE9EE"/>
                </a:solidFill>
              </a:rPr>
              <a:t>Baru minta bantuan setelah kelompok benar-benar mencoba.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83096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B7C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47472"/>
            <a:ext cx="1508760" cy="310896"/>
          </a:xfrm>
          <a:prstGeom prst="roundRect">
            <a:avLst>
              <a:gd name="adj" fmla="val 20588"/>
            </a:avLst>
          </a:prstGeom>
          <a:solidFill>
            <a:srgbClr val="D4EEEA"/>
          </a:solidFill>
          <a:ln w="12700">
            <a:solidFill>
              <a:srgbClr val="D4EE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02336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6D72"/>
                </a:solidFill>
              </a:rPr>
              <a:t>PBL 4 • PRESENTASI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561320" y="329184"/>
            <a:ext cx="1051560" cy="329184"/>
          </a:xfrm>
          <a:prstGeom prst="roundRect">
            <a:avLst>
              <a:gd name="adj" fmla="val 22222"/>
            </a:avLst>
          </a:prstGeom>
          <a:solidFill>
            <a:srgbClr val="FFF4D6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43616" y="393192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A5A00"/>
                </a:solidFill>
              </a:rPr>
              <a:t>10 MENIT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30352" y="768096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Presentasikan &amp; uji solusi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48640" y="1271016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984"/>
                </a:solidFill>
              </a:rPr>
              <a:t>Kelompok lain bertugas menjadi penguji, bukan hanya pendengar.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58368" y="1828800"/>
            <a:ext cx="3383280" cy="2971800"/>
          </a:xfrm>
          <a:prstGeom prst="roundRect">
            <a:avLst>
              <a:gd name="adj" fmla="val 2462"/>
            </a:avLst>
          </a:prstGeom>
          <a:solidFill>
            <a:srgbClr val="E7F5F2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993392"/>
            <a:ext cx="384048" cy="384048"/>
          </a:xfrm>
          <a:prstGeom prst="ellipse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057400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316736" y="1993392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Kelompok presenter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3017520" cy="2221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D3A"/>
                </a:solidFill>
              </a:rPr>
              <a:t>Jelaskan: masalah → keputusan → alur → hasil uji.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2D3A"/>
                </a:solidFill>
              </a:rPr>
              <a:t>Jangan hanya membaca LKPD; jelaskan alasan logikanya.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407408" y="1828800"/>
            <a:ext cx="3383280" cy="2971800"/>
          </a:xfrm>
          <a:prstGeom prst="roundRect">
            <a:avLst>
              <a:gd name="adj" fmla="val 2462"/>
            </a:avLst>
          </a:prstGeom>
          <a:solidFill>
            <a:srgbClr val="E7F0FA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1993392"/>
            <a:ext cx="384048" cy="384048"/>
          </a:xfrm>
          <a:prstGeom prst="ellipse">
            <a:avLst/>
          </a:prstGeom>
          <a:solidFill>
            <a:srgbClr val="3478B8"/>
          </a:solidFill>
          <a:ln w="12700">
            <a:solidFill>
              <a:srgbClr val="3478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2057400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65776" y="1993392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Kelompok penguji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90288" y="2395728"/>
            <a:ext cx="3017520" cy="2221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D3A"/>
                </a:solidFill>
              </a:rPr>
              <a:t>Coba data: 1 jam, 2 jam, dan 4 jam.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D2D3A"/>
                </a:solidFill>
              </a:rPr>
              <a:t>Tanyakan: apakah hasilnya masuk akal?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156448" y="1828800"/>
            <a:ext cx="3383280" cy="2971800"/>
          </a:xfrm>
          <a:prstGeom prst="roundRect">
            <a:avLst>
              <a:gd name="adj" fmla="val 2462"/>
            </a:avLst>
          </a:prstGeom>
          <a:solidFill>
            <a:srgbClr val="FDE8E4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21040" y="1993392"/>
            <a:ext cx="384048" cy="384048"/>
          </a:xfrm>
          <a:prstGeom prst="ellipse">
            <a:avLst/>
          </a:prstGeom>
          <a:solidFill>
            <a:srgbClr val="F06C5B"/>
          </a:solidFill>
          <a:ln w="12700">
            <a:solidFill>
              <a:srgbClr val="F06C5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1040" y="2057400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814816" y="1993392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Kelompok penelaah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39328" y="2395728"/>
            <a:ext cx="3017520" cy="2221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D3A"/>
                </a:solidFill>
              </a:rPr>
              <a:t>Periksa simbol flowchart, kondisi percabangan, dan konsistensi pseudocode.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148840" y="53949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324D"/>
                </a:solidFill>
              </a:rPr>
              <a:t>Komentar yang baik: spesifik, sopan, dan membantu memperbaiki logika.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83096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B7C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47472"/>
            <a:ext cx="1508760" cy="310896"/>
          </a:xfrm>
          <a:prstGeom prst="roundRect">
            <a:avLst>
              <a:gd name="adj" fmla="val 20588"/>
            </a:avLst>
          </a:prstGeom>
          <a:solidFill>
            <a:srgbClr val="D4EEEA"/>
          </a:solidFill>
          <a:ln w="12700">
            <a:solidFill>
              <a:srgbClr val="D4EE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02336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6D72"/>
                </a:solidFill>
              </a:rPr>
              <a:t>PBL 5 • EVALUASI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561320" y="329184"/>
            <a:ext cx="1051560" cy="329184"/>
          </a:xfrm>
          <a:prstGeom prst="roundRect">
            <a:avLst>
              <a:gd name="adj" fmla="val 22222"/>
            </a:avLst>
          </a:prstGeom>
          <a:solidFill>
            <a:srgbClr val="FFF4D6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43616" y="393192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A5A00"/>
                </a:solidFill>
              </a:rPr>
              <a:t>5 MENIT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30352" y="768096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Cek kualitas solusi sebelum selesai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48640" y="1271016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984"/>
                </a:solidFill>
              </a:rPr>
              <a:t>Gunakan checklist ini untuk menemukan kesalahan sendiri.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77240" y="1828800"/>
            <a:ext cx="507492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24128" y="2039112"/>
            <a:ext cx="384048" cy="384048"/>
          </a:xfrm>
          <a:prstGeom prst="ellipse">
            <a:avLst/>
          </a:prstGeom>
          <a:solidFill>
            <a:srgbClr val="E8F5EC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88136" y="2093976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B57"/>
                </a:solidFill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00200" y="199339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7324D"/>
                </a:solidFill>
              </a:rPr>
              <a:t>IPO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2724912" y="193852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D2D3A"/>
                </a:solidFill>
              </a:rPr>
              <a:t>Input dan output sudah jelas?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6400800" y="1828800"/>
            <a:ext cx="507492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47688" y="2039112"/>
            <a:ext cx="384048" cy="384048"/>
          </a:xfrm>
          <a:prstGeom prst="ellipse">
            <a:avLst/>
          </a:prstGeom>
          <a:solidFill>
            <a:srgbClr val="E8F5EC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11696" y="2093976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B57"/>
                </a:solidFill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223760" y="199339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7324D"/>
                </a:solidFill>
              </a:rPr>
              <a:t>Algoritma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8348472" y="193852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D2D3A"/>
                </a:solidFill>
              </a:rPr>
              <a:t>Urutan langkah tidak lompat?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777240" y="2999232"/>
            <a:ext cx="507492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4128" y="3209544"/>
            <a:ext cx="384048" cy="384048"/>
          </a:xfrm>
          <a:prstGeom prst="ellipse">
            <a:avLst/>
          </a:prstGeom>
          <a:solidFill>
            <a:srgbClr val="E8F5EC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88136" y="326440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B57"/>
                </a:solidFill>
              </a:rPr>
              <a:t>✓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600200" y="316382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7324D"/>
                </a:solidFill>
              </a:rPr>
              <a:t>Keputusan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2724912" y="310896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D2D3A"/>
                </a:solidFill>
              </a:rPr>
              <a:t>Kondisi &lt;= 2 jam dan &gt; 2 jam sudah tepat?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6400800" y="2999232"/>
            <a:ext cx="507492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47688" y="3209544"/>
            <a:ext cx="384048" cy="384048"/>
          </a:xfrm>
          <a:prstGeom prst="ellipse">
            <a:avLst/>
          </a:prstGeom>
          <a:solidFill>
            <a:srgbClr val="E8F5EC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11696" y="3264408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B57"/>
                </a:solidFill>
              </a:rPr>
              <a:t>✓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223760" y="316382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7324D"/>
                </a:solidFill>
              </a:rPr>
              <a:t>Flowchart</a:t>
            </a:r>
            <a:endParaRPr lang="en-US" sz="1120" dirty="0"/>
          </a:p>
        </p:txBody>
      </p:sp>
      <p:sp>
        <p:nvSpPr>
          <p:cNvPr id="27" name="Text 25"/>
          <p:cNvSpPr/>
          <p:nvPr/>
        </p:nvSpPr>
        <p:spPr>
          <a:xfrm>
            <a:off x="8348472" y="310896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D2D3A"/>
                </a:solidFill>
              </a:rPr>
              <a:t>Simbol keputusan &amp; arah panah benar?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777240" y="4169664"/>
            <a:ext cx="507492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24128" y="4379976"/>
            <a:ext cx="384048" cy="384048"/>
          </a:xfrm>
          <a:prstGeom prst="ellipse">
            <a:avLst/>
          </a:prstGeom>
          <a:solidFill>
            <a:srgbClr val="E8F5EC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88136" y="443484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B57"/>
                </a:solidFill>
              </a:rPr>
              <a:t>✓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600200" y="433425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7324D"/>
                </a:solidFill>
              </a:rPr>
              <a:t>Pseudocode</a:t>
            </a:r>
            <a:endParaRPr lang="en-US" sz="1120" dirty="0"/>
          </a:p>
        </p:txBody>
      </p:sp>
      <p:sp>
        <p:nvSpPr>
          <p:cNvPr id="32" name="Text 30"/>
          <p:cNvSpPr/>
          <p:nvPr/>
        </p:nvSpPr>
        <p:spPr>
          <a:xfrm>
            <a:off x="2724912" y="427939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D2D3A"/>
                </a:solidFill>
              </a:rPr>
              <a:t>Logika sama dengan algoritma/flowchart?</a:t>
            </a:r>
            <a:endParaRPr lang="en-US" sz="1080" dirty="0"/>
          </a:p>
        </p:txBody>
      </p:sp>
      <p:sp>
        <p:nvSpPr>
          <p:cNvPr id="33" name="Shape 31"/>
          <p:cNvSpPr/>
          <p:nvPr/>
        </p:nvSpPr>
        <p:spPr>
          <a:xfrm>
            <a:off x="6400800" y="4169664"/>
            <a:ext cx="507492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647688" y="4379976"/>
            <a:ext cx="384048" cy="384048"/>
          </a:xfrm>
          <a:prstGeom prst="ellipse">
            <a:avLst/>
          </a:prstGeom>
          <a:solidFill>
            <a:srgbClr val="E8F5EC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11696" y="443484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B57"/>
                </a:solidFill>
              </a:rPr>
              <a:t>✓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223760" y="433425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7324D"/>
                </a:solidFill>
              </a:rPr>
              <a:t>Uji</a:t>
            </a:r>
            <a:endParaRPr lang="en-US" sz="1120" dirty="0"/>
          </a:p>
        </p:txBody>
      </p:sp>
      <p:sp>
        <p:nvSpPr>
          <p:cNvPr id="37" name="Text 35"/>
          <p:cNvSpPr/>
          <p:nvPr/>
        </p:nvSpPr>
        <p:spPr>
          <a:xfrm>
            <a:off x="8348472" y="427939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D2D3A"/>
                </a:solidFill>
              </a:rPr>
              <a:t>Sudah diuji dengan lebih dari satu data?</a:t>
            </a:r>
            <a:endParaRPr lang="en-US" sz="1080" dirty="0"/>
          </a:p>
        </p:txBody>
      </p:sp>
      <p:sp>
        <p:nvSpPr>
          <p:cNvPr id="38" name="Shape 36"/>
          <p:cNvSpPr/>
          <p:nvPr/>
        </p:nvSpPr>
        <p:spPr>
          <a:xfrm>
            <a:off x="3310128" y="5623560"/>
            <a:ext cx="5577840" cy="320040"/>
          </a:xfrm>
          <a:prstGeom prst="roundRect">
            <a:avLst>
              <a:gd name="adj" fmla="val 22857"/>
            </a:avLst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64992" y="5701284"/>
            <a:ext cx="5468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7A5200"/>
                </a:solidFill>
              </a:rPr>
              <a:t>Perbaikan sebelum asesmen = bagian penting dari berpikir algoritmik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83096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B7C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47472"/>
            <a:ext cx="1508760" cy="310896"/>
          </a:xfrm>
          <a:prstGeom prst="roundRect">
            <a:avLst>
              <a:gd name="adj" fmla="val 20588"/>
            </a:avLst>
          </a:prstGeom>
          <a:solidFill>
            <a:srgbClr val="D4EEEA"/>
          </a:solidFill>
          <a:ln w="12700">
            <a:solidFill>
              <a:srgbClr val="D4EE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02336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6D72"/>
                </a:solidFill>
              </a:rPr>
              <a:t>ASESMEN INDIVIDU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561320" y="329184"/>
            <a:ext cx="1051560" cy="329184"/>
          </a:xfrm>
          <a:prstGeom prst="roundRect">
            <a:avLst>
              <a:gd name="adj" fmla="val 22222"/>
            </a:avLst>
          </a:prstGeom>
          <a:solidFill>
            <a:srgbClr val="FFF4D6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43616" y="393192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A5A00"/>
                </a:solidFill>
              </a:rPr>
              <a:t>20 MENIT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30352" y="768096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Asesmen individu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48640" y="1271016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984"/>
                </a:solidFill>
              </a:rPr>
              <a:t>Sekarang tunjukkan kemampuanmu sendiri pada masalah baru.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31520" y="1874520"/>
            <a:ext cx="653796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1945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Aturan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78992" y="2724912"/>
            <a:ext cx="5715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D2D3A"/>
                </a:solidFill>
              </a:rPr>
              <a:t>1. Kerjakan sendiri — tanpa diskusi kelompok.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78992" y="3209544"/>
            <a:ext cx="5715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D2D3A"/>
                </a:solidFill>
              </a:rPr>
              <a:t>2. Baca masalah dengan teliti sebelum menulis solusi.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78992" y="3694176"/>
            <a:ext cx="5715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D2D3A"/>
                </a:solidFill>
              </a:rPr>
              <a:t>3. Tunjukkan IPO, algoritma, percabangan, flowchart, pseudocode, dan pengujian.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78992" y="4178808"/>
            <a:ext cx="5715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D2D3A"/>
                </a:solidFill>
              </a:rPr>
              <a:t>4. Tidak ada bantuan terkait jawaban dari guru selama asesmen.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078992" y="4663440"/>
            <a:ext cx="5715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D2D3A"/>
                </a:solidFill>
              </a:rPr>
              <a:t>5. Periksa kembali sebelum dikumpulkan.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726680" y="1874520"/>
            <a:ext cx="3611880" cy="3611880"/>
          </a:xfrm>
          <a:prstGeom prst="roundRect">
            <a:avLst>
              <a:gd name="adj" fmla="val 2025"/>
            </a:avLst>
          </a:prstGeom>
          <a:solidFill>
            <a:srgbClr val="FDE8E4"/>
          </a:solidFill>
          <a:ln w="12700">
            <a:solidFill>
              <a:srgbClr val="F06C5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51460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06C5B"/>
                </a:solidFill>
              </a:rPr>
              <a:t>20</a:t>
            </a:r>
            <a:endParaRPr lang="en-US" sz="5000" dirty="0"/>
          </a:p>
        </p:txBody>
      </p:sp>
      <p:sp>
        <p:nvSpPr>
          <p:cNvPr id="17" name="Text 15"/>
          <p:cNvSpPr/>
          <p:nvPr/>
        </p:nvSpPr>
        <p:spPr>
          <a:xfrm>
            <a:off x="8549640" y="35204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6C5B"/>
                </a:solidFill>
              </a:rPr>
              <a:t>MENIT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138160" y="42519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Fokus pada logika, bukan kecepatan.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83096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B7C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47472"/>
            <a:ext cx="1508760" cy="310896"/>
          </a:xfrm>
          <a:prstGeom prst="roundRect">
            <a:avLst>
              <a:gd name="adj" fmla="val 20588"/>
            </a:avLst>
          </a:prstGeom>
          <a:solidFill>
            <a:srgbClr val="D4EEEA"/>
          </a:solidFill>
          <a:ln w="12700">
            <a:solidFill>
              <a:srgbClr val="D4EE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02336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6D72"/>
                </a:solidFill>
              </a:rPr>
              <a:t>PENUTUP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0561320" y="329184"/>
            <a:ext cx="1051560" cy="329184"/>
          </a:xfrm>
          <a:prstGeom prst="roundRect">
            <a:avLst>
              <a:gd name="adj" fmla="val 22222"/>
            </a:avLst>
          </a:prstGeom>
          <a:solidFill>
            <a:srgbClr val="FFF4D6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43616" y="393192"/>
            <a:ext cx="886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A5A00"/>
                </a:solidFill>
              </a:rPr>
              <a:t>5 MENIT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30352" y="768096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Refleksi digital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48640" y="1271016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984"/>
                </a:solidFill>
              </a:rPr>
              <a:t>Selesaikan Google Form sebelum meninggalkan kelas.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31520" y="1828800"/>
            <a:ext cx="3840480" cy="3383280"/>
          </a:xfrm>
          <a:prstGeom prst="roundRect">
            <a:avLst>
              <a:gd name="adj" fmla="val 2162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61872" y="2560320"/>
            <a:ext cx="2743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SCAN / BUKA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QR ATAU LINK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DARI GURU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43000" y="431596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DDE9EE"/>
                </a:solidFill>
              </a:rPr>
              <a:t>Gunakan kode peserta didik, bukan nama lengkap.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74920" y="1828800"/>
            <a:ext cx="6172200" cy="960120"/>
          </a:xfrm>
          <a:prstGeom prst="roundRect">
            <a:avLst>
              <a:gd name="adj" fmla="val 7619"/>
            </a:avLst>
          </a:prstGeom>
          <a:solidFill>
            <a:srgbClr val="E7F5F2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39512" y="1993392"/>
            <a:ext cx="384048" cy="384048"/>
          </a:xfrm>
          <a:prstGeom prst="ellipse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39512" y="2057400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733288" y="1993392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Pikirkan 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57800" y="2395728"/>
            <a:ext cx="580644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D3A"/>
                </a:solidFill>
              </a:rPr>
              <a:t>Bagian mana yang paling kamu pahami hari ini?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74920" y="2971800"/>
            <a:ext cx="6172200" cy="960120"/>
          </a:xfrm>
          <a:prstGeom prst="roundRect">
            <a:avLst>
              <a:gd name="adj" fmla="val 7619"/>
            </a:avLst>
          </a:prstGeom>
          <a:solidFill>
            <a:srgbClr val="E7F0FA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39512" y="3136392"/>
            <a:ext cx="384048" cy="384048"/>
          </a:xfrm>
          <a:prstGeom prst="ellipse">
            <a:avLst/>
          </a:prstGeom>
          <a:solidFill>
            <a:srgbClr val="3478B8"/>
          </a:solidFill>
          <a:ln w="12700">
            <a:solidFill>
              <a:srgbClr val="3478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39512" y="3200400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733288" y="3136392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Pikirkan 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257800" y="3538728"/>
            <a:ext cx="580644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D3A"/>
                </a:solidFill>
              </a:rPr>
              <a:t>Bagian mana yang masih paling sulit?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74920" y="4114800"/>
            <a:ext cx="6172200" cy="960120"/>
          </a:xfrm>
          <a:prstGeom prst="roundRect">
            <a:avLst>
              <a:gd name="adj" fmla="val 7619"/>
            </a:avLst>
          </a:prstGeom>
          <a:solidFill>
            <a:srgbClr val="FFF4D6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39512" y="4279392"/>
            <a:ext cx="384048" cy="384048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39512" y="4343400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733288" y="4279392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Pikirkan 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257800" y="4681728"/>
            <a:ext cx="580644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D3A"/>
                </a:solidFill>
              </a:rPr>
              <a:t>Apakah kamu lebih berani mencoba solusi sendiri sebelum meminta bantuan?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325880" y="571500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67984"/>
                </a:solidFill>
              </a:rPr>
              <a:t>Terima kasih — jawaban refleksi membantu pembelajaran berikutnya menjadi lebih baik.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83096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B7C85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SMAN 15 Bandung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Siklus I PBL - Algoritma, Diagram Alir, dan Pseudocode</dc:title>
  <dc:subject>PTK Siklus I - Problem Based Learning</dc:subject>
  <dc:creator>OpenAI</dc:creator>
  <cp:lastModifiedBy>OpenAI</cp:lastModifiedBy>
  <cp:revision>1</cp:revision>
  <dcterms:created xsi:type="dcterms:W3CDTF">2026-10-14T15:04:05Z</dcterms:created>
  <dcterms:modified xsi:type="dcterms:W3CDTF">2026-10-14T15:04:05Z</dcterms:modified>
</cp:coreProperties>
</file>