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64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SIKLUS I • INFORMATIKA X-5 • SMAN 15 BANDUNG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YmicaMsn1R6FSgHq6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30" dirty="0">
                <a:solidFill>
                  <a:srgbClr val="B6E4DD"/>
                </a:solidFill>
              </a:rPr>
              <a:t>SIKLUS 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6720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Berpikir Algoritmik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melalui Problem Based Learning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30358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9EE"/>
                </a:solidFill>
              </a:rPr>
              <a:t>Algoritma • Diagram Alir • Pseudocode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822192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214963">
              <a:alpha val="95000"/>
            </a:srgbClr>
          </a:solidFill>
          <a:ln w="12700">
            <a:solidFill>
              <a:srgbClr val="3762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416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6E4DD"/>
                </a:solidFill>
              </a:rPr>
              <a:t>Misi hari ini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31596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Coba solusi terlebih dahulu sebelum meminta contoh.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56327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7DE"/>
                </a:solidFill>
              </a:rPr>
              <a:t>Kelas X-5 • Fase E • 80 menit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pembelajaran hari ini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984"/>
                </a:solidFill>
              </a:rPr>
              <a:t>Di akhir pembelajaran, kamu mampu menunjukkan enam kemampuan berikut.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856232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20824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848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25296" y="202082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IPO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423160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Menentukan input, proses, dan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1856232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2020824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20848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92624" y="202082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Algoritma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7136" y="2423160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Menyusun langkah yang runtut dan logis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856232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2020824"/>
            <a:ext cx="384048" cy="38404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20848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59952" y="202082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Percabangan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4464" y="2423160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Menentukan kondisi dan keputusan dengan tepat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703320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A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867912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3192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25296" y="38679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Flowchart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270248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Menggambar alur dengan simbol yang sesuai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3703320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A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3867912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93192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92624" y="38679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Pseudocode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17136" y="4270248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Menuliskan solusi secara terstruktur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703320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A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66176" y="3867912"/>
            <a:ext cx="384048" cy="38404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66176" y="393192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59952" y="38679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Uji &amp; Perbaiki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84464" y="4270248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Menguji hasil dan memperbaiki kesalahan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60520" y="5806440"/>
            <a:ext cx="3886200" cy="320040"/>
          </a:xfrm>
          <a:prstGeom prst="roundRect">
            <a:avLst>
              <a:gd name="adj" fmla="val 2285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15384" y="5884164"/>
            <a:ext cx="3776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8A5A00"/>
                </a:solidFill>
              </a:rPr>
              <a:t>Target kualitas: minimal skor 3 dari 4</a:t>
            </a:r>
            <a:endParaRPr lang="en-US" sz="92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kegiatan 80 menit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984"/>
                </a:solidFill>
              </a:rPr>
              <a:t>Ikuti setiap tahap agar proses belajar berjalan cepat dan terarah.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</a:rPr>
              <a:t>Pembuka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566928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46D72"/>
                </a:solidFill>
              </a:rPr>
              <a:t>5 m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1714500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6232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</a:rPr>
              <a:t>Orientasi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920240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46D72"/>
                </a:solidFill>
              </a:rPr>
              <a:t>10 m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067812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9544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</a:rPr>
              <a:t>Organisasi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273552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46D72"/>
                </a:solidFill>
              </a:rPr>
              <a:t>5 m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421124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2856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D4EEEA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</a:rPr>
              <a:t>Penyelidikan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626864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46D72"/>
                </a:solidFill>
              </a:rPr>
              <a:t>20 m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774436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16168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0176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</a:rPr>
              <a:t>Presentasi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980176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46D72"/>
                </a:solidFill>
              </a:rPr>
              <a:t>10 m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127748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</a:rPr>
              <a:t>Evaluasi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333488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46D72"/>
                </a:solidFill>
              </a:rPr>
              <a:t>5 m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481060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22792" y="2148840"/>
            <a:ext cx="1389888" cy="960120"/>
          </a:xfrm>
          <a:prstGeom prst="roundRect">
            <a:avLst>
              <a:gd name="adj" fmla="val 7619"/>
            </a:avLst>
          </a:prstGeom>
          <a:solidFill>
            <a:srgbClr val="FDE8E4"/>
          </a:solidFill>
          <a:ln w="15240">
            <a:solidFill>
              <a:srgbClr val="F06C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2331720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</a:rPr>
              <a:t>Asesmen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8686800" y="274320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F06C5B"/>
                </a:solidFill>
              </a:rPr>
              <a:t>20 m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10044684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86416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50424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324D"/>
                </a:solidFill>
              </a:rPr>
              <a:t>Refleksi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10250424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46D72"/>
                </a:solidFill>
              </a:rPr>
              <a:t>5 m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1097280" y="3977640"/>
            <a:ext cx="9966960" cy="1133856"/>
          </a:xfrm>
          <a:prstGeom prst="roundRect">
            <a:avLst>
              <a:gd name="adj" fmla="val 645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0" y="4224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6E4DD"/>
                </a:solidFill>
              </a:rPr>
              <a:t>Kunci waktu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88920" y="416966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Saat slide berpindah, tahap juga berpindah. Selesaikan pekerjaan sesuai batas waktu yang ditampilkan.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194560" y="557784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7984"/>
                </a:solidFill>
              </a:rPr>
              <a:t>Bekerja cepat ≠ terburu-buru. Utamakan logika yang dapat dijelaskan.</a:t>
            </a:r>
            <a:endParaRPr lang="en-US" sz="1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6D72"/>
                </a:solidFill>
              </a:rPr>
              <a:t>PEMBUKA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00"/>
                </a:solidFill>
              </a:rPr>
              <a:t>5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Pemantik: komputer tidak bisa menebak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984"/>
                </a:solidFill>
              </a:rPr>
              <a:t>Pikirkan dulu selama ±30 detik sebelum menjawab.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12848"/>
            <a:ext cx="384048" cy="384048"/>
          </a:xfrm>
          <a:prstGeom prst="ellipse">
            <a:avLst/>
          </a:prstGeom>
          <a:solidFill>
            <a:srgbClr val="1F8A8A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1488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Apa yang terjadi jika urutan instruksi kepada komputer salah?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36208" y="19202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12848"/>
            <a:ext cx="384048" cy="384048"/>
          </a:xfrm>
          <a:prstGeom prst="ellipse">
            <a:avLst/>
          </a:prstGeom>
          <a:solidFill>
            <a:srgbClr val="3478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1488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Bagaimana komputer tahu kapan harus memilih satu keputusan?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828800" y="47091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FDE8E4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488289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Masalah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4873752"/>
            <a:ext cx="301752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3048" y="47091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E7F5F2"/>
          </a:solidFill>
          <a:ln w="15240">
            <a:solidFill>
              <a:srgbClr val="3478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488289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Langkah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58968" y="4873752"/>
            <a:ext cx="301752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97296" y="47091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FFF4D6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488289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Keputusan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43216" y="4873752"/>
            <a:ext cx="301752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81544" y="47091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E7F0FA"/>
          </a:solidFill>
          <a:ln w="15240">
            <a:solidFill>
              <a:srgbClr val="3478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54696" y="488289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Hasil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6D72"/>
                </a:solidFill>
              </a:rPr>
              <a:t>PBL 1 • ORIENTASI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00"/>
                </a:solidFill>
              </a:rPr>
              <a:t>10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Masalah: Sistem Penentuan Biaya Parkir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984"/>
                </a:solidFill>
              </a:rPr>
              <a:t>Baca masalahnya. Jangan langsung mencari contoh jawaban.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6995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Sebuah tempat parkir menetapkan biaya: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724912"/>
            <a:ext cx="61722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500" dirty="0">
                <a:solidFill>
                  <a:srgbClr val="1D2D3A"/>
                </a:solidFill>
              </a:rPr>
              <a:t>• Maksimal 2 jam: </a:t>
            </a:r>
            <a:r>
              <a:rPr lang="en-US" sz="1500" b="1" dirty="0">
                <a:solidFill>
                  <a:srgbClr val="146D72"/>
                </a:solidFill>
              </a:rPr>
              <a:t>Rp5.000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1D2D3A"/>
                </a:solidFill>
              </a:rPr>
              <a:t>• Lebih dari 2 jam: setiap jam berikutnya </a:t>
            </a:r>
            <a:r>
              <a:rPr lang="en-US" sz="1500" b="1" dirty="0">
                <a:solidFill>
                  <a:srgbClr val="F06C5B"/>
                </a:solidFill>
              </a:rPr>
              <a:t>+ Rp2.000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4069080"/>
            <a:ext cx="6355080" cy="658368"/>
          </a:xfrm>
          <a:prstGeom prst="roundRect">
            <a:avLst>
              <a:gd name="adj" fmla="val 97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242816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7A5200"/>
                </a:solidFill>
              </a:rPr>
              <a:t>Tantangan: buat solusi algoritmik yang menentukan biaya parkir berdasarkan lama parkir.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55280" y="18288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E7F5F2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9933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Tanya diri sendiri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2395728"/>
            <a:ext cx="3246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Data apa yang masuk? Hasil apa yang keluar?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0" y="324612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E7F0FA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4107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Cari titik keputusan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3813048"/>
            <a:ext cx="3246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Kapan aturan biaya berubah?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466344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DE8E4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48280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6C5B"/>
                </a:solidFill>
              </a:rPr>
              <a:t>Belum boleh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5230368"/>
            <a:ext cx="3246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Jangan meminta contoh algoritma jadi.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6D72"/>
                </a:solidFill>
              </a:rPr>
              <a:t>PBL 2 • ORGANISASI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00"/>
                </a:solidFill>
              </a:rPr>
              <a:t>5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Atur kelompok &amp; bagi peran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984"/>
                </a:solidFill>
              </a:rPr>
              <a:t>Kelompok sudah ditentukan. Mulai kerja begitu LKPD dibagikan.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993392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19933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Koordinator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39572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Menjaga alur diskusi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1993392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93208" y="19933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Analis masalah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239572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Menentukan IPO &amp; kondisi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82880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4192" y="1993392"/>
            <a:ext cx="384048" cy="38404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87968" y="19933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Penyusun algoritma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39572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Menyusun langkah solusi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52044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3685032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7490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98448" y="36850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Perancang flowchart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08736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Menggambar alur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352044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9432" y="3685032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37490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93208" y="36850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Penyusun pseudocode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17720" y="408736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Menuliskan solusi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0" y="352044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3685032"/>
            <a:ext cx="384048" cy="38404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94192" y="37490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87968" y="36850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Penguji / Presenter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0" y="408736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Menguji &amp; menjelaskan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011680" y="5440680"/>
            <a:ext cx="8092440" cy="566928"/>
          </a:xfrm>
          <a:prstGeom prst="roundRect">
            <a:avLst>
              <a:gd name="adj" fmla="val 9677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5596128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5200"/>
                </a:solidFill>
              </a:rPr>
              <a:t>Jika anggota kelompok 5 orang, satu orang boleh memegang dua peran. Semua anggota tetap harus memahami solusi.</a:t>
            </a:r>
            <a:endParaRPr lang="en-US" sz="11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6D72"/>
                </a:solidFill>
              </a:rPr>
              <a:t>PBL 3 • PENYELIDIKAN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00"/>
                </a:solidFill>
              </a:rPr>
              <a:t>20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Susun solusi kelompok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984"/>
                </a:solidFill>
              </a:rPr>
              <a:t>Gunakan LKPD. Guru membantu lewat pertanyaan, bukan memberikan jawaban jadi.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E7F5F2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IPO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40280" y="2084832"/>
            <a:ext cx="146304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E7F0FA"/>
          </a:solidFill>
          <a:ln w="15240">
            <a:solidFill>
              <a:srgbClr val="3478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Algoritma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77640" y="2084832"/>
            <a:ext cx="146304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FF4D6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Percabangan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0" y="2084832"/>
            <a:ext cx="146304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E7F5F2"/>
          </a:solidFill>
          <a:ln w="15240">
            <a:solidFill>
              <a:srgbClr val="3478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Flowchart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52360" y="2084832"/>
            <a:ext cx="146304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E7F0FA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839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Pseudocode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89720" y="2084832"/>
            <a:ext cx="146304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DE8E4"/>
          </a:solidFill>
          <a:ln w="15240">
            <a:solidFill>
              <a:srgbClr val="3478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4575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</a:rPr>
              <a:t>Uji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2971800"/>
            <a:ext cx="5349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Gunakan pertanyaan ini saat buntu: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65760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D2D3A"/>
                </a:solidFill>
              </a:rPr>
              <a:t>• Apa yang harus diketahui lebih dahulu?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1051560" y="3986784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D2D3A"/>
                </a:solidFill>
              </a:rPr>
              <a:t>• Kapan biaya tambahan mulai berlaku?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051560" y="4315968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D2D3A"/>
                </a:solidFill>
              </a:rPr>
              <a:t>• Bagaimana jika parkir tepat 2 jam?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051560" y="464515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D2D3A"/>
                </a:solidFill>
              </a:rPr>
              <a:t>• Apakah solusi bekerja untuk beberapa data uji?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400800" y="2971800"/>
            <a:ext cx="5074920" cy="2176272"/>
          </a:xfrm>
          <a:prstGeom prst="roundRect">
            <a:avLst>
              <a:gd name="adj" fmla="val 336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2918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6E4DD"/>
                </a:solidFill>
              </a:rPr>
              <a:t>Aturan emas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37490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COBA → UJI → PERBAIKI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20840" y="437083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DE9EE"/>
                </a:solidFill>
              </a:rPr>
              <a:t>Baru minta bantuan setelah kelompok benar-benar mencoba.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6D72"/>
                </a:solidFill>
              </a:rPr>
              <a:t>PBL 4 • PRESENTASI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00"/>
                </a:solidFill>
              </a:rPr>
              <a:t>10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Presentasikan &amp; uji solusi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984"/>
                </a:solidFill>
              </a:rPr>
              <a:t>Kelompok lain bertugas menjadi penguji, bukan hanya pendengar.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E7F5F2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993392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16736" y="19933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Kelompok presenter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301752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Jelaskan: masalah → keputusan → alur → hasil uji.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Jangan hanya membaca LKPD; jelaskan alasan logikanya.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07408" y="182880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E7F0FA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993392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65776" y="19933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Kelompok penguji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0288" y="2395728"/>
            <a:ext cx="301752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Coba data: 1 jam, 2 jam, dan 4 jam.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Tanyakan: apakah hasilnya masuk akal?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56448" y="182880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FDE8E4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993392"/>
            <a:ext cx="384048" cy="38404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14816" y="19933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Kelompok penelaah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39328" y="2395728"/>
            <a:ext cx="301752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Periksa simbol flowchart, kondisi percabangan, dan konsistensi pseudocode.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5394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324D"/>
                </a:solidFill>
              </a:rPr>
              <a:t>Komentar yang baik: spesifik, sopan, dan membantu memperbaiki logika.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6D72"/>
                </a:solidFill>
              </a:rPr>
              <a:t>PBL 5 • EVALUASI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00"/>
                </a:solidFill>
              </a:rPr>
              <a:t>5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Cek kualitas solusi sebelum selesai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984"/>
                </a:solidFill>
              </a:rPr>
              <a:t>Gunakan checklist ini untuk menemukan kesalahan sendiri.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39112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20939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19933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7324D"/>
                </a:solidFill>
              </a:rPr>
              <a:t>IPO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2724912" y="1938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D2D3A"/>
                </a:solidFill>
              </a:rPr>
              <a:t>Input dan output sudah jelas?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47688" y="2039112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20939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19933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7324D"/>
                </a:solidFill>
              </a:rPr>
              <a:t>Algoritma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8348472" y="1938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D2D3A"/>
                </a:solidFill>
              </a:rPr>
              <a:t>Urutan langkah tidak lompat?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77240" y="2999232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3209544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" y="32644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163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7324D"/>
                </a:solidFill>
              </a:rPr>
              <a:t>Keputusan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2724912" y="3108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D2D3A"/>
                </a:solidFill>
              </a:rPr>
              <a:t>Kondisi &lt;= 2 jam dan &gt; 2 jam sudah tepat?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400800" y="2999232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47688" y="3209544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32644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3163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7324D"/>
                </a:solidFill>
              </a:rPr>
              <a:t>Flowchart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348472" y="3108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D2D3A"/>
                </a:solidFill>
              </a:rPr>
              <a:t>Simbol keputusan &amp; arah panah benar?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77240" y="4169664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" y="4379976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8136" y="443484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00200" y="43342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7324D"/>
                </a:solidFill>
              </a:rPr>
              <a:t>Pseudocode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2724912" y="42793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D2D3A"/>
                </a:solidFill>
              </a:rPr>
              <a:t>Logika sama dengan algoritma/flowchart?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400800" y="4169664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47688" y="4379976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443484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23760" y="43342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17324D"/>
                </a:solidFill>
              </a:rPr>
              <a:t>Uji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8348472" y="42793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D2D3A"/>
                </a:solidFill>
              </a:rPr>
              <a:t>Sudah diuji dengan lebih dari satu data?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3310128" y="5623560"/>
            <a:ext cx="5577840" cy="320040"/>
          </a:xfrm>
          <a:prstGeom prst="roundRect">
            <a:avLst>
              <a:gd name="adj" fmla="val 2285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5701284"/>
            <a:ext cx="5468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7A5200"/>
                </a:solidFill>
              </a:rPr>
              <a:t>Perbaikan sebelum asesmen = bagian penting dari berpikir algoritmik</a:t>
            </a:r>
            <a:endParaRPr lang="en-US" sz="92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6D72"/>
                </a:solidFill>
              </a:rPr>
              <a:t>ASESMEN INDIVIDU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00"/>
                </a:solidFill>
              </a:rPr>
              <a:t>20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Asesmen individu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984"/>
                </a:solidFill>
              </a:rPr>
              <a:t>Sekarang tunjukkan kemampuanmu sendiri pada masalah baru.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6537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94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Aturan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724912"/>
            <a:ext cx="5715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D3A"/>
                </a:solidFill>
              </a:rPr>
              <a:t>1. Kerjakan sendiri — tanpa diskusi kelompok.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3209544"/>
            <a:ext cx="5715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D3A"/>
                </a:solidFill>
              </a:rPr>
              <a:t>2. Baca masalah dengan teliti sebelum menulis solusi.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694176"/>
            <a:ext cx="5715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D3A"/>
                </a:solidFill>
              </a:rPr>
              <a:t>3. Tunjukkan IPO, algoritma, percabangan, flowchart, pseudocode, dan pengujian.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4178808"/>
            <a:ext cx="5715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D3A"/>
                </a:solidFill>
              </a:rPr>
              <a:t>4. Tidak ada bantuan terkait jawaban dari guru selama asesmen.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8992" y="4663440"/>
            <a:ext cx="5715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D3A"/>
                </a:solidFill>
              </a:rPr>
              <a:t>5. Periksa kembali sebelum dikumpulkan.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26680" y="1874520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FDE8E4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5146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06C5B"/>
                </a:solidFill>
              </a:rPr>
              <a:t>20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854964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6C5B"/>
                </a:solidFill>
              </a:rPr>
              <a:t>MENIT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38160" y="4251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Fokus pada logika, bukan kecepatan.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6D72"/>
                </a:solidFill>
              </a:rPr>
              <a:t>PENUTUP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5A00"/>
                </a:solidFill>
              </a:rPr>
              <a:t>5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Refleksi digital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984"/>
                </a:solidFill>
              </a:rPr>
              <a:t>Selesaikan Google Form sebelum meninggalkan kelas.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1952868"/>
            <a:ext cx="27432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ptos Display"/>
              </a:rPr>
              <a:t>SCAN QR</a:t>
            </a:r>
          </a:p>
        </p:txBody>
      </p:sp>
      <p:sp>
        <p:nvSpPr>
          <p:cNvPr id="10" name="Text 8"/>
          <p:cNvSpPr/>
          <p:nvPr/>
        </p:nvSpPr>
        <p:spPr>
          <a:xfrm>
            <a:off x="1051560" y="4791456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endParaRPr sz="950" u="sng" dirty="0">
              <a:solidFill>
                <a:srgbClr val="EDF6FA"/>
              </a:solidFill>
              <a:latin typeface="Aptos"/>
              <a:hlinkClick r:id="rId3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74920" y="1828800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E7F5F2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9512" y="1993392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33288" y="199339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Pikirkan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2395728"/>
            <a:ext cx="5806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Bagian mana yang paling kamu pahami hari ini?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74920" y="2971800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E7F0FA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9512" y="3136392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3200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33288" y="313639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Pikirkan 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3538728"/>
            <a:ext cx="5806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Bagian mana yang masih paling sulit?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4114800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4D6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9512" y="4279392"/>
            <a:ext cx="384048" cy="38404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4343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33288" y="427939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Pikirkan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4681728"/>
            <a:ext cx="5806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D3A"/>
                </a:solidFill>
              </a:rPr>
              <a:t>Apakah kamu lebih berani mencoba solusi sendiri sebelum meminta bantuan?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25880" y="57150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984"/>
                </a:solidFill>
              </a:rPr>
              <a:t>Terima kasih — jawaban refleksi membantu pembelajaran berikutnya menjadi lebih baik.</a:t>
            </a:r>
            <a:endParaRPr lang="en-US" sz="12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1353312" y="2414016"/>
            <a:ext cx="24231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QR_Refleksi_Siklus_I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2542032"/>
            <a:ext cx="2167128" cy="21671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0352" y="1435608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>
                <a:solidFill>
                  <a:srgbClr val="406C7D"/>
                </a:solidFill>
                <a:latin typeface="Aptos"/>
              </a:rPr>
              <a:t>Refleksi Siklus I • isi setelah asesmen individu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805</Words>
  <Application>Microsoft Office PowerPoint</Application>
  <PresentationFormat>Widescreen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SMAN 15 Bandung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Siklus I PBL - Algoritma, Diagram Alir, dan Pseudocode</dc:title>
  <dc:subject>PTK Siklus I - Problem Based Learning</dc:subject>
  <dc:creator>OpenAI</dc:creator>
  <cp:lastModifiedBy>Ahmad Nursyifa</cp:lastModifiedBy>
  <cp:revision>2</cp:revision>
  <dcterms:created xsi:type="dcterms:W3CDTF">2026-10-14T15:04:05Z</dcterms:created>
  <dcterms:modified xsi:type="dcterms:W3CDTF">2026-10-14T16:02:21Z</dcterms:modified>
</cp:coreProperties>
</file>