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8" r:id="rId5"/>
    <p:sldId id="259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3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85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822" y="2743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7822" y="274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INFORMATIKA • KELAS X • FASE 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STRUKTUR DATA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D5D8DC"/>
                </a:solidFill>
              </a:rPr>
              <a:t>Array • Stack • Queue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0" y="1097280"/>
            <a:ext cx="2194560" cy="2286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2344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Struktur Data
</a:t>
            </a: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.push(data)
</a:t>
            </a: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.enqueue(x)
</a:t>
            </a:r>
            <a:r>
              <a:rPr lang="en-US" sz="10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= 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d-ID" sz="1100" dirty="0">
                <a:solidFill>
                  <a:srgbClr val="D5D8DC"/>
                </a:solidFill>
              </a:rPr>
              <a:t>Ahmad Nursyifa</a:t>
            </a:r>
            <a:r>
              <a:rPr lang="en-US" sz="1100" dirty="0">
                <a:solidFill>
                  <a:srgbClr val="D5D8DC"/>
                </a:solidFill>
              </a:rPr>
              <a:t>, S.</a:t>
            </a:r>
            <a:r>
              <a:rPr lang="id-ID" sz="1100" dirty="0">
                <a:solidFill>
                  <a:srgbClr val="D5D8DC"/>
                </a:solidFill>
              </a:rPr>
              <a:t>Kom</a:t>
            </a:r>
            <a:r>
              <a:rPr lang="en-US" sz="1100" dirty="0">
                <a:solidFill>
                  <a:srgbClr val="D5D8DC"/>
                </a:solidFill>
              </a:rPr>
              <a:t>.  |  SMAN 15 Bandung  |  Alokasi Waktu: 1 x 15 Menit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🎯 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777240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887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2A"/>
                </a:solidFill>
              </a:rPr>
              <a:t>Menjelaskan konsep Array/List, Stack, dan Queue serta perbedaannya.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502920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031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2103120"/>
            <a:ext cx="777240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031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2A"/>
                </a:solidFill>
              </a:rPr>
              <a:t>Menganalisis masalah sehari-hari menggunakan prinsip LIFO (Stack) dan FIFO (Queue).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02920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17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3017520"/>
            <a:ext cx="777240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175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2A"/>
                </a:solidFill>
              </a:rPr>
              <a:t>Menerapkan strategi struktur data yang tepat untuk mengelola data diskrit secara efisien.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502920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931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05840" y="3931920"/>
            <a:ext cx="777240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319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2A"/>
                </a:solidFill>
              </a:rPr>
              <a:t>Menuliskan solusi program dalam format pseudocode yang melibatkan struktur data linier.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d-ID" sz="2600" b="1" dirty="0">
                <a:solidFill>
                  <a:srgbClr val="FFFFFF"/>
                </a:solidFill>
              </a:rPr>
              <a:t>Lembar Kerja Peserta Didik (LKPD) Struktur Data</a:t>
            </a:r>
            <a:endParaRPr lang="en-US" sz="2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EFFFBED-2665-CF8F-D517-AABE3E39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528" y="1554990"/>
            <a:ext cx="2912944" cy="2912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💡 PERTANYAAN PEMANTIK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109728" cy="1463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📱  Pertanyaan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</a:rPr>
              <a:t>Mengapa saat kamu menekan tombol BACK di HP, halaman yang terakhir dibuka justru yang pertama kali tertutup — bukan halaman pertama?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80360"/>
            <a:ext cx="109728" cy="1463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🎫  Pertanyaan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</a:rPr>
              <a:t>Bagaimana sistem tiket konser online memastikan orang yang lebih dulu mendaftar mendapat giliran lebih dahulu, bukan yang terakhir daftar?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66573"/>
                </a:solidFill>
              </a:rPr>
              <a:t>Pikirkan dulu... baru kita bahas bersama! 🤔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📦 APA ITU STRUKTUR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02A"/>
                </a:solidFill>
              </a:rPr>
              <a:t>Struktur Data adalah </a:t>
            </a:r>
            <a:r>
              <a:rPr lang="en-US" sz="1500" dirty="0">
                <a:solidFill>
                  <a:srgbClr val="FF0000"/>
                </a:solidFill>
              </a:rPr>
              <a:t>cara terorganisir </a:t>
            </a:r>
            <a:r>
              <a:rPr lang="en-US" sz="1500" dirty="0" err="1">
                <a:solidFill>
                  <a:srgbClr val="FF0000"/>
                </a:solidFill>
              </a:rPr>
              <a:t>untuk</a:t>
            </a:r>
            <a:r>
              <a:rPr lang="en-US" sz="1500" dirty="0">
                <a:solidFill>
                  <a:srgbClr val="FF0000"/>
                </a:solidFill>
              </a:rPr>
              <a:t> </a:t>
            </a:r>
            <a:r>
              <a:rPr lang="en-US" sz="1500" dirty="0" err="1">
                <a:solidFill>
                  <a:srgbClr val="FF0000"/>
                </a:solidFill>
              </a:rPr>
              <a:t>mengelola</a:t>
            </a:r>
            <a:r>
              <a:rPr lang="en-US" sz="1500" dirty="0">
                <a:solidFill>
                  <a:srgbClr val="FF0000"/>
                </a:solidFill>
              </a:rPr>
              <a:t> data </a:t>
            </a:r>
            <a:r>
              <a:rPr lang="en-US" sz="1500" dirty="0">
                <a:solidFill>
                  <a:srgbClr val="17202A"/>
                </a:solidFill>
              </a:rPr>
              <a:t>agar dapat diakses dan dimodifikasi secara efisien dalam sebuah program komputer.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ARRAY / 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Kumpulan data berurutan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seperti rak buku bernomor.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Akses langsung via indeks.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265176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🥞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Tumpukan data.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Prinsip: LIFO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(Last In, First Out)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5176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🚶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35661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Antrean data.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Prinsip: FIFO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(First In, First Out)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🥞 STACK — LIFO (Last In, First Out)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</a:rPr>
              <a:t>Analogi: Tumpukan Piring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8404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🍽️  Data 4 (masuk terakhir)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840480" cy="45720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🍽️  Data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840480" cy="45720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🍽️  Data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3840480" cy="457200"/>
          </a:xfrm>
          <a:prstGeom prst="rect">
            <a:avLst/>
          </a:prstGeom>
          <a:solidFill>
            <a:srgbClr val="D5D8D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🍽️  Data 1 (masuk pertama)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573"/>
                </a:solidFill>
              </a:rPr>
              <a:t>⬆️ PUSH (masuk) / ⬇️ POP (keluar) dari atas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✅  Contoh Penggunaan Stack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📱  Tombol BACK di browser/HP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↩️  Fitur UNDO (Ctrl+Z)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🔢  Evaluasi ekspresi matematika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📂  Riwayat navigasi folder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4114800"/>
            <a:ext cx="4023360" cy="731520"/>
          </a:xfrm>
          <a:prstGeom prst="rect">
            <a:avLst/>
          </a:prstGeom>
          <a:solidFill>
            <a:srgbClr val="17202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13308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item → stack.add(item)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→ stack.removeLast()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869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🚶 QUEUE — FIFO (First In, First Out)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</a:rPr>
              <a:t>Analogi: </a:t>
            </a:r>
            <a:r>
              <a:rPr lang="en-US" sz="1500" b="1" dirty="0" err="1">
                <a:solidFill>
                  <a:srgbClr val="1ABC9C"/>
                </a:solidFill>
              </a:rPr>
              <a:t>Antrean</a:t>
            </a:r>
            <a:r>
              <a:rPr lang="en-US" sz="1500" b="1" dirty="0">
                <a:solidFill>
                  <a:srgbClr val="1ABC9C"/>
                </a:solidFill>
              </a:rPr>
              <a:t> </a:t>
            </a:r>
            <a:r>
              <a:rPr lang="id-ID" sz="1500" b="1" dirty="0">
                <a:solidFill>
                  <a:srgbClr val="1ABC9C"/>
                </a:solidFill>
              </a:rPr>
              <a:t>Pelanggan di </a:t>
            </a:r>
            <a:r>
              <a:rPr lang="en-US" sz="1500" b="1" dirty="0" err="1">
                <a:solidFill>
                  <a:srgbClr val="1ABC9C"/>
                </a:solidFill>
              </a:rPr>
              <a:t>Kasir</a:t>
            </a:r>
            <a:r>
              <a:rPr lang="en-US" sz="1500" b="1" dirty="0">
                <a:solidFill>
                  <a:srgbClr val="1ABC9C"/>
                </a:solidFill>
              </a:rPr>
              <a:t> Supermarket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2880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A</a:t>
            </a:r>
            <a:r>
              <a:rPr lang="id-ID" sz="1300" b="1" dirty="0">
                <a:solidFill>
                  <a:srgbClr val="FFFFFF"/>
                </a:solidFill>
              </a:rPr>
              <a:t>nton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691640"/>
            <a:ext cx="1828800" cy="640080"/>
          </a:xfrm>
          <a:prstGeom prst="rect">
            <a:avLst/>
          </a:prstGeom>
          <a:solidFill>
            <a:srgbClr val="76D7C4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👤 B</a:t>
            </a:r>
            <a:r>
              <a:rPr lang="id-ID" sz="1300" dirty="0">
                <a:solidFill>
                  <a:srgbClr val="17202A"/>
                </a:solidFill>
              </a:rPr>
              <a:t>udi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1828800" cy="640080"/>
          </a:xfrm>
          <a:prstGeom prst="rect">
            <a:avLst/>
          </a:prstGeom>
          <a:solidFill>
            <a:srgbClr val="A3E4D7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d-ID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👤 C</a:t>
            </a:r>
            <a:r>
              <a:rPr lang="id-ID" sz="1300" dirty="0">
                <a:solidFill>
                  <a:srgbClr val="17202A"/>
                </a:solidFill>
              </a:rPr>
              <a:t>inta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BC9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2240" y="1691640"/>
            <a:ext cx="1828800" cy="640080"/>
          </a:xfrm>
          <a:prstGeom prst="rect">
            <a:avLst/>
          </a:prstGeom>
          <a:solidFill>
            <a:srgbClr val="D5F5F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👤 D</a:t>
            </a:r>
            <a:r>
              <a:rPr lang="id-ID" sz="1300" dirty="0">
                <a:solidFill>
                  <a:srgbClr val="17202A"/>
                </a:solidFill>
              </a:rPr>
              <a:t>ian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573"/>
                </a:solidFill>
              </a:rPr>
              <a:t>ENQUEUE (masuk dari belakang) → ←  DEQUEUE (keluar dari depan)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🖨️  Print 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Dokumen dicetak sesuai urutan kirim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🎫  Tiket Online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Pelanggan pertama daftar = pertama dilayani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📨  Antrian Email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297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Email terkirim sesuai urutan masuk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🎮  Game Multiplayer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297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Request pemain diproses berurutan</a:t>
            </a:r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0EA64D-507F-5EC5-91C7-C61C8D0D054B}"/>
              </a:ext>
            </a:extLst>
          </p:cNvPr>
          <p:cNvSpPr/>
          <p:nvPr/>
        </p:nvSpPr>
        <p:spPr>
          <a:xfrm>
            <a:off x="906175" y="2007214"/>
            <a:ext cx="93085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(</a:t>
            </a:r>
            <a:r>
              <a:rPr lang="en-US" sz="1400" b="1" dirty="0" err="1">
                <a:solidFill>
                  <a:srgbClr val="FFFFFF"/>
                </a:solidFill>
              </a:rPr>
              <a:t>pertama</a:t>
            </a:r>
            <a:r>
              <a:rPr lang="en-US" sz="1400" b="1" dirty="0">
                <a:solidFill>
                  <a:srgbClr val="FFFFFF"/>
                </a:solidFill>
              </a:rPr>
              <a:t>)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D5B24F-B07C-B93A-42E4-0021FCE5B5EE}"/>
              </a:ext>
            </a:extLst>
          </p:cNvPr>
          <p:cNvSpPr/>
          <p:nvPr/>
        </p:nvSpPr>
        <p:spPr>
          <a:xfrm>
            <a:off x="6941215" y="2019303"/>
            <a:ext cx="93085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solidFill>
                  <a:srgbClr val="17202A"/>
                </a:solidFill>
              </a:rPr>
              <a:t> (</a:t>
            </a:r>
            <a:r>
              <a:rPr lang="en-US" sz="1400" dirty="0" err="1">
                <a:solidFill>
                  <a:srgbClr val="17202A"/>
                </a:solidFill>
              </a:rPr>
              <a:t>terakhir</a:t>
            </a:r>
            <a:r>
              <a:rPr lang="en-US" sz="1400" dirty="0">
                <a:solidFill>
                  <a:srgbClr val="17202A"/>
                </a:solidFill>
              </a:rPr>
              <a:t>)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⚖️ STACK vs QUEUE — Perbandingan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Aspek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1143000"/>
            <a:ext cx="292608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STACK 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143000"/>
            <a:ext cx="292608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QUEUE 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56032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202A"/>
                </a:solidFill>
              </a:rPr>
              <a:t>Prinsip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29260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LIFO (Last In, First Out)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92608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FIFO (First In, First Out)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225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202A"/>
                </a:solidFill>
              </a:rPr>
              <a:t>Operasi Masuk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2322576"/>
            <a:ext cx="29260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225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PUSH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322576"/>
            <a:ext cx="292608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3225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ENQUEUE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256032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077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202A"/>
                </a:solidFill>
              </a:rPr>
              <a:t>Operasi Keluar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2907792"/>
            <a:ext cx="29260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907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POP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2907792"/>
            <a:ext cx="292608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07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DEQUEUE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493008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202A"/>
                </a:solidFill>
              </a:rPr>
              <a:t>Arah Akses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17520" y="3493008"/>
            <a:ext cx="29260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4930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Satu ujung (top)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3493008"/>
            <a:ext cx="292608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4930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Dua ujung (front &amp; rear)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078224"/>
            <a:ext cx="256032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782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202A"/>
                </a:solidFill>
              </a:rPr>
              <a:t>Contoh Nyata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17520" y="4078224"/>
            <a:ext cx="29260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0782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Undo, Tombol BACK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35040" y="4078224"/>
            <a:ext cx="292608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0782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2A"/>
                </a:solidFill>
              </a:rPr>
              <a:t>Print Queue, Tiket Online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📚 ARRAY /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Visualisasi Array: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371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[0]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2A"/>
                </a:solidFill>
              </a:rPr>
              <a:t>Andi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1508760"/>
            <a:ext cx="137160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[1]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87452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2A"/>
                </a:solidFill>
              </a:rPr>
              <a:t>Budi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1508760"/>
            <a:ext cx="137160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[2]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2A"/>
                </a:solidFill>
              </a:rPr>
              <a:t>Cita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0" y="1508760"/>
            <a:ext cx="13716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[3]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0" y="187452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2A"/>
                </a:solidFill>
              </a:rPr>
              <a:t>Deni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508760"/>
            <a:ext cx="13716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[4]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0" y="187452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2A"/>
                </a:solidFill>
              </a:rPr>
              <a:t>Eva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🔢  Diakses langsung menggunakan indeks: array[0], array[1], 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📏  Ukuran dapat bersifat tetap (array) atau dinamis (list/ArrayList).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⚡  Akses data sangat </a:t>
            </a:r>
            <a:r>
              <a:rPr lang="en-US" sz="1300" dirty="0" err="1">
                <a:solidFill>
                  <a:srgbClr val="17202A"/>
                </a:solidFill>
              </a:rPr>
              <a:t>cepat</a:t>
            </a:r>
            <a:r>
              <a:rPr lang="en-US" sz="1300" dirty="0">
                <a:solidFill>
                  <a:srgbClr val="17202A"/>
                </a:solidFill>
              </a:rPr>
              <a:t> — </a:t>
            </a:r>
            <a:r>
              <a:rPr lang="en-US" sz="1300" dirty="0" err="1">
                <a:solidFill>
                  <a:srgbClr val="17202A"/>
                </a:solidFill>
              </a:rPr>
              <a:t>waktu</a:t>
            </a:r>
            <a:r>
              <a:rPr lang="en-US" sz="1300" dirty="0">
                <a:solidFill>
                  <a:srgbClr val="17202A"/>
                </a:solidFill>
              </a:rPr>
              <a:t> O(1)</a:t>
            </a:r>
            <a:r>
              <a:rPr lang="id-ID" sz="1300" dirty="0">
                <a:solidFill>
                  <a:srgbClr val="17202A"/>
                </a:solidFill>
              </a:rPr>
              <a:t>/konstan</a:t>
            </a:r>
            <a:r>
              <a:rPr lang="en-US" sz="1300" dirty="0">
                <a:solidFill>
                  <a:srgbClr val="17202A"/>
                </a:solidFill>
              </a:rPr>
              <a:t> </a:t>
            </a:r>
            <a:r>
              <a:rPr lang="en-US" sz="1300" dirty="0" err="1">
                <a:solidFill>
                  <a:srgbClr val="17202A"/>
                </a:solidFill>
              </a:rPr>
              <a:t>jika</a:t>
            </a:r>
            <a:r>
              <a:rPr lang="en-US" sz="1300" dirty="0">
                <a:solidFill>
                  <a:srgbClr val="17202A"/>
                </a:solidFill>
              </a:rPr>
              <a:t> tahu indeksnya.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📋  Cocok untuk data homogen yang perlu diakses acak atau berurutan.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💻 PSEUDOCODE — Struktur Data Linier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 (LIFO)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3291840"/>
          </a:xfrm>
          <a:prstGeom prst="rect">
            <a:avLst/>
          </a:prstGeom>
          <a:solidFill>
            <a:srgbClr val="1C2833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PUSH(stack, item)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stack.add(item)
</a:t>
            </a: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POP(stack)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stack kosong THEN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"Stack Kosong!"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 ← stack.last()
    stack.removeLast()
</a:t>
            </a: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item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QUEUE (FIFO)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23360" cy="3291840"/>
          </a:xfrm>
          <a:prstGeom prst="rect">
            <a:avLst/>
          </a:prstGeom>
          <a:solidFill>
            <a:srgbClr val="1C2833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ENQUEUE(queue, item)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queue.addLast(item)
</a:t>
            </a: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DEQUEUE(queue)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queue kosong THEN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"Queue Kosong!"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 ← queue.first()
    queue.removeFirst()
</a:t>
            </a: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item
</a:t>
            </a: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ENDIF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🔍 KEGIATAN: DETEKTIF STRUKTUR DATA!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38600"/>
            <a:ext cx="841248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</a:rPr>
              <a:t>📋  Diskusikan dalam kelompok (3-4 orang) — tentukan STACK atau QUEUE untuk setiap kasus berikut!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1560"/>
            <a:ext cx="6217920" cy="61264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1560"/>
            <a:ext cx="5943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1. 📱  Tombol BACK di HP Android menutup halaman yang terakhir dibuka.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965960"/>
            <a:ext cx="2011680" cy="612648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65960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→  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65648"/>
            <a:ext cx="6217920" cy="61264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65648"/>
            <a:ext cx="5943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2. 🎫  Sistem tiket konser melayani pemesan pertama terlebih dahulu.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2670048"/>
            <a:ext cx="2011680" cy="612648"/>
          </a:xfrm>
          <a:prstGeom prst="rect">
            <a:avLst/>
          </a:prstGeom>
          <a:solidFill>
            <a:srgbClr val="D5F5F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665648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→  QUEUE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69736"/>
            <a:ext cx="6217920" cy="61264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69736"/>
            <a:ext cx="5943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3. ↩️  Fitur Undo (Ctrl+Z) membatalkan aksi terakhir yang dilakukan.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3369736"/>
            <a:ext cx="2011680" cy="612648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369736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→ 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073824"/>
            <a:ext cx="6217920" cy="61264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73824"/>
            <a:ext cx="5943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2A"/>
                </a:solidFill>
              </a:rPr>
              <a:t>4. 🖨️  Printer kantor mencetak dokumen sesuai urutan siapa yang kirim lebih dulu.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4073824"/>
            <a:ext cx="2011680" cy="612648"/>
          </a:xfrm>
          <a:prstGeom prst="rect">
            <a:avLst/>
          </a:prstGeom>
          <a:solidFill>
            <a:srgbClr val="D5F5F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073824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→  QUEUE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4796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573"/>
                </a:solidFill>
              </a:rPr>
              <a:t>⏱️  Waktu diskusi: 4 menit  |  Kemudian presentasikan hasilmu!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🌟 REFLEKSI PEMBELAJARAN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📌 Apa konsep baru yang kamu pelajari hari ini?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BC9C"/>
                </a:solidFill>
              </a:rPr>
              <a:t>Array, Stack, Queue, LIFO, FIFO...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Bagaimana koneksi materi ini dengan kehidupanmu sehari-hari?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443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1ABC9C"/>
                </a:solidFill>
              </a:rPr>
              <a:t>Tombol</a:t>
            </a:r>
            <a:r>
              <a:rPr lang="en-US" sz="1200" i="1" dirty="0">
                <a:solidFill>
                  <a:srgbClr val="1ABC9C"/>
                </a:solidFill>
              </a:rPr>
              <a:t> BACK, antrian tiket, printer...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03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Kapan kamu akan memilih Stack vs Queue dalam membuat program?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1330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1ABC9C"/>
                </a:solidFill>
              </a:rPr>
              <a:t>Saat</a:t>
            </a:r>
            <a:r>
              <a:rPr lang="en-US" sz="1200" i="1" dirty="0">
                <a:solidFill>
                  <a:srgbClr val="1ABC9C"/>
                </a:solidFill>
              </a:rPr>
              <a:t> butuh urutan terbalik vs urutan normal...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BC9C"/>
                </a:solidFill>
              </a:rPr>
              <a:t>"Struktur data yang tepat adalah fondasi program yang efisien" — Selamat Belajar! 🚀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905</Words>
  <Application>Microsoft Office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Data Linier - Informatika Kelas X</dc:title>
  <dc:subject>PptxGenJS Presentation</dc:subject>
  <dc:creator>PptxGenJS</dc:creator>
  <cp:lastModifiedBy>Ahmad Nursyifa</cp:lastModifiedBy>
  <cp:revision>6</cp:revision>
  <dcterms:created xsi:type="dcterms:W3CDTF">2026-05-07T22:47:52Z</dcterms:created>
  <dcterms:modified xsi:type="dcterms:W3CDTF">2026-05-09T07:21:13Z</dcterms:modified>
</cp:coreProperties>
</file>