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Fira Mono Medium"/>
      <p:regular r:id="rId14"/>
    </p:embeddedFont>
    <p:embeddedFont>
      <p:font typeface="Fira Mono Medium"/>
      <p:regular r:id="rId15"/>
    </p:embeddedFont>
    <p:embeddedFont>
      <p:font typeface="Fira Sans"/>
      <p:regular r:id="rId16"/>
    </p:embeddedFont>
    <p:embeddedFont>
      <p:font typeface="Fira Sans"/>
      <p:regular r:id="rId17"/>
    </p:embeddedFont>
    <p:embeddedFont>
      <p:font typeface="Fira Sans"/>
      <p:regular r:id="rId18"/>
    </p:embeddedFont>
    <p:embeddedFont>
      <p:font typeface="Fira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Berpikir Komputasional: Kunci Memecahkan Masalah di Era Digital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Membangun kemampuan berpikir sistematis untuk menghadapi tantangan abad 21 dengan solusi yang efisien dan terstruktur.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6544" y="515779"/>
            <a:ext cx="8273653" cy="492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Konsep Dasar Berpikir Komputasional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76544" y="2327196"/>
            <a:ext cx="3556992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Berpikir komputasional (</a:t>
            </a:r>
            <a:pPr algn="l" indent="0" marL="0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computational thinking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 adalah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metode penyelesaian masalah sistematis dengan merumuskan solusi terstruktur yang dapat dieksekusi manusia atau komputer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76544" y="3280648"/>
            <a:ext cx="3556992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Cara berpikir ini membantu meningkatkan efisiensi dan kreativitas dalam menyelesaikan masalah, baik di sekolah maupun kehidupan sehari-hari.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728" y="1295876"/>
            <a:ext cx="6935510" cy="3870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76544" y="5413296"/>
            <a:ext cx="3552706" cy="1637109"/>
          </a:xfrm>
          <a:prstGeom prst="roundRect">
            <a:avLst>
              <a:gd name="adj" fmla="val 1444"/>
            </a:avLst>
          </a:prstGeom>
          <a:solidFill>
            <a:srgbClr val="2E2E2F"/>
          </a:solidFill>
          <a:ln/>
        </p:spPr>
      </p:sp>
      <p:sp>
        <p:nvSpPr>
          <p:cNvPr id="7" name="Shape 4"/>
          <p:cNvSpPr/>
          <p:nvPr/>
        </p:nvSpPr>
        <p:spPr>
          <a:xfrm>
            <a:off x="2034183" y="5570934"/>
            <a:ext cx="472916" cy="472916"/>
          </a:xfrm>
          <a:prstGeom prst="roundRect">
            <a:avLst>
              <a:gd name="adj" fmla="val 19333424"/>
            </a:avLst>
          </a:prstGeom>
          <a:solidFill>
            <a:srgbClr val="FF6BD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4199" y="5700951"/>
            <a:ext cx="212765" cy="2127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34183" y="6153388"/>
            <a:ext cx="1970484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Memasak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2034183" y="6465332"/>
            <a:ext cx="3237428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Menyusun langkah-langkah sistematis untuk membuat hidangan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38787" y="5413296"/>
            <a:ext cx="3552706" cy="1637109"/>
          </a:xfrm>
          <a:prstGeom prst="roundRect">
            <a:avLst>
              <a:gd name="adj" fmla="val 1444"/>
            </a:avLst>
          </a:prstGeom>
          <a:solidFill>
            <a:srgbClr val="2E2E2F"/>
          </a:solidFill>
          <a:ln/>
        </p:spPr>
      </p:sp>
      <p:sp>
        <p:nvSpPr>
          <p:cNvPr id="12" name="Shape 8"/>
          <p:cNvSpPr/>
          <p:nvPr/>
        </p:nvSpPr>
        <p:spPr>
          <a:xfrm>
            <a:off x="5696426" y="5570934"/>
            <a:ext cx="472916" cy="472916"/>
          </a:xfrm>
          <a:prstGeom prst="roundRect">
            <a:avLst>
              <a:gd name="adj" fmla="val 19333424"/>
            </a:avLst>
          </a:prstGeom>
          <a:solidFill>
            <a:srgbClr val="FF6BD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443" y="5700951"/>
            <a:ext cx="212765" cy="2127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96426" y="6153388"/>
            <a:ext cx="1970484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Perjalanan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696426" y="6465332"/>
            <a:ext cx="3237428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Merencanakan rute dan waktu terbaik untuk mencapai tujuan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201031" y="5413296"/>
            <a:ext cx="3552706" cy="1637109"/>
          </a:xfrm>
          <a:prstGeom prst="roundRect">
            <a:avLst>
              <a:gd name="adj" fmla="val 1444"/>
            </a:avLst>
          </a:prstGeom>
          <a:solidFill>
            <a:srgbClr val="2E2E2F"/>
          </a:solidFill>
          <a:ln/>
        </p:spPr>
      </p:sp>
      <p:sp>
        <p:nvSpPr>
          <p:cNvPr id="17" name="Shape 12"/>
          <p:cNvSpPr/>
          <p:nvPr/>
        </p:nvSpPr>
        <p:spPr>
          <a:xfrm>
            <a:off x="9358670" y="5570934"/>
            <a:ext cx="472916" cy="472916"/>
          </a:xfrm>
          <a:prstGeom prst="roundRect">
            <a:avLst>
              <a:gd name="adj" fmla="val 19333424"/>
            </a:avLst>
          </a:prstGeom>
          <a:solidFill>
            <a:srgbClr val="FF6BD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8686" y="5700951"/>
            <a:ext cx="212765" cy="2127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58670" y="6153388"/>
            <a:ext cx="1970484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Matematika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358670" y="6465332"/>
            <a:ext cx="3237428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Memecahkan soal kompleks dengan pendekatan bertahap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876544" y="7173635"/>
            <a:ext cx="10877193" cy="540068"/>
          </a:xfrm>
          <a:prstGeom prst="roundRect">
            <a:avLst>
              <a:gd name="adj" fmla="val 4378"/>
            </a:avLst>
          </a:prstGeom>
          <a:solidFill>
            <a:srgbClr val="4D003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4183" y="7392710"/>
            <a:ext cx="197048" cy="1576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388870" y="7322582"/>
            <a:ext cx="10207228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CT = Jembatan Manusia-Mesin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– Memanfaatkan logika untuk menyelesaikan masalah secara efisien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103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Dekomposisi: Memecah Masalah Menjadi Bagian Kecil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3753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492579"/>
            <a:ext cx="3664744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6668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Definisi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57305"/>
            <a:ext cx="36647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Teknik memecah masalah kompleks menjadi sub-masalah yang lebih sederhana sehingga dapat diselesaikan satu per satu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85348" y="313753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492579"/>
            <a:ext cx="3664863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0" name="Text 7"/>
          <p:cNvSpPr/>
          <p:nvPr/>
        </p:nvSpPr>
        <p:spPr>
          <a:xfrm>
            <a:off x="4685348" y="36668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Contoh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5348" y="4157305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Membuat sarapan – potong roti → panggang roti → oles mentega → siapkan teh → tambahkan susu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0057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360795"/>
            <a:ext cx="7556421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6535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Manfaat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70255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Setiap langkah lebih mudah dikelola dan diawasi, mengurangi kesalahan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4277" y="519351"/>
            <a:ext cx="12861727" cy="1164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Pengenalan Pola: Menemukan Kesamaan untuk Prediksi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77" y="2086213"/>
            <a:ext cx="8200906" cy="4577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47622" y="3046452"/>
            <a:ext cx="2329934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Definisi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47622" y="3490793"/>
            <a:ext cx="4205883" cy="81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Mengidentifikasi pola berulang dalam data atau situasi untuk memudahkan prediksi dan generalisasi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47622" y="4459010"/>
            <a:ext cx="2329934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Contoh Praktis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47622" y="4903351"/>
            <a:ext cx="4205883" cy="81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Memasak nasi goreng berulang kali → pola rasa, bumbu, urutan langkah teridentifikasi, mempercepat proses memasak selanjutnya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84277" y="7008019"/>
            <a:ext cx="12861727" cy="702231"/>
          </a:xfrm>
          <a:prstGeom prst="roundRect">
            <a:avLst>
              <a:gd name="adj" fmla="val 3982"/>
            </a:avLst>
          </a:prstGeom>
          <a:solidFill>
            <a:srgbClr val="4D00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" y="7275909"/>
            <a:ext cx="232886" cy="1863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9829" y="7207687"/>
            <a:ext cx="12069842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Pola = Shortcut Otak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– Menghemat energi mental dengan mengenali kebiasaan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1224" y="547330"/>
            <a:ext cx="10062091" cy="4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Abstraksi: Menyederhanakan Informasi Kompleks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224" y="1209199"/>
            <a:ext cx="5082778" cy="5082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71224" y="6389965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Definisi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171224" y="6681549"/>
            <a:ext cx="508277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Memilih informasi penting, mengabaikan detail yang tidak relevan, sehingga masalah dapat dimodelkan secara sederhana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398" y="1209199"/>
            <a:ext cx="5082778" cy="50827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76398" y="6389965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Contoh Rambu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76398" y="6681549"/>
            <a:ext cx="508277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Hanya menampilkan larangan dan kewajiban, menghilangkan dekorasi agar pengendara fokus pada aksi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171224" y="7186851"/>
            <a:ext cx="10287953" cy="495419"/>
          </a:xfrm>
          <a:prstGeom prst="roundRect">
            <a:avLst>
              <a:gd name="adj" fmla="val 4514"/>
            </a:avLst>
          </a:prstGeom>
          <a:solidFill>
            <a:srgbClr val="4D003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7387471"/>
            <a:ext cx="186333" cy="1490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55689" y="7322106"/>
            <a:ext cx="965442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Abstraksi = Inti Informasi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– Fokus pada yang penting saja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4936" y="410289"/>
            <a:ext cx="9940409" cy="90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Algoritma: Langkah-Langkah Logis yang Terstruktur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44936" y="2552105"/>
            <a:ext cx="180070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Definisi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4936" y="2868573"/>
            <a:ext cx="6338173" cy="37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Urutan instruksi terperinci yang dapat dieksekusi oleh manusia atau komputer untuk menyelesaikan suatu tugas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44936" y="3336727"/>
            <a:ext cx="421255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Contoh: Menghitung Luas Persegi Panjang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44936" y="3653195"/>
            <a:ext cx="6338173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Mulai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Masukkan nilai panjang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Masukkan nilai lebar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Hitung luas = panjang × lebar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Tampilkan hasil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Selesai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2202" y="1550670"/>
            <a:ext cx="3250644" cy="43341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44936" y="6162437"/>
            <a:ext cx="9940409" cy="47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18%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6289000" y="6778228"/>
            <a:ext cx="205228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Peningkatan Akurasi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44936" y="7058144"/>
            <a:ext cx="9940409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Siswa meningkatkan akurasi perhitungan matematika pada ujian semester (data sekolah X, 2024)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44936" y="7349371"/>
            <a:ext cx="9940409" cy="469940"/>
          </a:xfrm>
          <a:prstGeom prst="roundRect">
            <a:avLst>
              <a:gd name="adj" fmla="val 4598"/>
            </a:avLst>
          </a:prstGeom>
          <a:solidFill>
            <a:srgbClr val="4D00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883" y="7540466"/>
            <a:ext cx="180023" cy="1439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12852" y="7476768"/>
            <a:ext cx="932854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Algoritma = Resep Penyelesaian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– Instruksi terstruktur untuk hasil konsisten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1353" y="1044297"/>
            <a:ext cx="4681418" cy="51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Kesimpulan &amp; Ajakan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61353" y="1736169"/>
            <a:ext cx="7994094" cy="3531870"/>
          </a:xfrm>
          <a:prstGeom prst="roundRect">
            <a:avLst>
              <a:gd name="adj" fmla="val 698"/>
            </a:avLst>
          </a:prstGeom>
          <a:solidFill>
            <a:srgbClr val="2E2E2F"/>
          </a:solidFill>
          <a:ln/>
        </p:spPr>
      </p:sp>
      <p:sp>
        <p:nvSpPr>
          <p:cNvPr id="5" name="Shape 2"/>
          <p:cNvSpPr/>
          <p:nvPr/>
        </p:nvSpPr>
        <p:spPr>
          <a:xfrm>
            <a:off x="6061353" y="1736169"/>
            <a:ext cx="7994094" cy="882968"/>
          </a:xfrm>
          <a:prstGeom prst="roundRect">
            <a:avLst>
              <a:gd name="adj" fmla="val 2791"/>
            </a:avLst>
          </a:prstGeom>
          <a:solidFill>
            <a:srgbClr val="2E2E2F"/>
          </a:solidFill>
          <a:ln/>
        </p:spPr>
      </p:sp>
      <p:sp>
        <p:nvSpPr>
          <p:cNvPr id="6" name="Text 3"/>
          <p:cNvSpPr/>
          <p:nvPr/>
        </p:nvSpPr>
        <p:spPr>
          <a:xfrm>
            <a:off x="6225540" y="1900357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Dekomposisi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25540" y="2228374"/>
            <a:ext cx="7665720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Memecah masalah kompleks menjadi bagian kecil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61353" y="2619137"/>
            <a:ext cx="7994094" cy="882968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9" name="Shape 6"/>
          <p:cNvSpPr/>
          <p:nvPr/>
        </p:nvSpPr>
        <p:spPr>
          <a:xfrm>
            <a:off x="6061353" y="2619137"/>
            <a:ext cx="7994094" cy="22860"/>
          </a:xfrm>
          <a:prstGeom prst="roundRect">
            <a:avLst>
              <a:gd name="adj" fmla="val 107810"/>
            </a:avLst>
          </a:prstGeom>
          <a:solidFill>
            <a:srgbClr val="474748"/>
          </a:solidFill>
          <a:ln/>
        </p:spPr>
      </p:sp>
      <p:sp>
        <p:nvSpPr>
          <p:cNvPr id="10" name="Text 7"/>
          <p:cNvSpPr/>
          <p:nvPr/>
        </p:nvSpPr>
        <p:spPr>
          <a:xfrm>
            <a:off x="6225540" y="2783324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Pengenalan Pola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25540" y="3111341"/>
            <a:ext cx="7665720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Menemukan kesamaan untuk prediksi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61353" y="3502104"/>
            <a:ext cx="7994094" cy="882968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1353" y="3502104"/>
            <a:ext cx="7994094" cy="22860"/>
          </a:xfrm>
          <a:prstGeom prst="roundRect">
            <a:avLst>
              <a:gd name="adj" fmla="val 107810"/>
            </a:avLst>
          </a:prstGeom>
          <a:solidFill>
            <a:srgbClr val="474748"/>
          </a:solidFill>
          <a:ln/>
        </p:spPr>
      </p:sp>
      <p:sp>
        <p:nvSpPr>
          <p:cNvPr id="14" name="Text 11"/>
          <p:cNvSpPr/>
          <p:nvPr/>
        </p:nvSpPr>
        <p:spPr>
          <a:xfrm>
            <a:off x="6225540" y="3666292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Abstraksi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25540" y="3994309"/>
            <a:ext cx="7665720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Menyederhanakan informasi kompleks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1353" y="4385072"/>
            <a:ext cx="7994094" cy="882968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17" name="Shape 14"/>
          <p:cNvSpPr/>
          <p:nvPr/>
        </p:nvSpPr>
        <p:spPr>
          <a:xfrm>
            <a:off x="6061353" y="4385072"/>
            <a:ext cx="7994094" cy="22860"/>
          </a:xfrm>
          <a:prstGeom prst="roundRect">
            <a:avLst>
              <a:gd name="adj" fmla="val 107810"/>
            </a:avLst>
          </a:prstGeom>
          <a:solidFill>
            <a:srgbClr val="474748"/>
          </a:solidFill>
          <a:ln/>
        </p:spPr>
      </p:sp>
      <p:sp>
        <p:nvSpPr>
          <p:cNvPr id="18" name="Text 15"/>
          <p:cNvSpPr/>
          <p:nvPr/>
        </p:nvSpPr>
        <p:spPr>
          <a:xfrm>
            <a:off x="6225540" y="4549259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Algoritma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25540" y="4877276"/>
            <a:ext cx="7665720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Langkah logis terstruktur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7693" y="5535692"/>
            <a:ext cx="7747754" cy="45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Berpikir Komputasional = Dari Ide ke Implementasi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– Cara berpikir yang dapat diterapkan di semua mata pelajaran dan kehidupan sehari-hari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61353" y="5401866"/>
            <a:ext cx="22860" cy="720804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061353" y="6256496"/>
            <a:ext cx="7994094" cy="928687"/>
          </a:xfrm>
          <a:prstGeom prst="roundRect">
            <a:avLst>
              <a:gd name="adj" fmla="val 11815"/>
            </a:avLst>
          </a:prstGeom>
          <a:solidFill>
            <a:srgbClr val="0F0F10"/>
          </a:solidFill>
          <a:ln w="22860">
            <a:solidFill>
              <a:srgbClr val="FF6B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8493" y="6256496"/>
            <a:ext cx="91440" cy="928687"/>
          </a:xfrm>
          <a:prstGeom prst="roundRect">
            <a:avLst>
              <a:gd name="adj" fmla="val 26952"/>
            </a:avLst>
          </a:prstGeom>
          <a:solidFill>
            <a:srgbClr val="FF6BD8"/>
          </a:solidFill>
          <a:ln/>
        </p:spPr>
      </p:sp>
      <p:sp>
        <p:nvSpPr>
          <p:cNvPr id="24" name="Text 21"/>
          <p:cNvSpPr/>
          <p:nvPr/>
        </p:nvSpPr>
        <p:spPr>
          <a:xfrm>
            <a:off x="6316980" y="6443543"/>
            <a:ext cx="3571637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Proyek Mini "Masalah Sekolah"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16980" y="6771561"/>
            <a:ext cx="7551420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Tiap kelompok pilih satu masalah, gunakan keempat pilar CT, presentasikan solusi dalam 2 minggu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2026-03-11T01:05:53Z</dcterms:created>
  <dcterms:modified xsi:type="dcterms:W3CDTF">2026-03-11T01:05:53Z</dcterms:modified>
</cp:coreProperties>
</file>