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  <p:sldMasterId id="2147483691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Lato" panose="020F0502020204030203" pitchFamily="34" charset="0"/>
      <p:regular r:id="rId15"/>
      <p:bold r:id="rId16"/>
      <p:italic r:id="rId17"/>
      <p:boldItalic r:id="rId18"/>
    </p:embeddedFont>
    <p:embeddedFont>
      <p:font typeface="Lato Black" panose="020F0502020204030203" pitchFamily="34" charset="0"/>
      <p:bold r:id="rId19"/>
      <p:boldItalic r:id="rId20"/>
    </p:embeddedFont>
    <p:embeddedFont>
      <p:font typeface="Nunito Sans SemiBold" pitchFamily="2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Open Sans ExtraBold" panose="020B0906030804020204" pitchFamily="34" charset="0"/>
      <p:bold r:id="rId29"/>
      <p:boldItalic r:id="rId30"/>
    </p:embeddedFont>
    <p:embeddedFont>
      <p:font typeface="Plus Jakarta Sans" panose="020B0604020202020204" charset="0"/>
      <p:regular r:id="rId31"/>
      <p:bold r:id="rId32"/>
      <p:italic r:id="rId33"/>
      <p:boldItalic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  <p:embeddedFont>
      <p:font typeface="Proxima Nova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font" Target="fonts/font28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46" Type="http://schemas.openxmlformats.org/officeDocument/2006/relationships/tableStyles" Target="tableStyles.xml"/><Relationship Id="rId20" Type="http://schemas.openxmlformats.org/officeDocument/2006/relationships/font" Target="fonts/font6.fntdata"/><Relationship Id="rId41" Type="http://schemas.openxmlformats.org/officeDocument/2006/relationships/font" Target="fonts/font2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778"/>
            <a:ext cx="4572300" cy="34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7ee23129e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a7ee23129e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48c3ee1ff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3a48c3ee1ff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80053636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3a80053636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7ee23129e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3a7ee23129e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49b9c0f5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a49b9c0f5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80053636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a80053636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80bd23f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g3a80bd23f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49b9c0f54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g3a49b9c0f54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" type="obj">
  <p:cSld name="OBJECT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18288000" cy="7689850"/>
          </a:xfrm>
          <a:custGeom>
            <a:avLst/>
            <a:gdLst/>
            <a:ahLst/>
            <a:cxnLst/>
            <a:rect l="l" t="t" r="r" b="b"/>
            <a:pathLst>
              <a:path w="9144000" h="3844925" extrusionOk="0">
                <a:moveTo>
                  <a:pt x="0" y="3844897"/>
                </a:moveTo>
                <a:lnTo>
                  <a:pt x="9144000" y="3844897"/>
                </a:lnTo>
                <a:lnTo>
                  <a:pt x="9144000" y="0"/>
                </a:lnTo>
                <a:lnTo>
                  <a:pt x="0" y="0"/>
                </a:lnTo>
                <a:lnTo>
                  <a:pt x="0" y="3844897"/>
                </a:lnTo>
                <a:close/>
              </a:path>
            </a:pathLst>
          </a:custGeom>
          <a:solidFill>
            <a:srgbClr val="3078E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98" y="7689794"/>
            <a:ext cx="18288000" cy="2598420"/>
          </a:xfrm>
          <a:custGeom>
            <a:avLst/>
            <a:gdLst/>
            <a:ahLst/>
            <a:cxnLst/>
            <a:rect l="l" t="t" r="r" b="b"/>
            <a:pathLst>
              <a:path w="9144000" h="1299210" extrusionOk="0">
                <a:moveTo>
                  <a:pt x="9144000" y="0"/>
                </a:moveTo>
                <a:lnTo>
                  <a:pt x="0" y="0"/>
                </a:lnTo>
                <a:lnTo>
                  <a:pt x="0" y="1298702"/>
                </a:lnTo>
                <a:lnTo>
                  <a:pt x="9144000" y="12987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34D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092" y="729740"/>
            <a:ext cx="980186" cy="99364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>
            <a:spLocks noGrp="1"/>
          </p:cNvSpPr>
          <p:nvPr>
            <p:ph type="ctrTitle"/>
          </p:nvPr>
        </p:nvSpPr>
        <p:spPr>
          <a:xfrm>
            <a:off x="1383384" y="2465324"/>
            <a:ext cx="15521400" cy="3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2743200" y="5760720"/>
            <a:ext cx="12801600" cy="2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623400" y="69740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28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10355900" y="9733950"/>
            <a:ext cx="7669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Pendidikan, Kebudayaan, Riset, dan Teknologi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9" name="Google Shape;99;p15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12159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776478" y="749300"/>
            <a:ext cx="167352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 i="0">
                <a:solidFill>
                  <a:srgbClr val="1C458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1313434" y="3871976"/>
            <a:ext cx="15661200" cy="2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rgbClr val="CFF3F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776478" y="749300"/>
            <a:ext cx="167352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 i="0">
                <a:solidFill>
                  <a:srgbClr val="1C458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776478" y="749300"/>
            <a:ext cx="167352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 i="0">
                <a:solidFill>
                  <a:srgbClr val="1C458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914400" y="2366010"/>
            <a:ext cx="7955400" cy="6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2"/>
          </p:nvPr>
        </p:nvSpPr>
        <p:spPr>
          <a:xfrm>
            <a:off x="9418320" y="2366010"/>
            <a:ext cx="7955400" cy="6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">
  <p:cSld name="CAPTION_ONLY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5" name="Google Shape;125;p20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">
  <p:cSld name="Heading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870858" y="576072"/>
            <a:ext cx="165468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1"/>
          </p:nvPr>
        </p:nvSpPr>
        <p:spPr>
          <a:xfrm>
            <a:off x="871538" y="2098538"/>
            <a:ext cx="165468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body" idx="2"/>
          </p:nvPr>
        </p:nvSpPr>
        <p:spPr>
          <a:xfrm>
            <a:off x="870862" y="2819400"/>
            <a:ext cx="16546800" cy="6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177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000"/>
              <a:buFont typeface="Lato Black"/>
              <a:buNone/>
              <a:defRPr sz="5000">
                <a:solidFill>
                  <a:srgbClr val="002060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grpSp>
        <p:nvGrpSpPr>
          <p:cNvPr id="132" name="Google Shape;132;p22"/>
          <p:cNvGrpSpPr/>
          <p:nvPr/>
        </p:nvGrpSpPr>
        <p:grpSpPr>
          <a:xfrm>
            <a:off x="13622899" y="1303300"/>
            <a:ext cx="4665153" cy="54000"/>
            <a:chOff x="4888300" y="727847"/>
            <a:chExt cx="4255750" cy="27000"/>
          </a:xfrm>
        </p:grpSpPr>
        <p:sp>
          <p:nvSpPr>
            <p:cNvPr id="133" name="Google Shape;133;p22"/>
            <p:cNvSpPr/>
            <p:nvPr/>
          </p:nvSpPr>
          <p:spPr>
            <a:xfrm>
              <a:off x="4888300" y="727847"/>
              <a:ext cx="2127900" cy="27000"/>
            </a:xfrm>
            <a:prstGeom prst="rect">
              <a:avLst/>
            </a:prstGeom>
            <a:solidFill>
              <a:srgbClr val="49A6DB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7016150" y="727847"/>
              <a:ext cx="2127900" cy="27000"/>
            </a:xfrm>
            <a:prstGeom prst="rect">
              <a:avLst/>
            </a:prstGeom>
            <a:solidFill>
              <a:srgbClr val="17406D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2"/>
          <p:cNvSpPr txBox="1"/>
          <p:nvPr/>
        </p:nvSpPr>
        <p:spPr>
          <a:xfrm>
            <a:off x="11209950" y="9733950"/>
            <a:ext cx="681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0592D6"/>
                </a:solidFill>
                <a:latin typeface="Lato"/>
                <a:ea typeface="Lato"/>
                <a:cs typeface="Lato"/>
                <a:sym typeface="Lato"/>
              </a:rPr>
              <a:t>Kementerian Pendidikan, Kebudayaan, Riset, dan Teknologi</a:t>
            </a:r>
            <a:endParaRPr sz="1800" b="0" i="0" u="none" strike="noStrike" cap="none">
              <a:solidFill>
                <a:srgbClr val="0592D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6" name="Google Shape;136;p22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166145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22"/>
          <p:cNvGrpSpPr/>
          <p:nvPr/>
        </p:nvGrpSpPr>
        <p:grpSpPr>
          <a:xfrm>
            <a:off x="-50" y="9456010"/>
            <a:ext cx="5517876" cy="831000"/>
            <a:chOff x="-25" y="4752355"/>
            <a:chExt cx="2758938" cy="415500"/>
          </a:xfrm>
        </p:grpSpPr>
        <p:sp>
          <p:nvSpPr>
            <p:cNvPr id="138" name="Google Shape;138;p22"/>
            <p:cNvSpPr/>
            <p:nvPr/>
          </p:nvSpPr>
          <p:spPr>
            <a:xfrm>
              <a:off x="-25" y="4752375"/>
              <a:ext cx="2668500" cy="415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50" tIns="91450" rIns="91450" bIns="91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9" name="Google Shape;139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9869" y="4834280"/>
              <a:ext cx="247185" cy="247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22"/>
            <p:cNvSpPr/>
            <p:nvPr/>
          </p:nvSpPr>
          <p:spPr>
            <a:xfrm>
              <a:off x="2668313" y="4752355"/>
              <a:ext cx="90600" cy="415500"/>
            </a:xfrm>
            <a:prstGeom prst="rtTriangle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2"/>
            <p:cNvSpPr txBox="1"/>
            <p:nvPr/>
          </p:nvSpPr>
          <p:spPr>
            <a:xfrm>
              <a:off x="398225" y="4817700"/>
              <a:ext cx="22701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68550" rIns="137150" bIns="685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DOKUMEN RAHASIA. Tidak untuk disebarluaskan.</a:t>
              </a:r>
              <a:endParaRPr sz="1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Ditjen GTK Kemendikbudristek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">
  <p:cSld name="CAPTION_ONLY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9" name="Google Shape;149;p24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_2">
  <p:cSld name="CAPTION_ONLY_1_2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3" name="Google Shape;153;p25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_1">
  <p:cSld name="CAPTION_ONLY_1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26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7" name="Google Shape;157;p26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>
  <p:cSld name="ONE_COLUMN_TEX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>
  <p:cSld name="MAIN_POIN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183" name="Google Shape;183;p3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>
  <p:cSld name="SECTION_TITLE_AND_DESCRIPTION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>
  <p:cSld name="BIG_NUMBER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/>
          <p:nvPr/>
        </p:nvSpPr>
        <p:spPr>
          <a:xfrm>
            <a:off x="0" y="9647620"/>
            <a:ext cx="18288000" cy="639600"/>
          </a:xfrm>
          <a:prstGeom prst="rect">
            <a:avLst/>
          </a:prstGeom>
          <a:solidFill>
            <a:srgbClr val="002060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8"/>
          <p:cNvSpPr txBox="1">
            <a:spLocks noGrp="1"/>
          </p:cNvSpPr>
          <p:nvPr>
            <p:ph type="sldNum" idx="12"/>
          </p:nvPr>
        </p:nvSpPr>
        <p:spPr>
          <a:xfrm>
            <a:off x="17461548" y="9665026"/>
            <a:ext cx="6396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37150" rIns="137150" bIns="13715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000">
              <a:solidFill>
                <a:schemeClr val="dk2"/>
              </a:solidFill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11767200" y="9794278"/>
            <a:ext cx="56946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Kementerian Pendidikan, Kebudayaan, Riset, dan Teknologi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820" y="9665026"/>
            <a:ext cx="639382" cy="639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title"/>
          </p:nvPr>
        </p:nvSpPr>
        <p:spPr>
          <a:xfrm>
            <a:off x="2067650" y="392600"/>
            <a:ext cx="154446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4200"/>
              <a:buFont typeface="Open Sans ExtraBold"/>
              <a:buNone/>
              <a:defRPr sz="4200"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7" name="Google Shape;207;p39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8" name="Google Shape;208;p39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39"/>
          <p:cNvGrpSpPr/>
          <p:nvPr/>
        </p:nvGrpSpPr>
        <p:grpSpPr>
          <a:xfrm>
            <a:off x="64298" y="217736"/>
            <a:ext cx="1923749" cy="1495147"/>
            <a:chOff x="-151896" y="-128007"/>
            <a:chExt cx="1282499" cy="996765"/>
          </a:xfrm>
        </p:grpSpPr>
        <p:sp>
          <p:nvSpPr>
            <p:cNvPr id="210" name="Google Shape;210;p39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1" name="Google Shape;211;p39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212" name="Google Shape;212;p3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3" name="Google Shape;213;p39"/>
              <p:cNvPicPr preferRelativeResize="0"/>
              <p:nvPr/>
            </p:nvPicPr>
            <p:blipFill rotWithShape="1">
              <a:blip r:embed="rId4">
                <a:alphaModFix/>
              </a:blip>
              <a:srcRect l="25906" t="42302" r="62505" b="55212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4" name="Google Shape;214;p3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_1_1">
  <p:cSld name="CAPTION_ONLY_1_1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217" name="Google Shape;217;p40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8" name="Google Shape;218;p40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_3">
  <p:cSld name="CAPTION_ONLY_1_3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41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2" name="Google Shape;222;p41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2"/>
          <p:cNvPicPr preferRelativeResize="0"/>
          <p:nvPr/>
        </p:nvPicPr>
        <p:blipFill rotWithShape="1">
          <a:blip r:embed="rId2">
            <a:alphaModFix/>
          </a:blip>
          <a:srcRect t="-3210" b="3209"/>
          <a:stretch/>
        </p:blipFill>
        <p:spPr>
          <a:xfrm>
            <a:off x="0" y="0"/>
            <a:ext cx="18288000" cy="10287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748" y="486400"/>
            <a:ext cx="860502" cy="87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2"/>
          <p:cNvSpPr txBox="1"/>
          <p:nvPr/>
        </p:nvSpPr>
        <p:spPr>
          <a:xfrm>
            <a:off x="1580750" y="454348"/>
            <a:ext cx="79278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263474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Kementerian Pendidikan, Kebudayaan, Riset, dan Teknologi</a:t>
            </a:r>
            <a:br>
              <a:rPr lang="en-US" sz="2000" b="0" i="0" u="none" strike="noStrike" cap="none">
                <a:solidFill>
                  <a:srgbClr val="263474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</a:br>
            <a:r>
              <a:rPr lang="en-US" sz="2000" b="0" i="0" u="none" strike="noStrike" cap="none">
                <a:solidFill>
                  <a:srgbClr val="263474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Direktorat Jenderal Guru dan Tenaga Kependidikan</a:t>
            </a:r>
            <a:endParaRPr sz="2000" b="0" i="0" u="none" strike="noStrike" cap="none">
              <a:solidFill>
                <a:srgbClr val="263474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3"/>
          <p:cNvSpPr txBox="1">
            <a:spLocks noGrp="1"/>
          </p:cNvSpPr>
          <p:nvPr>
            <p:ph type="title"/>
          </p:nvPr>
        </p:nvSpPr>
        <p:spPr>
          <a:xfrm>
            <a:off x="469548" y="674212"/>
            <a:ext cx="167652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2800" b="1" i="0">
                <a:solidFill>
                  <a:srgbClr val="001F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3"/>
          <p:cNvSpPr txBox="1">
            <a:spLocks noGrp="1"/>
          </p:cNvSpPr>
          <p:nvPr>
            <p:ph type="ftr" idx="11"/>
          </p:nvPr>
        </p:nvSpPr>
        <p:spPr>
          <a:xfrm>
            <a:off x="511806" y="9746236"/>
            <a:ext cx="4446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43"/>
          <p:cNvSpPr txBox="1">
            <a:spLocks noGrp="1"/>
          </p:cNvSpPr>
          <p:nvPr>
            <p:ph type="dt" idx="10"/>
          </p:nvPr>
        </p:nvSpPr>
        <p:spPr>
          <a:xfrm>
            <a:off x="11954330" y="9761226"/>
            <a:ext cx="54432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" name="Google Shape;231;p43"/>
          <p:cNvSpPr txBox="1">
            <a:spLocks noGrp="1"/>
          </p:cNvSpPr>
          <p:nvPr>
            <p:ph type="sldNum" idx="12"/>
          </p:nvPr>
        </p:nvSpPr>
        <p:spPr>
          <a:xfrm>
            <a:off x="17752938" y="9750918"/>
            <a:ext cx="379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62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62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62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62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62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762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762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762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762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4"/>
          <p:cNvSpPr txBox="1">
            <a:spLocks noGrp="1"/>
          </p:cNvSpPr>
          <p:nvPr>
            <p:ph type="body" idx="1"/>
          </p:nvPr>
        </p:nvSpPr>
        <p:spPr>
          <a:xfrm>
            <a:off x="623400" y="8461151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37150" rIns="137150" bIns="1371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2800"/>
              <a:buFont typeface="Open Sans ExtraBold"/>
              <a:buNone/>
              <a:defRPr b="1"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44"/>
          <p:cNvSpPr txBox="1"/>
          <p:nvPr/>
        </p:nvSpPr>
        <p:spPr>
          <a:xfrm>
            <a:off x="12420101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5" name="Google Shape;235;p44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1" y="9770927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41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776478" y="749300"/>
            <a:ext cx="167352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6000" b="1" i="0" u="none" strike="noStrike" cap="none">
                <a:solidFill>
                  <a:srgbClr val="1C458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1313434" y="3871976"/>
            <a:ext cx="15661200" cy="2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CFF3F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8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5"/>
          <p:cNvPicPr preferRelativeResize="0"/>
          <p:nvPr/>
        </p:nvPicPr>
        <p:blipFill rotWithShape="1">
          <a:blip r:embed="rId3">
            <a:alphaModFix/>
          </a:blip>
          <a:srcRect b="24952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9248" y="163600"/>
            <a:ext cx="711647" cy="72064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5"/>
          <p:cNvSpPr txBox="1"/>
          <p:nvPr/>
        </p:nvSpPr>
        <p:spPr>
          <a:xfrm>
            <a:off x="1020900" y="31350"/>
            <a:ext cx="5217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Kementerian Pendidikan </a:t>
            </a:r>
            <a:b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Dasar dan Menengah</a:t>
            </a:r>
            <a:endParaRPr sz="2000" b="0" i="0" u="none" strike="noStrike" cap="non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43" name="Google Shape;243;p45"/>
          <p:cNvSpPr txBox="1"/>
          <p:nvPr/>
        </p:nvSpPr>
        <p:spPr>
          <a:xfrm>
            <a:off x="939600" y="5096875"/>
            <a:ext cx="16408800" cy="3392700"/>
          </a:xfrm>
          <a:prstGeom prst="rect">
            <a:avLst/>
          </a:prstGeom>
          <a:noFill/>
          <a:ln>
            <a:noFill/>
          </a:ln>
          <a:effectLst>
            <a:outerShdw blurRad="114300" dist="114300" dir="21540000" algn="bl" rotWithShape="0">
              <a:srgbClr val="000000"/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Pola Pikir Bertumbuh </a:t>
            </a:r>
            <a:endParaRPr sz="96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Topik 3</a:t>
            </a:r>
            <a:endParaRPr sz="96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pic>
        <p:nvPicPr>
          <p:cNvPr id="244" name="Google Shape;244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5"/>
          <p:cNvPicPr preferRelativeResize="0"/>
          <p:nvPr/>
        </p:nvPicPr>
        <p:blipFill rotWithShape="1">
          <a:blip r:embed="rId6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46"/>
          <p:cNvGrpSpPr/>
          <p:nvPr/>
        </p:nvGrpSpPr>
        <p:grpSpPr>
          <a:xfrm>
            <a:off x="1359738" y="8048776"/>
            <a:ext cx="5746750" cy="784858"/>
            <a:chOff x="679869" y="4024388"/>
            <a:chExt cx="2873375" cy="392429"/>
          </a:xfrm>
        </p:grpSpPr>
        <p:pic>
          <p:nvPicPr>
            <p:cNvPr id="251" name="Google Shape;251;p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79869" y="4024388"/>
              <a:ext cx="2873082" cy="3917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46"/>
            <p:cNvSpPr/>
            <p:nvPr/>
          </p:nvSpPr>
          <p:spPr>
            <a:xfrm>
              <a:off x="679869" y="4024388"/>
              <a:ext cx="2873375" cy="392429"/>
            </a:xfrm>
            <a:custGeom>
              <a:avLst/>
              <a:gdLst/>
              <a:ahLst/>
              <a:cxnLst/>
              <a:rect l="l" t="t" r="r" b="b"/>
              <a:pathLst>
                <a:path w="2873375" h="392429" extrusionOk="0">
                  <a:moveTo>
                    <a:pt x="0" y="195897"/>
                  </a:moveTo>
                  <a:lnTo>
                    <a:pt x="5174" y="150979"/>
                  </a:lnTo>
                  <a:lnTo>
                    <a:pt x="19913" y="109746"/>
                  </a:lnTo>
                  <a:lnTo>
                    <a:pt x="43041" y="73373"/>
                  </a:lnTo>
                  <a:lnTo>
                    <a:pt x="73381" y="43036"/>
                  </a:lnTo>
                  <a:lnTo>
                    <a:pt x="109756" y="19911"/>
                  </a:lnTo>
                  <a:lnTo>
                    <a:pt x="150991" y="5173"/>
                  </a:lnTo>
                  <a:lnTo>
                    <a:pt x="195910" y="0"/>
                  </a:lnTo>
                  <a:lnTo>
                    <a:pt x="2677248" y="0"/>
                  </a:lnTo>
                  <a:lnTo>
                    <a:pt x="2722166" y="5173"/>
                  </a:lnTo>
                  <a:lnTo>
                    <a:pt x="2763392" y="19911"/>
                  </a:lnTo>
                  <a:lnTo>
                    <a:pt x="2799753" y="43036"/>
                  </a:lnTo>
                  <a:lnTo>
                    <a:pt x="2830075" y="73373"/>
                  </a:lnTo>
                  <a:lnTo>
                    <a:pt x="2853186" y="109746"/>
                  </a:lnTo>
                  <a:lnTo>
                    <a:pt x="2867913" y="150979"/>
                  </a:lnTo>
                  <a:lnTo>
                    <a:pt x="2873082" y="195897"/>
                  </a:lnTo>
                  <a:lnTo>
                    <a:pt x="2867913" y="240815"/>
                  </a:lnTo>
                  <a:lnTo>
                    <a:pt x="2853186" y="282050"/>
                  </a:lnTo>
                  <a:lnTo>
                    <a:pt x="2830075" y="318426"/>
                  </a:lnTo>
                  <a:lnTo>
                    <a:pt x="2799753" y="348766"/>
                  </a:lnTo>
                  <a:lnTo>
                    <a:pt x="2763392" y="371893"/>
                  </a:lnTo>
                  <a:lnTo>
                    <a:pt x="2722166" y="386633"/>
                  </a:lnTo>
                  <a:lnTo>
                    <a:pt x="2677248" y="391807"/>
                  </a:lnTo>
                  <a:lnTo>
                    <a:pt x="195910" y="391795"/>
                  </a:lnTo>
                  <a:lnTo>
                    <a:pt x="150991" y="386621"/>
                  </a:lnTo>
                  <a:lnTo>
                    <a:pt x="109756" y="371883"/>
                  </a:lnTo>
                  <a:lnTo>
                    <a:pt x="73381" y="348758"/>
                  </a:lnTo>
                  <a:lnTo>
                    <a:pt x="43041" y="318421"/>
                  </a:lnTo>
                  <a:lnTo>
                    <a:pt x="19913" y="282048"/>
                  </a:lnTo>
                  <a:lnTo>
                    <a:pt x="5174" y="240815"/>
                  </a:lnTo>
                  <a:lnTo>
                    <a:pt x="0" y="195897"/>
                  </a:ln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p46"/>
          <p:cNvSpPr txBox="1"/>
          <p:nvPr/>
        </p:nvSpPr>
        <p:spPr>
          <a:xfrm>
            <a:off x="2603410" y="8151422"/>
            <a:ext cx="35232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</a:rPr>
              <a:t>November </a:t>
            </a: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2025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6"/>
          <p:cNvSpPr txBox="1"/>
          <p:nvPr/>
        </p:nvSpPr>
        <p:spPr>
          <a:xfrm>
            <a:off x="846250" y="3429000"/>
            <a:ext cx="10732800" cy="23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3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Menumbuhkan dan Mengembangkan  Pola Pikir Bertumbuh</a:t>
            </a:r>
            <a:endParaRPr sz="5800" b="1">
              <a:solidFill>
                <a:srgbClr val="FFFFFF"/>
              </a:solidFill>
            </a:endParaRPr>
          </a:p>
        </p:txBody>
      </p:sp>
      <p:pic>
        <p:nvPicPr>
          <p:cNvPr id="255" name="Google Shape;255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0120" y="2198420"/>
            <a:ext cx="8167878" cy="808857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6"/>
          <p:cNvSpPr txBox="1"/>
          <p:nvPr/>
        </p:nvSpPr>
        <p:spPr>
          <a:xfrm>
            <a:off x="1624625" y="782450"/>
            <a:ext cx="5217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Kementerian Pendidikan </a:t>
            </a:r>
            <a:b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Dasar dan Menengah</a:t>
            </a:r>
            <a:endParaRPr sz="2000" b="0" i="0" u="none" strike="noStrike" cap="non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7"/>
          <p:cNvSpPr txBox="1">
            <a:spLocks noGrp="1"/>
          </p:cNvSpPr>
          <p:nvPr>
            <p:ph type="title" idx="4294967295"/>
          </p:nvPr>
        </p:nvSpPr>
        <p:spPr>
          <a:xfrm>
            <a:off x="1838025" y="3729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Daftar </a:t>
            </a:r>
            <a:r>
              <a:rPr lang="en-US" b="1">
                <a:solidFill>
                  <a:srgbClr val="0592D6"/>
                </a:solidFill>
                <a:latin typeface="Poppins"/>
                <a:ea typeface="Poppins"/>
                <a:cs typeface="Poppins"/>
                <a:sym typeface="Poppins"/>
              </a:rPr>
              <a:t>Isi</a:t>
            </a:r>
            <a:endParaRPr b="1">
              <a:solidFill>
                <a:srgbClr val="059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2" name="Google Shape;262;p47"/>
          <p:cNvGrpSpPr/>
          <p:nvPr/>
        </p:nvGrpSpPr>
        <p:grpSpPr>
          <a:xfrm>
            <a:off x="982350" y="4112196"/>
            <a:ext cx="16323300" cy="950016"/>
            <a:chOff x="916400" y="2931298"/>
            <a:chExt cx="16323300" cy="838200"/>
          </a:xfrm>
        </p:grpSpPr>
        <p:sp>
          <p:nvSpPr>
            <p:cNvPr id="263" name="Google Shape;263;p47"/>
            <p:cNvSpPr/>
            <p:nvPr/>
          </p:nvSpPr>
          <p:spPr>
            <a:xfrm>
              <a:off x="916400" y="2931298"/>
              <a:ext cx="16323300" cy="838200"/>
            </a:xfrm>
            <a:prstGeom prst="roundRect">
              <a:avLst>
                <a:gd name="adj" fmla="val 16667"/>
              </a:avLst>
            </a:prstGeom>
            <a:solidFill>
              <a:srgbClr val="EEFB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Fungsi Strategis MAP dalam Pendidikan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4" name="Google Shape;264;p47"/>
            <p:cNvSpPr/>
            <p:nvPr/>
          </p:nvSpPr>
          <p:spPr>
            <a:xfrm>
              <a:off x="1124966" y="3090774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2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65" name="Google Shape;265;p47"/>
          <p:cNvGrpSpPr/>
          <p:nvPr/>
        </p:nvGrpSpPr>
        <p:grpSpPr>
          <a:xfrm>
            <a:off x="982350" y="3121380"/>
            <a:ext cx="16323300" cy="863651"/>
            <a:chOff x="916400" y="2057100"/>
            <a:chExt cx="16323300" cy="762000"/>
          </a:xfrm>
        </p:grpSpPr>
        <p:sp>
          <p:nvSpPr>
            <p:cNvPr id="266" name="Google Shape;266;p47"/>
            <p:cNvSpPr/>
            <p:nvPr/>
          </p:nvSpPr>
          <p:spPr>
            <a:xfrm>
              <a:off x="916400" y="2057100"/>
              <a:ext cx="16323300" cy="762000"/>
            </a:xfrm>
            <a:prstGeom prst="roundRect">
              <a:avLst>
                <a:gd name="adj" fmla="val 16667"/>
              </a:avLst>
            </a:prstGeom>
            <a:solidFill>
              <a:srgbClr val="79CE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Mengenal Mindset Assessment Profile (MAP)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7" name="Google Shape;267;p47"/>
            <p:cNvSpPr/>
            <p:nvPr/>
          </p:nvSpPr>
          <p:spPr>
            <a:xfrm>
              <a:off x="1124966" y="2207955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68" name="Google Shape;26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7"/>
          <p:cNvPicPr preferRelativeResize="0"/>
          <p:nvPr/>
        </p:nvPicPr>
        <p:blipFill rotWithShape="1">
          <a:blip r:embed="rId4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47"/>
          <p:cNvGrpSpPr/>
          <p:nvPr/>
        </p:nvGrpSpPr>
        <p:grpSpPr>
          <a:xfrm>
            <a:off x="0" y="198074"/>
            <a:ext cx="1923749" cy="1495147"/>
            <a:chOff x="-151896" y="-128007"/>
            <a:chExt cx="1282499" cy="996765"/>
          </a:xfrm>
        </p:grpSpPr>
        <p:sp>
          <p:nvSpPr>
            <p:cNvPr id="271" name="Google Shape;271;p47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2" name="Google Shape;272;p47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273" name="Google Shape;273;p4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" name="Google Shape;274;p47"/>
              <p:cNvPicPr preferRelativeResize="0"/>
              <p:nvPr/>
            </p:nvPicPr>
            <p:blipFill rotWithShape="1">
              <a:blip r:embed="rId6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5" name="Google Shape;275;p4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47"/>
          <p:cNvGrpSpPr/>
          <p:nvPr/>
        </p:nvGrpSpPr>
        <p:grpSpPr>
          <a:xfrm>
            <a:off x="982350" y="5207041"/>
            <a:ext cx="16323300" cy="863651"/>
            <a:chOff x="916400" y="2057100"/>
            <a:chExt cx="16323300" cy="762000"/>
          </a:xfrm>
        </p:grpSpPr>
        <p:sp>
          <p:nvSpPr>
            <p:cNvPr id="277" name="Google Shape;277;p47"/>
            <p:cNvSpPr/>
            <p:nvPr/>
          </p:nvSpPr>
          <p:spPr>
            <a:xfrm>
              <a:off x="916400" y="2057100"/>
              <a:ext cx="16323300" cy="762000"/>
            </a:xfrm>
            <a:prstGeom prst="roundRect">
              <a:avLst>
                <a:gd name="adj" fmla="val 16667"/>
              </a:avLst>
            </a:prstGeom>
            <a:solidFill>
              <a:srgbClr val="79CE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9144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4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Cara Bergeser dari Pola Pikir Tetap ke Pola Pikir Bertumbuh</a:t>
              </a:r>
              <a:endParaRPr sz="24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78" name="Google Shape;278;p47"/>
            <p:cNvSpPr/>
            <p:nvPr/>
          </p:nvSpPr>
          <p:spPr>
            <a:xfrm>
              <a:off x="1124966" y="2207955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79" name="Google Shape;279;p47"/>
          <p:cNvGrpSpPr/>
          <p:nvPr/>
        </p:nvGrpSpPr>
        <p:grpSpPr>
          <a:xfrm>
            <a:off x="982350" y="6215590"/>
            <a:ext cx="16323300" cy="950016"/>
            <a:chOff x="916400" y="2931298"/>
            <a:chExt cx="16323300" cy="838200"/>
          </a:xfrm>
        </p:grpSpPr>
        <p:sp>
          <p:nvSpPr>
            <p:cNvPr id="280" name="Google Shape;280;p47"/>
            <p:cNvSpPr/>
            <p:nvPr/>
          </p:nvSpPr>
          <p:spPr>
            <a:xfrm>
              <a:off x="916400" y="2931298"/>
              <a:ext cx="16323300" cy="838200"/>
            </a:xfrm>
            <a:prstGeom prst="roundRect">
              <a:avLst>
                <a:gd name="adj" fmla="val 16667"/>
              </a:avLst>
            </a:prstGeom>
            <a:solidFill>
              <a:srgbClr val="EEFB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Intervensi Pola Pikir Bertumbuh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1" name="Google Shape;281;p47"/>
            <p:cNvSpPr/>
            <p:nvPr/>
          </p:nvSpPr>
          <p:spPr>
            <a:xfrm>
              <a:off x="1124966" y="3090774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4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82" name="Google Shape;282;p47"/>
          <p:cNvGrpSpPr/>
          <p:nvPr/>
        </p:nvGrpSpPr>
        <p:grpSpPr>
          <a:xfrm>
            <a:off x="982350" y="7292716"/>
            <a:ext cx="16323300" cy="863651"/>
            <a:chOff x="916400" y="2057100"/>
            <a:chExt cx="16323300" cy="762000"/>
          </a:xfrm>
        </p:grpSpPr>
        <p:sp>
          <p:nvSpPr>
            <p:cNvPr id="283" name="Google Shape;283;p47"/>
            <p:cNvSpPr/>
            <p:nvPr/>
          </p:nvSpPr>
          <p:spPr>
            <a:xfrm>
              <a:off x="916400" y="2057100"/>
              <a:ext cx="16323300" cy="762000"/>
            </a:xfrm>
            <a:prstGeom prst="roundRect">
              <a:avLst>
                <a:gd name="adj" fmla="val 16667"/>
              </a:avLst>
            </a:prstGeom>
            <a:solidFill>
              <a:srgbClr val="79CE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9144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4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Refleksi: Menumbuhkan dan Mengembangkan Pola Pikir Bertumbuh</a:t>
              </a:r>
              <a:endParaRPr sz="24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4" name="Google Shape;284;p47"/>
            <p:cNvSpPr/>
            <p:nvPr/>
          </p:nvSpPr>
          <p:spPr>
            <a:xfrm>
              <a:off x="1124966" y="2207955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5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8"/>
          <p:cNvSpPr txBox="1"/>
          <p:nvPr/>
        </p:nvSpPr>
        <p:spPr>
          <a:xfrm>
            <a:off x="1803000" y="218350"/>
            <a:ext cx="13095300" cy="11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33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Mengenal Mindset Assessment Profile (MAP)</a:t>
            </a:r>
            <a:endParaRPr sz="33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90" name="Google Shape;290;p48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291" name="Google Shape;291;p48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2" name="Google Shape;292;p48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293" name="Google Shape;293;p4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4" name="Google Shape;294;p48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5" name="Google Shape;295;p4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6" name="Google Shape;296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8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8"/>
          <p:cNvSpPr/>
          <p:nvPr/>
        </p:nvSpPr>
        <p:spPr>
          <a:xfrm>
            <a:off x="378375" y="1895550"/>
            <a:ext cx="17216100" cy="75165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latin typeface="Proxima Nova"/>
                <a:ea typeface="Proxima Nova"/>
                <a:cs typeface="Proxima Nova"/>
                <a:sym typeface="Proxima Nova"/>
              </a:rPr>
              <a:t>MAP adalah instrumen asesmen untuk mengukur kecenderungan seseorang terhadap pola pikir tetap (fixed mindset) atau pola pikir bertumbuh (growth mindset) dalam berbagai konteks kehidupan, khususnya pembelajaran.</a:t>
            </a: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latin typeface="Proxima Nova"/>
                <a:ea typeface="Proxima Nova"/>
                <a:cs typeface="Proxima Nova"/>
                <a:sym typeface="Proxima Nova"/>
              </a:rPr>
              <a:t>Cara Menggunakan MAP</a:t>
            </a: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00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●"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Format: Kuesioner self-report berisi 10 pernyataan (dapat dilihat di modul topik 3)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00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●"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Skala: Likert 1 (Sangat Tidak Setuju) – 5 (Sangat Setuju).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00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●"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Skor hasil: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4000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○"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FF: Fixed mindset pada kemampuan &amp; personaliti.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4000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○"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FG: Fixed pada kemampuan, growth pada personaliti.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4000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○"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GF: Growth pada kemampuan, fixed pada personaliti.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4000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○"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GG: Growth mindset pada keduanya.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/>
        </p:nvSpPr>
        <p:spPr>
          <a:xfrm>
            <a:off x="1803000" y="218350"/>
            <a:ext cx="13095300" cy="11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33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Fungsi Strategis MAP dalam Pendidikan</a:t>
            </a:r>
            <a:endParaRPr sz="33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04" name="Google Shape;304;p49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05" name="Google Shape;305;p49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6" name="Google Shape;306;p49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07" name="Google Shape;307;p4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8" name="Google Shape;308;p49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9" name="Google Shape;309;p4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0" name="Google Shape;310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9"/>
          <p:cNvSpPr/>
          <p:nvPr/>
        </p:nvSpPr>
        <p:spPr>
          <a:xfrm>
            <a:off x="378375" y="1895550"/>
            <a:ext cx="17216100" cy="75165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Proxima Nova"/>
                <a:ea typeface="Proxima Nova"/>
                <a:cs typeface="Proxima Nova"/>
                <a:sym typeface="Proxima Nova"/>
              </a:rPr>
              <a:t>Fungsi MAP dalam menumbuhkan Pola Pikir Bertumbuh Guru adalah sebagai:</a:t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0" indent="-6223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AutoNum type="arabicPeriod"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Refleksi Diri Guru</a:t>
            </a:r>
            <a:b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sz="2600">
                <a:latin typeface="Proxima Nova"/>
                <a:ea typeface="Proxima Nova"/>
                <a:cs typeface="Proxima Nova"/>
                <a:sym typeface="Proxima Nova"/>
              </a:rPr>
              <a:t>Membantu guru mengidentifikasi area fixed mindset dalam dirinya dan mulai menggeser ke growth mindset.</a:t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0" indent="-6223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AutoNum type="arabicPeriod"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Diagnostik Murid</a:t>
            </a:r>
            <a:br>
              <a:rPr lang="en-US" sz="2600"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sz="2600">
                <a:latin typeface="Proxima Nova"/>
                <a:ea typeface="Proxima Nova"/>
                <a:cs typeface="Proxima Nova"/>
                <a:sym typeface="Proxima Nova"/>
              </a:rPr>
              <a:t>Memberi gambaran tentang pola pikir murid di kelas. Misalnya, mengapa ada yang mudah menyerah dan ada yang gigih.</a:t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0" indent="-6223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AutoNum type="arabicPeriod"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Dasar Intervensi</a:t>
            </a:r>
            <a:br>
              <a:rPr lang="en-US" sz="2600"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sz="2600">
                <a:latin typeface="Proxima Nova"/>
                <a:ea typeface="Proxima Nova"/>
                <a:cs typeface="Proxima Nova"/>
                <a:sym typeface="Proxima Nova"/>
              </a:rPr>
              <a:t>Mengetahui murid yang growth di satu bidang tapi fixed di bidang lain, untuk intervensi personal.</a:t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0" indent="-6223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AutoNum type="arabicPeriod"/>
            </a:pPr>
            <a:r>
              <a:rPr lang="en-US" sz="2600" b="1">
                <a:latin typeface="Proxima Nova"/>
                <a:ea typeface="Proxima Nova"/>
                <a:cs typeface="Proxima Nova"/>
                <a:sym typeface="Proxima Nova"/>
              </a:rPr>
              <a:t>Tolak Ukur Perubahan</a:t>
            </a:r>
            <a:br>
              <a:rPr lang="en-US" sz="2600"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-US" sz="2600">
                <a:latin typeface="Proxima Nova"/>
                <a:ea typeface="Proxima Nova"/>
                <a:cs typeface="Proxima Nova"/>
                <a:sym typeface="Proxima Nova"/>
              </a:rPr>
              <a:t>MAP digunakan di awal dan akhir semester untuk melihat perubahan mindset sebagai bagian dari asesmen</a:t>
            </a:r>
            <a:endParaRPr sz="26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0"/>
          <p:cNvSpPr txBox="1"/>
          <p:nvPr/>
        </p:nvSpPr>
        <p:spPr>
          <a:xfrm>
            <a:off x="1803000" y="218350"/>
            <a:ext cx="129987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35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Cara Bergeser dari Pola Pikir Tetap ke Pola Pikir Bertumbuh</a:t>
            </a:r>
            <a:endParaRPr sz="35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18" name="Google Shape;318;p50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19" name="Google Shape;319;p50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" name="Google Shape;320;p50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21" name="Google Shape;321;p5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2" name="Google Shape;322;p50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23" name="Google Shape;323;p5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4" name="Google Shape;324;p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0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0"/>
          <p:cNvSpPr/>
          <p:nvPr/>
        </p:nvSpPr>
        <p:spPr>
          <a:xfrm>
            <a:off x="402025" y="1915500"/>
            <a:ext cx="8040300" cy="60540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Pergeseran bukan perubahan total, tetapi proses bertahap melalui intervensi sadar.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Empat langkah:</a:t>
            </a:r>
            <a:endParaRPr sz="24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	1.	Dengarkan suara dari Fixed Mindset.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	2.	Sadari bahwa kita punya pilihan untuk tumbuh.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	3.	Lawan suara tetap dengan suara bertumbuh.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	4.	Lakukan tindakan nyata sesuai Growth Mindset.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Contoh:</a:t>
            </a:r>
            <a:endParaRPr sz="24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Fixed: “Aku gagal.”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Growth: “Kegagalan adalah bagian dari proses belajar.”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7" name="Google Shape;327;p50"/>
          <p:cNvSpPr/>
          <p:nvPr/>
        </p:nvSpPr>
        <p:spPr>
          <a:xfrm>
            <a:off x="8773525" y="1915500"/>
            <a:ext cx="8902200" cy="60540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latin typeface="Proxima Nova"/>
                <a:ea typeface="Proxima Nova"/>
                <a:cs typeface="Proxima Nova"/>
                <a:sym typeface="Proxima Nova"/>
              </a:rPr>
              <a:t>Cara menumbuhkan Growth Mindset:</a:t>
            </a:r>
            <a:endParaRPr sz="28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Akui dan ubah ketidaksempurnaan jadi kekuatan.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Melihat hambatan sebagai peluang.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Ganti kata gagal menjadi belajar.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Hargai proses, bukan hanya hasil.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Tanamkan kerendahan hati dan berani ambil risiko.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8" name="Google Shape;328;p50"/>
          <p:cNvSpPr/>
          <p:nvPr/>
        </p:nvSpPr>
        <p:spPr>
          <a:xfrm>
            <a:off x="515375" y="8513375"/>
            <a:ext cx="17160300" cy="1126500"/>
          </a:xfrm>
          <a:prstGeom prst="roundRect">
            <a:avLst>
              <a:gd name="adj" fmla="val 17042"/>
            </a:avLst>
          </a:prstGeom>
          <a:gradFill>
            <a:gsLst>
              <a:gs pos="0">
                <a:srgbClr val="FFFFFF">
                  <a:alpha val="80000"/>
                </a:srgbClr>
              </a:gs>
              <a:gs pos="100000">
                <a:srgbClr val="D1E4FD"/>
              </a:gs>
            </a:gsLst>
            <a:lin ang="5400700" scaled="0"/>
          </a:gradFill>
          <a:ln w="9525" cap="flat" cmpd="sng">
            <a:solidFill>
              <a:srgbClr val="D9E7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50800" lvl="0" indent="0" algn="ctr" rtl="0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5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“Menggeser pola pikir akan membuka jalan menuju proses pembelajaran yang bermakna dan menyenangkan.”</a:t>
            </a:r>
            <a:endParaRPr sz="2500" b="1" i="1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1"/>
          <p:cNvSpPr txBox="1"/>
          <p:nvPr/>
        </p:nvSpPr>
        <p:spPr>
          <a:xfrm>
            <a:off x="1803000" y="218350"/>
            <a:ext cx="129987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40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Intervensi Pola Pikir Bertumbuh</a:t>
            </a:r>
            <a:endParaRPr sz="4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34" name="Google Shape;334;p51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35" name="Google Shape;335;p51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" name="Google Shape;336;p51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37" name="Google Shape;337;p5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8" name="Google Shape;338;p51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39" name="Google Shape;339;p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0" name="Google Shape;340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51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1"/>
          <p:cNvSpPr/>
          <p:nvPr/>
        </p:nvSpPr>
        <p:spPr>
          <a:xfrm>
            <a:off x="378375" y="1895550"/>
            <a:ext cx="17452500" cy="74454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Sebagai guru, intervensi tidak hanya fokus pada pencapaian mengajar tetapi juga pada melatih otak murid untuk selalu melihat kesempatan</a:t>
            </a:r>
            <a:endParaRPr sz="2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b="1">
              <a:solidFill>
                <a:srgbClr val="FFD966"/>
              </a:solidFill>
              <a:highlight>
                <a:srgbClr val="263474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>
                <a:solidFill>
                  <a:srgbClr val="FFD966"/>
                </a:solidFill>
                <a:highlight>
                  <a:srgbClr val="263474"/>
                </a:highlight>
                <a:latin typeface="Proxima Nova"/>
                <a:ea typeface="Proxima Nova"/>
                <a:cs typeface="Proxima Nova"/>
                <a:sym typeface="Proxima Nova"/>
              </a:rPr>
              <a:t>Strategi Intervensi </a:t>
            </a:r>
            <a:endParaRPr sz="3200" b="1">
              <a:solidFill>
                <a:srgbClr val="FFD966"/>
              </a:solidFill>
              <a:highlight>
                <a:srgbClr val="263474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●"/>
            </a:pPr>
            <a:r>
              <a:rPr lang="en-US" sz="2700" b="1">
                <a:latin typeface="Proxima Nova"/>
                <a:ea typeface="Proxima Nova"/>
                <a:cs typeface="Proxima Nova"/>
                <a:sym typeface="Proxima Nova"/>
              </a:rPr>
              <a:t>Cognitive Reframing</a:t>
            </a: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Bantu murid mengganti pikiran negatif (misalnya: “Saya tidak bisa”) menjadi positif dan reflektif (“Strategi apa yang belum saya coba?”).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●"/>
            </a:pPr>
            <a:r>
              <a:rPr lang="en-US" sz="2700" b="1">
                <a:latin typeface="Proxima Nova"/>
                <a:ea typeface="Proxima Nova"/>
                <a:cs typeface="Proxima Nova"/>
                <a:sym typeface="Proxima Nova"/>
              </a:rPr>
              <a:t>Problem-Based Learning (PBL) dengan scaffolding</a:t>
            </a: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Berikan tantangan yang didampingi dengan dukungan bertahap.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●"/>
            </a:pPr>
            <a:r>
              <a:rPr lang="en-US" sz="2700" b="1">
                <a:latin typeface="Proxima Nova"/>
                <a:ea typeface="Proxima Nova"/>
                <a:cs typeface="Proxima Nova"/>
                <a:sym typeface="Proxima Nova"/>
              </a:rPr>
              <a:t>Modeling Opportunity-Based Thinking</a:t>
            </a: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Guru memberi contoh berpikir terbuka saat menghadapi masalah.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Font typeface="Proxima Nova"/>
              <a:buChar char="●"/>
            </a:pPr>
            <a:r>
              <a:rPr lang="en-US" sz="2700" b="1">
                <a:latin typeface="Proxima Nova"/>
                <a:ea typeface="Proxima Nova"/>
                <a:cs typeface="Proxima Nova"/>
                <a:sym typeface="Proxima Nova"/>
              </a:rPr>
              <a:t>Penilaian Formatif Berbasis Proses</a:t>
            </a: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Proxima Nova"/>
                <a:ea typeface="Proxima Nova"/>
                <a:cs typeface="Proxima Nova"/>
                <a:sym typeface="Proxima Nova"/>
              </a:rPr>
              <a:t>Fokus pada proses, bukan hasil akhir. Gunakan umpan balik spesifik untuk dorong perbaikan dan belajar dari kesalahan.</a:t>
            </a:r>
            <a:endParaRPr sz="27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2"/>
          <p:cNvSpPr txBox="1"/>
          <p:nvPr/>
        </p:nvSpPr>
        <p:spPr>
          <a:xfrm>
            <a:off x="1803000" y="218350"/>
            <a:ext cx="129987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40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Intervensi Pola Pikir Bertumbuh</a:t>
            </a:r>
            <a:endParaRPr sz="4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48" name="Google Shape;348;p52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49" name="Google Shape;349;p52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52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51" name="Google Shape;351;p5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2" name="Google Shape;352;p52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3" name="Google Shape;353;p5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4" name="Google Shape;354;p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52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2"/>
          <p:cNvSpPr/>
          <p:nvPr/>
        </p:nvSpPr>
        <p:spPr>
          <a:xfrm>
            <a:off x="378375" y="1895550"/>
            <a:ext cx="17452500" cy="74454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b="1">
                <a:solidFill>
                  <a:srgbClr val="FFD966"/>
                </a:solidFill>
                <a:highlight>
                  <a:srgbClr val="263474"/>
                </a:highlight>
                <a:latin typeface="Proxima Nova"/>
                <a:ea typeface="Proxima Nova"/>
                <a:cs typeface="Proxima Nova"/>
                <a:sym typeface="Proxima Nova"/>
              </a:rPr>
              <a:t>Sebagai Guru, </a:t>
            </a:r>
            <a:endParaRPr sz="3200" b="1">
              <a:solidFill>
                <a:srgbClr val="FFD966"/>
              </a:solidFill>
              <a:highlight>
                <a:srgbClr val="263474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Dorong murid mencoba kembali saat gagal.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Puji usaha dan proses, bukan hasil atau identitas.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Tanamkan bahwa tantangan adalah bagian dari belajar.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Tekankan bahwa kesalahan adalah tanda otak berkembang, bukan kelemahan.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1">
                <a:latin typeface="Proxima Nova"/>
                <a:ea typeface="Proxima Nova"/>
                <a:cs typeface="Proxima Nova"/>
                <a:sym typeface="Proxima Nova"/>
              </a:rPr>
              <a:t>Guru adalah penuntun bagi murid untuk naik dari satu anak tangga ke anak tangga berikutnya menuju kesuksesan.</a:t>
            </a:r>
            <a:endParaRPr sz="3200" b="1" i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 txBox="1"/>
          <p:nvPr/>
        </p:nvSpPr>
        <p:spPr>
          <a:xfrm>
            <a:off x="1803000" y="218350"/>
            <a:ext cx="129987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32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Refleksi: Menumbuhkan dan Mengembangkan Pola Pikir Bertumbuh</a:t>
            </a:r>
            <a:endParaRPr sz="3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62" name="Google Shape;362;p53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63" name="Google Shape;363;p53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53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65" name="Google Shape;365;p5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66" name="Google Shape;366;p53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67" name="Google Shape;367;p5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8" name="Google Shape;368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53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3"/>
          <p:cNvSpPr/>
          <p:nvPr/>
        </p:nvSpPr>
        <p:spPr>
          <a:xfrm>
            <a:off x="378375" y="1655375"/>
            <a:ext cx="17357700" cy="79695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Proxima Nova"/>
                <a:ea typeface="Proxima Nova"/>
                <a:cs typeface="Proxima Nova"/>
                <a:sym typeface="Proxima Nova"/>
              </a:rPr>
              <a:t>Tanyakan hal ini:</a:t>
            </a:r>
            <a:endParaRPr sz="28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Apakah saya sudah menerapkan pola pikir bertumbuh dalam keseharian saya sebagai calon pendidik?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Kapan terakhir kali saya melihat tantangan sebagai peluang belajar, bukan hambatan?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Bagaimana saya merespons kegagalan atau kesalahan murid—sebagai akhir atau proses tumbuh?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Apa langkah konkret yang bisa saya ambil minggu ini untuk menumbuhkan pola pikir bertumbuh di kelas saya?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1" name="Google Shape;371;p53"/>
          <p:cNvSpPr/>
          <p:nvPr/>
        </p:nvSpPr>
        <p:spPr>
          <a:xfrm>
            <a:off x="8347850" y="6053950"/>
            <a:ext cx="9388200" cy="3239700"/>
          </a:xfrm>
          <a:prstGeom prst="rect">
            <a:avLst/>
          </a:prstGeom>
          <a:solidFill>
            <a:srgbClr val="5390C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MARI LAKUKAN</a:t>
            </a:r>
            <a:endParaRPr sz="24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Silakan kerjakan bagian </a:t>
            </a:r>
            <a:r>
              <a:rPr lang="en-US" sz="2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Kegiatan Pembelajaran</a:t>
            </a: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dan </a:t>
            </a:r>
            <a:r>
              <a:rPr lang="en-US" sz="2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Lembar Kerja</a:t>
            </a: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yang tersedia dalam Modul Topik 3. Gunakan pengalaman pribadi Anda sebagai calon guru untuk menjawab dengan reflektif Kegiatan ini akan membantu Anda menerapkan konsep Growth Mindset dalam praktik pembelajaran.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4"/>
          <p:cNvSpPr txBox="1">
            <a:spLocks noGrp="1"/>
          </p:cNvSpPr>
          <p:nvPr>
            <p:ph type="ctrTitle" idx="4294967295"/>
          </p:nvPr>
        </p:nvSpPr>
        <p:spPr>
          <a:xfrm>
            <a:off x="1067950" y="3090900"/>
            <a:ext cx="76104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8000"/>
              <a:buFont typeface="Open Sans ExtraBold"/>
              <a:buNone/>
            </a:pPr>
            <a:r>
              <a:rPr lang="en-US" sz="12000" b="1" i="0" u="none" strike="noStrike" cap="none"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Terima</a:t>
            </a:r>
            <a:endParaRPr sz="12000" b="1" i="0" u="none" strike="noStrike" cap="none">
              <a:solidFill>
                <a:srgbClr val="344EAC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8000"/>
              <a:buFont typeface="Open Sans ExtraBold"/>
              <a:buNone/>
            </a:pPr>
            <a:r>
              <a:rPr lang="en-US" sz="12000" b="1" i="0" u="none" strike="noStrike" cap="none"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Kasih</a:t>
            </a:r>
            <a:endParaRPr sz="12000" b="1" i="0" u="none" strike="noStrike" cap="none">
              <a:solidFill>
                <a:srgbClr val="344EAC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77" name="Google Shape;377;p54"/>
          <p:cNvSpPr/>
          <p:nvPr/>
        </p:nvSpPr>
        <p:spPr>
          <a:xfrm>
            <a:off x="18150" y="8608775"/>
            <a:ext cx="18288000" cy="1678200"/>
          </a:xfrm>
          <a:prstGeom prst="rect">
            <a:avLst/>
          </a:prstGeom>
          <a:solidFill>
            <a:srgbClr val="D4E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4"/>
          <p:cNvSpPr txBox="1"/>
          <p:nvPr/>
        </p:nvSpPr>
        <p:spPr>
          <a:xfrm>
            <a:off x="1020900" y="31350"/>
            <a:ext cx="5217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83C92"/>
                </a:solidFill>
                <a:latin typeface="Lato Black"/>
                <a:ea typeface="Lato Black"/>
                <a:cs typeface="Lato Black"/>
                <a:sym typeface="Lato Black"/>
              </a:rPr>
              <a:t>Kementerian Pendidikan </a:t>
            </a:r>
            <a:br>
              <a:rPr lang="en-US" sz="2000" b="0" i="0" u="none" strike="noStrike" cap="none">
                <a:solidFill>
                  <a:srgbClr val="083C9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en-US" sz="2000" b="0" i="0" u="none" strike="noStrike" cap="none">
                <a:solidFill>
                  <a:srgbClr val="083C92"/>
                </a:solidFill>
                <a:latin typeface="Lato Black"/>
                <a:ea typeface="Lato Black"/>
                <a:cs typeface="Lato Black"/>
                <a:sym typeface="Lato Black"/>
              </a:rPr>
              <a:t>Dasar dan Menengah</a:t>
            </a:r>
            <a:endParaRPr sz="2000" b="0" i="0" u="none" strike="noStrike" cap="none">
              <a:solidFill>
                <a:srgbClr val="083C9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79" name="Google Shape;37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248" y="163600"/>
            <a:ext cx="711647" cy="720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4"/>
          <p:cNvPicPr preferRelativeResize="0"/>
          <p:nvPr/>
        </p:nvPicPr>
        <p:blipFill rotWithShape="1">
          <a:blip r:embed="rId5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21076" y="628850"/>
            <a:ext cx="8986849" cy="898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6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Microsoft Office PowerPoint</Application>
  <PresentationFormat>Custom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Lato Black</vt:lpstr>
      <vt:lpstr>Plus Jakarta Sans</vt:lpstr>
      <vt:lpstr>Lato</vt:lpstr>
      <vt:lpstr>Calibri</vt:lpstr>
      <vt:lpstr>Arial</vt:lpstr>
      <vt:lpstr>Open Sans</vt:lpstr>
      <vt:lpstr>Poppins</vt:lpstr>
      <vt:lpstr>Nunito Sans SemiBold</vt:lpstr>
      <vt:lpstr>Open Sans ExtraBold</vt:lpstr>
      <vt:lpstr>Proxima Nova</vt:lpstr>
      <vt:lpstr>Office Theme</vt:lpstr>
      <vt:lpstr>Office Theme</vt:lpstr>
      <vt:lpstr>Simple Light</vt:lpstr>
      <vt:lpstr>PowerPoint Presentation</vt:lpstr>
      <vt:lpstr>PowerPoint Presentation</vt:lpstr>
      <vt:lpstr>Daftar Isi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Jajang Kusnendar</dc:creator>
  <cp:lastModifiedBy>Jajang Kusnendar</cp:lastModifiedBy>
  <cp:revision>1</cp:revision>
  <dcterms:modified xsi:type="dcterms:W3CDTF">2026-01-29T00:27:15Z</dcterms:modified>
</cp:coreProperties>
</file>