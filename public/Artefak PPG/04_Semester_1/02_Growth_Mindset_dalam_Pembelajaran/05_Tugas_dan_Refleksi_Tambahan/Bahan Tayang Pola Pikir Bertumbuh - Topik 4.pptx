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0" r:id="rId2"/>
    <p:sldMasterId id="2147483691"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8288000" cy="10287000"/>
  <p:notesSz cx="6858000" cy="9144000"/>
  <p:embeddedFontLst>
    <p:embeddedFont>
      <p:font typeface="Lato" panose="020F0502020204030203" pitchFamily="34" charset="0"/>
      <p:regular r:id="rId18"/>
      <p:bold r:id="rId19"/>
      <p:italic r:id="rId20"/>
      <p:boldItalic r:id="rId21"/>
    </p:embeddedFont>
    <p:embeddedFont>
      <p:font typeface="Lato Black" panose="020F0502020204030203" pitchFamily="34" charset="0"/>
      <p:bold r:id="rId22"/>
      <p:boldItalic r:id="rId23"/>
    </p:embeddedFont>
    <p:embeddedFont>
      <p:font typeface="Nunito Sans SemiBold" pitchFamily="2"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Open Sans ExtraBold" panose="020B0906030804020204" pitchFamily="34" charset="0"/>
      <p:bold r:id="rId32"/>
      <p:boldItalic r:id="rId33"/>
    </p:embeddedFont>
    <p:embeddedFont>
      <p:font typeface="Plus Jakarta Sans" panose="020B0604020202020204" charset="0"/>
      <p:regular r:id="rId34"/>
      <p:bold r:id="rId35"/>
      <p:italic r:id="rId36"/>
      <p:boldItalic r:id="rId37"/>
    </p:embeddedFont>
    <p:embeddedFont>
      <p:font typeface="Poppins" panose="00000500000000000000" pitchFamily="2" charset="0"/>
      <p:regular r:id="rId38"/>
      <p:bold r:id="rId39"/>
      <p:italic r:id="rId40"/>
      <p:boldItalic r:id="rId41"/>
    </p:embeddedFont>
    <p:embeddedFont>
      <p:font typeface="Proxima Nova"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94CBD2-88F1-45E5-8712-BB8CF13EEFA4}">
  <a:tblStyle styleId="{F394CBD2-88F1-45E5-8712-BB8CF13EEFA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37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font" Target="fonts/font25.fntdata"/><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2.fntdata"/><Relationship Id="rId11" Type="http://schemas.openxmlformats.org/officeDocument/2006/relationships/slide" Target="slides/slide8.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45" Type="http://schemas.openxmlformats.org/officeDocument/2006/relationships/font" Target="fonts/font2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font" Target="fonts/font2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font" Target="fonts/font26.fntdata"/><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schemas.openxmlformats.org/officeDocument/2006/relationships/presProps" Target="presProps.xml"/><Relationship Id="rId20" Type="http://schemas.openxmlformats.org/officeDocument/2006/relationships/font" Target="fonts/font3.fntdata"/><Relationship Id="rId41"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343378"/>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48" name="Google Shape;248;p2:notes"/>
          <p:cNvSpPr>
            <a:spLocks noGrp="1" noRot="1" noChangeAspect="1"/>
          </p:cNvSpPr>
          <p:nvPr>
            <p:ph type="sldImg" idx="2"/>
          </p:nvPr>
        </p:nvSpPr>
        <p:spPr>
          <a:xfrm>
            <a:off x="1143225" y="685778"/>
            <a:ext cx="4572300" cy="3428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7ee23129e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a7ee23129e_0_3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05d3515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a805d3515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a805d3515b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3a805d3515b_0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a805d3515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8" name="Google Shape;328;g3a805d3515b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a805d3515b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a805d3515b_0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a805d3515b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g3a805d3515b_0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a805d3515b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3a805d3515b_0_1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a805d3515b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3a805d3515b_0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a805d3515b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g3a805d3515b_0_3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a805d3515b_0_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6" name="Google Shape;426;g3a805d3515b_0_4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a49b9c0f54_0_3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2" name="Google Shape;442;g3a49b9c0f54_0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OBJECT" type="obj">
  <p:cSld name="OBJECT">
    <p:bg>
      <p:bgPr>
        <a:solidFill>
          <a:schemeClr val="lt1"/>
        </a:solidFill>
        <a:effectLst/>
      </p:bgPr>
    </p:bg>
    <p:spTree>
      <p:nvGrpSpPr>
        <p:cNvPr id="1" name="Shape 86"/>
        <p:cNvGrpSpPr/>
        <p:nvPr/>
      </p:nvGrpSpPr>
      <p:grpSpPr>
        <a:xfrm>
          <a:off x="0" y="0"/>
          <a:ext cx="0" cy="0"/>
          <a:chOff x="0" y="0"/>
          <a:chExt cx="0" cy="0"/>
        </a:xfrm>
      </p:grpSpPr>
      <p:sp>
        <p:nvSpPr>
          <p:cNvPr id="87" name="Google Shape;87;p14"/>
          <p:cNvSpPr/>
          <p:nvPr/>
        </p:nvSpPr>
        <p:spPr>
          <a:xfrm>
            <a:off x="0" y="0"/>
            <a:ext cx="18288000" cy="7689850"/>
          </a:xfrm>
          <a:custGeom>
            <a:avLst/>
            <a:gdLst/>
            <a:ahLst/>
            <a:cxnLst/>
            <a:rect l="l" t="t" r="r" b="b"/>
            <a:pathLst>
              <a:path w="9144000" h="3844925" extrusionOk="0">
                <a:moveTo>
                  <a:pt x="0" y="3844897"/>
                </a:moveTo>
                <a:lnTo>
                  <a:pt x="9144000" y="3844897"/>
                </a:lnTo>
                <a:lnTo>
                  <a:pt x="9144000" y="0"/>
                </a:lnTo>
                <a:lnTo>
                  <a:pt x="0" y="0"/>
                </a:lnTo>
                <a:lnTo>
                  <a:pt x="0" y="3844897"/>
                </a:lnTo>
                <a:close/>
              </a:path>
            </a:pathLst>
          </a:custGeom>
          <a:solidFill>
            <a:srgbClr val="3078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88" name="Google Shape;88;p14"/>
          <p:cNvSpPr/>
          <p:nvPr/>
        </p:nvSpPr>
        <p:spPr>
          <a:xfrm>
            <a:off x="98" y="7689794"/>
            <a:ext cx="18288000" cy="2598420"/>
          </a:xfrm>
          <a:custGeom>
            <a:avLst/>
            <a:gdLst/>
            <a:ahLst/>
            <a:cxnLst/>
            <a:rect l="l" t="t" r="r" b="b"/>
            <a:pathLst>
              <a:path w="9144000" h="1299210" extrusionOk="0">
                <a:moveTo>
                  <a:pt x="9144000" y="0"/>
                </a:moveTo>
                <a:lnTo>
                  <a:pt x="0" y="0"/>
                </a:lnTo>
                <a:lnTo>
                  <a:pt x="0" y="1298702"/>
                </a:lnTo>
                <a:lnTo>
                  <a:pt x="9144000" y="1298702"/>
                </a:lnTo>
                <a:lnTo>
                  <a:pt x="9144000" y="0"/>
                </a:lnTo>
                <a:close/>
              </a:path>
            </a:pathLst>
          </a:custGeom>
          <a:solidFill>
            <a:srgbClr val="034DC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pic>
        <p:nvPicPr>
          <p:cNvPr id="89" name="Google Shape;89;p14"/>
          <p:cNvPicPr preferRelativeResize="0"/>
          <p:nvPr/>
        </p:nvPicPr>
        <p:blipFill rotWithShape="1">
          <a:blip r:embed="rId2">
            <a:alphaModFix/>
          </a:blip>
          <a:srcRect/>
          <a:stretch/>
        </p:blipFill>
        <p:spPr>
          <a:xfrm>
            <a:off x="698092" y="729740"/>
            <a:ext cx="980186" cy="993648"/>
          </a:xfrm>
          <a:prstGeom prst="rect">
            <a:avLst/>
          </a:prstGeom>
          <a:noFill/>
          <a:ln>
            <a:noFill/>
          </a:ln>
        </p:spPr>
      </p:pic>
      <p:sp>
        <p:nvSpPr>
          <p:cNvPr id="90" name="Google Shape;90;p14"/>
          <p:cNvSpPr txBox="1">
            <a:spLocks noGrp="1"/>
          </p:cNvSpPr>
          <p:nvPr>
            <p:ph type="ctrTitle"/>
          </p:nvPr>
        </p:nvSpPr>
        <p:spPr>
          <a:xfrm>
            <a:off x="1383384" y="2465324"/>
            <a:ext cx="15521400" cy="3323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b="0" i="0">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1" name="Google Shape;91;p14"/>
          <p:cNvSpPr txBox="1">
            <a:spLocks noGrp="1"/>
          </p:cNvSpPr>
          <p:nvPr>
            <p:ph type="subTitle" idx="1"/>
          </p:nvPr>
        </p:nvSpPr>
        <p:spPr>
          <a:xfrm>
            <a:off x="2743200" y="5760720"/>
            <a:ext cx="12801600" cy="2571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4"/>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3" name="Google Shape;93;p14"/>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4" name="Google Shape;94;p14"/>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623400" y="697400"/>
            <a:ext cx="17041200" cy="1145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44EAC"/>
              </a:buClr>
              <a:buSzPts val="2800"/>
              <a:buFont typeface="Open Sans ExtraBold"/>
              <a:buNone/>
              <a:defRPr>
                <a:solidFill>
                  <a:srgbClr val="344EAC"/>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2800"/>
              <a:buFont typeface="Open Sans"/>
              <a:buNone/>
              <a:defRPr>
                <a:latin typeface="Open Sans"/>
                <a:ea typeface="Open Sans"/>
                <a:cs typeface="Open Sans"/>
                <a:sym typeface="Open Sans"/>
              </a:defRPr>
            </a:lvl2pPr>
            <a:lvl3pPr lvl="2" algn="l">
              <a:lnSpc>
                <a:spcPct val="100000"/>
              </a:lnSpc>
              <a:spcBef>
                <a:spcPts val="0"/>
              </a:spcBef>
              <a:spcAft>
                <a:spcPts val="0"/>
              </a:spcAft>
              <a:buSzPts val="2800"/>
              <a:buFont typeface="Open Sans"/>
              <a:buNone/>
              <a:defRPr>
                <a:latin typeface="Open Sans"/>
                <a:ea typeface="Open Sans"/>
                <a:cs typeface="Open Sans"/>
                <a:sym typeface="Open Sans"/>
              </a:defRPr>
            </a:lvl3pPr>
            <a:lvl4pPr lvl="3" algn="l">
              <a:lnSpc>
                <a:spcPct val="100000"/>
              </a:lnSpc>
              <a:spcBef>
                <a:spcPts val="0"/>
              </a:spcBef>
              <a:spcAft>
                <a:spcPts val="0"/>
              </a:spcAft>
              <a:buSzPts val="2800"/>
              <a:buFont typeface="Open Sans"/>
              <a:buNone/>
              <a:defRPr>
                <a:latin typeface="Open Sans"/>
                <a:ea typeface="Open Sans"/>
                <a:cs typeface="Open Sans"/>
                <a:sym typeface="Open Sans"/>
              </a:defRPr>
            </a:lvl4pPr>
            <a:lvl5pPr lvl="4" algn="l">
              <a:lnSpc>
                <a:spcPct val="100000"/>
              </a:lnSpc>
              <a:spcBef>
                <a:spcPts val="0"/>
              </a:spcBef>
              <a:spcAft>
                <a:spcPts val="0"/>
              </a:spcAft>
              <a:buSzPts val="2800"/>
              <a:buFont typeface="Open Sans"/>
              <a:buNone/>
              <a:defRPr>
                <a:latin typeface="Open Sans"/>
                <a:ea typeface="Open Sans"/>
                <a:cs typeface="Open Sans"/>
                <a:sym typeface="Open Sans"/>
              </a:defRPr>
            </a:lvl5pPr>
            <a:lvl6pPr lvl="5" algn="l">
              <a:lnSpc>
                <a:spcPct val="100000"/>
              </a:lnSpc>
              <a:spcBef>
                <a:spcPts val="0"/>
              </a:spcBef>
              <a:spcAft>
                <a:spcPts val="0"/>
              </a:spcAft>
              <a:buSzPts val="2800"/>
              <a:buFont typeface="Open Sans"/>
              <a:buNone/>
              <a:defRPr>
                <a:latin typeface="Open Sans"/>
                <a:ea typeface="Open Sans"/>
                <a:cs typeface="Open Sans"/>
                <a:sym typeface="Open Sans"/>
              </a:defRPr>
            </a:lvl6pPr>
            <a:lvl7pPr lvl="6" algn="l">
              <a:lnSpc>
                <a:spcPct val="100000"/>
              </a:lnSpc>
              <a:spcBef>
                <a:spcPts val="0"/>
              </a:spcBef>
              <a:spcAft>
                <a:spcPts val="0"/>
              </a:spcAft>
              <a:buSzPts val="2800"/>
              <a:buFont typeface="Open Sans"/>
              <a:buNone/>
              <a:defRPr>
                <a:latin typeface="Open Sans"/>
                <a:ea typeface="Open Sans"/>
                <a:cs typeface="Open Sans"/>
                <a:sym typeface="Open Sans"/>
              </a:defRPr>
            </a:lvl7pPr>
            <a:lvl8pPr lvl="7" algn="l">
              <a:lnSpc>
                <a:spcPct val="100000"/>
              </a:lnSpc>
              <a:spcBef>
                <a:spcPts val="0"/>
              </a:spcBef>
              <a:spcAft>
                <a:spcPts val="0"/>
              </a:spcAft>
              <a:buSzPts val="2800"/>
              <a:buFont typeface="Open Sans"/>
              <a:buNone/>
              <a:defRPr>
                <a:latin typeface="Open Sans"/>
                <a:ea typeface="Open Sans"/>
                <a:cs typeface="Open Sans"/>
                <a:sym typeface="Open Sans"/>
              </a:defRPr>
            </a:lvl8pPr>
            <a:lvl9pPr lvl="8" algn="l">
              <a:lnSpc>
                <a:spcPct val="100000"/>
              </a:lnSpc>
              <a:spcBef>
                <a:spcPts val="0"/>
              </a:spcBef>
              <a:spcAft>
                <a:spcPts val="0"/>
              </a:spcAft>
              <a:buSzPts val="2800"/>
              <a:buFont typeface="Open Sans"/>
              <a:buNone/>
              <a:defRPr>
                <a:latin typeface="Open Sans"/>
                <a:ea typeface="Open Sans"/>
                <a:cs typeface="Open Sans"/>
                <a:sym typeface="Open Sans"/>
              </a:defRPr>
            </a:lvl9pPr>
          </a:lstStyle>
          <a:p>
            <a:endParaRPr/>
          </a:p>
        </p:txBody>
      </p:sp>
      <p:sp>
        <p:nvSpPr>
          <p:cNvPr id="97" name="Google Shape;97;p15"/>
          <p:cNvSpPr txBox="1">
            <a:spLocks noGrp="1"/>
          </p:cNvSpPr>
          <p:nvPr>
            <p:ph type="body" idx="1"/>
          </p:nvPr>
        </p:nvSpPr>
        <p:spPr>
          <a:xfrm>
            <a:off x="623400" y="2304950"/>
            <a:ext cx="17041200" cy="6832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800"/>
              <a:buFont typeface="Open Sans"/>
              <a:buNone/>
              <a:defRPr>
                <a:latin typeface="Open Sans"/>
                <a:ea typeface="Open Sans"/>
                <a:cs typeface="Open Sans"/>
                <a:sym typeface="Open Sans"/>
              </a:defRPr>
            </a:lvl1pPr>
            <a:lvl2pPr marL="914400" lvl="1" indent="-228600" algn="l">
              <a:lnSpc>
                <a:spcPct val="100000"/>
              </a:lnSpc>
              <a:spcBef>
                <a:spcPts val="0"/>
              </a:spcBef>
              <a:spcAft>
                <a:spcPts val="0"/>
              </a:spcAft>
              <a:buSzPts val="2800"/>
              <a:buFont typeface="Open Sans"/>
              <a:buNone/>
              <a:defRPr>
                <a:latin typeface="Open Sans"/>
                <a:ea typeface="Open Sans"/>
                <a:cs typeface="Open Sans"/>
                <a:sym typeface="Open Sans"/>
              </a:defRPr>
            </a:lvl2pPr>
            <a:lvl3pPr marL="1371600" lvl="2" indent="-228600" algn="l">
              <a:lnSpc>
                <a:spcPct val="100000"/>
              </a:lnSpc>
              <a:spcBef>
                <a:spcPts val="0"/>
              </a:spcBef>
              <a:spcAft>
                <a:spcPts val="0"/>
              </a:spcAft>
              <a:buSzPts val="2800"/>
              <a:buFont typeface="Open Sans"/>
              <a:buNone/>
              <a:defRPr>
                <a:latin typeface="Open Sans"/>
                <a:ea typeface="Open Sans"/>
                <a:cs typeface="Open Sans"/>
                <a:sym typeface="Open Sans"/>
              </a:defRPr>
            </a:lvl3pPr>
            <a:lvl4pPr marL="1828800" lvl="3" indent="-228600" algn="l">
              <a:lnSpc>
                <a:spcPct val="100000"/>
              </a:lnSpc>
              <a:spcBef>
                <a:spcPts val="0"/>
              </a:spcBef>
              <a:spcAft>
                <a:spcPts val="0"/>
              </a:spcAft>
              <a:buSzPts val="2800"/>
              <a:buFont typeface="Open Sans"/>
              <a:buNone/>
              <a:defRPr>
                <a:latin typeface="Open Sans"/>
                <a:ea typeface="Open Sans"/>
                <a:cs typeface="Open Sans"/>
                <a:sym typeface="Open Sans"/>
              </a:defRPr>
            </a:lvl4pPr>
            <a:lvl5pPr marL="2286000" lvl="4" indent="-228600" algn="l">
              <a:lnSpc>
                <a:spcPct val="100000"/>
              </a:lnSpc>
              <a:spcBef>
                <a:spcPts val="0"/>
              </a:spcBef>
              <a:spcAft>
                <a:spcPts val="0"/>
              </a:spcAft>
              <a:buSzPts val="2800"/>
              <a:buFont typeface="Open Sans"/>
              <a:buNone/>
              <a:defRPr>
                <a:latin typeface="Open Sans"/>
                <a:ea typeface="Open Sans"/>
                <a:cs typeface="Open Sans"/>
                <a:sym typeface="Open Sans"/>
              </a:defRPr>
            </a:lvl5pPr>
            <a:lvl6pPr marL="2743200" lvl="5" indent="-228600" algn="l">
              <a:lnSpc>
                <a:spcPct val="100000"/>
              </a:lnSpc>
              <a:spcBef>
                <a:spcPts val="0"/>
              </a:spcBef>
              <a:spcAft>
                <a:spcPts val="0"/>
              </a:spcAft>
              <a:buSzPts val="2800"/>
              <a:buFont typeface="Open Sans"/>
              <a:buNone/>
              <a:defRPr>
                <a:latin typeface="Open Sans"/>
                <a:ea typeface="Open Sans"/>
                <a:cs typeface="Open Sans"/>
                <a:sym typeface="Open Sans"/>
              </a:defRPr>
            </a:lvl6pPr>
            <a:lvl7pPr marL="3200400" lvl="6" indent="-228600" algn="l">
              <a:lnSpc>
                <a:spcPct val="100000"/>
              </a:lnSpc>
              <a:spcBef>
                <a:spcPts val="0"/>
              </a:spcBef>
              <a:spcAft>
                <a:spcPts val="0"/>
              </a:spcAft>
              <a:buSzPts val="2800"/>
              <a:buFont typeface="Open Sans"/>
              <a:buNone/>
              <a:defRPr>
                <a:latin typeface="Open Sans"/>
                <a:ea typeface="Open Sans"/>
                <a:cs typeface="Open Sans"/>
                <a:sym typeface="Open Sans"/>
              </a:defRPr>
            </a:lvl7pPr>
            <a:lvl8pPr marL="3657600" lvl="7" indent="-228600" algn="l">
              <a:lnSpc>
                <a:spcPct val="100000"/>
              </a:lnSpc>
              <a:spcBef>
                <a:spcPts val="0"/>
              </a:spcBef>
              <a:spcAft>
                <a:spcPts val="0"/>
              </a:spcAft>
              <a:buSzPts val="2800"/>
              <a:buFont typeface="Open Sans"/>
              <a:buNone/>
              <a:defRPr>
                <a:latin typeface="Open Sans"/>
                <a:ea typeface="Open Sans"/>
                <a:cs typeface="Open Sans"/>
                <a:sym typeface="Open Sans"/>
              </a:defRPr>
            </a:lvl8pPr>
            <a:lvl9pPr marL="4114800" lvl="8" indent="-228600" algn="l">
              <a:lnSpc>
                <a:spcPct val="100000"/>
              </a:lnSpc>
              <a:spcBef>
                <a:spcPts val="0"/>
              </a:spcBef>
              <a:spcAft>
                <a:spcPts val="0"/>
              </a:spcAft>
              <a:buSzPts val="2800"/>
              <a:buFont typeface="Open Sans"/>
              <a:buNone/>
              <a:defRPr>
                <a:latin typeface="Open Sans"/>
                <a:ea typeface="Open Sans"/>
                <a:cs typeface="Open Sans"/>
                <a:sym typeface="Open Sans"/>
              </a:defRPr>
            </a:lvl9pPr>
          </a:lstStyle>
          <a:p>
            <a:endParaRPr/>
          </a:p>
        </p:txBody>
      </p:sp>
      <p:sp>
        <p:nvSpPr>
          <p:cNvPr id="98" name="Google Shape;98;p15"/>
          <p:cNvSpPr txBox="1"/>
          <p:nvPr/>
        </p:nvSpPr>
        <p:spPr>
          <a:xfrm>
            <a:off x="10355900" y="9733950"/>
            <a:ext cx="76698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Kebudayaan, Riset, dan Teknologi</a:t>
            </a:r>
            <a:endParaRPr sz="1800" b="0" i="0" u="none" strike="noStrike" cap="none">
              <a:solidFill>
                <a:srgbClr val="344EAC"/>
              </a:solidFill>
              <a:latin typeface="Open Sans"/>
              <a:ea typeface="Open Sans"/>
              <a:cs typeface="Open Sans"/>
              <a:sym typeface="Open Sans"/>
            </a:endParaRPr>
          </a:p>
        </p:txBody>
      </p:sp>
      <p:pic>
        <p:nvPicPr>
          <p:cNvPr id="99" name="Google Shape;99;p15" descr="Google Shape;12;p5"/>
          <p:cNvPicPr preferRelativeResize="0"/>
          <p:nvPr/>
        </p:nvPicPr>
        <p:blipFill rotWithShape="1">
          <a:blip r:embed="rId2">
            <a:alphaModFix/>
          </a:blip>
          <a:srcRect l="18919" t="10" r="12234" b="-10"/>
          <a:stretch/>
        </p:blipFill>
        <p:spPr>
          <a:xfrm>
            <a:off x="11215900" y="9770926"/>
            <a:ext cx="299000" cy="3070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2" name="Google Shape;102;p16"/>
          <p:cNvSpPr txBox="1">
            <a:spLocks noGrp="1"/>
          </p:cNvSpPr>
          <p:nvPr>
            <p:ph type="body" idx="1"/>
          </p:nvPr>
        </p:nvSpPr>
        <p:spPr>
          <a:xfrm>
            <a:off x="1313434" y="3871976"/>
            <a:ext cx="15661200" cy="2622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sz="2400" b="1" i="0">
                <a:solidFill>
                  <a:srgbClr val="CFF3FB"/>
                </a:solidFill>
                <a:latin typeface="Arial"/>
                <a:ea typeface="Arial"/>
                <a:cs typeface="Arial"/>
                <a:sym typeface="Arial"/>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03" name="Google Shape;103;p16"/>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4" name="Google Shape;104;p16"/>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5" name="Google Shape;105;p16"/>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8" name="Google Shape;108;p17"/>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17"/>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0" name="Google Shape;110;p17"/>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6000" b="1" i="0">
                <a:solidFill>
                  <a:srgbClr val="1C458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3" name="Google Shape;113;p18"/>
          <p:cNvSpPr txBox="1">
            <a:spLocks noGrp="1"/>
          </p:cNvSpPr>
          <p:nvPr>
            <p:ph type="body" idx="1"/>
          </p:nvPr>
        </p:nvSpPr>
        <p:spPr>
          <a:xfrm>
            <a:off x="914400" y="2366010"/>
            <a:ext cx="7955400" cy="6789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14" name="Google Shape;114;p18"/>
          <p:cNvSpPr txBox="1">
            <a:spLocks noGrp="1"/>
          </p:cNvSpPr>
          <p:nvPr>
            <p:ph type="body" idx="2"/>
          </p:nvPr>
        </p:nvSpPr>
        <p:spPr>
          <a:xfrm>
            <a:off x="9418320" y="2366010"/>
            <a:ext cx="7955400" cy="67896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2800"/>
              <a:buNone/>
              <a:defRPr/>
            </a:lvl1pPr>
            <a:lvl2pPr marL="914400" lvl="1" indent="-228600" algn="l">
              <a:lnSpc>
                <a:spcPct val="100000"/>
              </a:lnSpc>
              <a:spcBef>
                <a:spcPts val="0"/>
              </a:spcBef>
              <a:spcAft>
                <a:spcPts val="0"/>
              </a:spcAft>
              <a:buSzPts val="2800"/>
              <a:buNone/>
              <a:defRPr/>
            </a:lvl2pPr>
            <a:lvl3pPr marL="1371600" lvl="2" indent="-228600" algn="l">
              <a:lnSpc>
                <a:spcPct val="100000"/>
              </a:lnSpc>
              <a:spcBef>
                <a:spcPts val="0"/>
              </a:spcBef>
              <a:spcAft>
                <a:spcPts val="0"/>
              </a:spcAft>
              <a:buSzPts val="2800"/>
              <a:buNone/>
              <a:defRPr/>
            </a:lvl3pPr>
            <a:lvl4pPr marL="1828800" lvl="3" indent="-228600" algn="l">
              <a:lnSpc>
                <a:spcPct val="100000"/>
              </a:lnSpc>
              <a:spcBef>
                <a:spcPts val="0"/>
              </a:spcBef>
              <a:spcAft>
                <a:spcPts val="0"/>
              </a:spcAft>
              <a:buSzPts val="2800"/>
              <a:buNone/>
              <a:defRPr/>
            </a:lvl4pPr>
            <a:lvl5pPr marL="2286000" lvl="4" indent="-228600" algn="l">
              <a:lnSpc>
                <a:spcPct val="100000"/>
              </a:lnSpc>
              <a:spcBef>
                <a:spcPts val="0"/>
              </a:spcBef>
              <a:spcAft>
                <a:spcPts val="0"/>
              </a:spcAft>
              <a:buSzPts val="2800"/>
              <a:buNone/>
              <a:defRPr/>
            </a:lvl5pPr>
            <a:lvl6pPr marL="2743200" lvl="5" indent="-228600" algn="l">
              <a:lnSpc>
                <a:spcPct val="100000"/>
              </a:lnSpc>
              <a:spcBef>
                <a:spcPts val="0"/>
              </a:spcBef>
              <a:spcAft>
                <a:spcPts val="0"/>
              </a:spcAft>
              <a:buSzPts val="2800"/>
              <a:buNone/>
              <a:defRPr/>
            </a:lvl6pPr>
            <a:lvl7pPr marL="3200400" lvl="6" indent="-228600" algn="l">
              <a:lnSpc>
                <a:spcPct val="100000"/>
              </a:lnSpc>
              <a:spcBef>
                <a:spcPts val="0"/>
              </a:spcBef>
              <a:spcAft>
                <a:spcPts val="0"/>
              </a:spcAft>
              <a:buSzPts val="2800"/>
              <a:buNone/>
              <a:defRPr/>
            </a:lvl7pPr>
            <a:lvl8pPr marL="3657600" lvl="7" indent="-228600" algn="l">
              <a:lnSpc>
                <a:spcPct val="100000"/>
              </a:lnSpc>
              <a:spcBef>
                <a:spcPts val="0"/>
              </a:spcBef>
              <a:spcAft>
                <a:spcPts val="0"/>
              </a:spcAft>
              <a:buSzPts val="2800"/>
              <a:buNone/>
              <a:defRPr/>
            </a:lvl8pPr>
            <a:lvl9pPr marL="4114800" lvl="8" indent="-228600" algn="l">
              <a:lnSpc>
                <a:spcPct val="100000"/>
              </a:lnSpc>
              <a:spcBef>
                <a:spcPts val="0"/>
              </a:spcBef>
              <a:spcAft>
                <a:spcPts val="0"/>
              </a:spcAft>
              <a:buSzPts val="2800"/>
              <a:buNone/>
              <a:defRPr/>
            </a:lvl9pPr>
          </a:lstStyle>
          <a:p>
            <a:endParaRPr/>
          </a:p>
        </p:txBody>
      </p:sp>
      <p:sp>
        <p:nvSpPr>
          <p:cNvPr id="115" name="Google Shape;115;p18"/>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6" name="Google Shape;116;p18"/>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7" name="Google Shape;117;p18"/>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8"/>
        <p:cNvGrpSpPr/>
        <p:nvPr/>
      </p:nvGrpSpPr>
      <p:grpSpPr>
        <a:xfrm>
          <a:off x="0" y="0"/>
          <a:ext cx="0" cy="0"/>
          <a:chOff x="0" y="0"/>
          <a:chExt cx="0" cy="0"/>
        </a:xfrm>
      </p:grpSpPr>
      <p:sp>
        <p:nvSpPr>
          <p:cNvPr id="119" name="Google Shape;119;p19"/>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0" name="Google Shape;120;p19"/>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a:solidFill>
                  <a:srgbClr val="888888"/>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1" name="Google Shape;121;p19"/>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_ONLY_1">
  <p:cSld name="CAPTION_ONLY_1">
    <p:spTree>
      <p:nvGrpSpPr>
        <p:cNvPr id="1" name="Shape 122"/>
        <p:cNvGrpSpPr/>
        <p:nvPr/>
      </p:nvGrpSpPr>
      <p:grpSpPr>
        <a:xfrm>
          <a:off x="0" y="0"/>
          <a:ext cx="0" cy="0"/>
          <a:chOff x="0" y="0"/>
          <a:chExt cx="0" cy="0"/>
        </a:xfrm>
      </p:grpSpPr>
      <p:sp>
        <p:nvSpPr>
          <p:cNvPr id="123" name="Google Shape;123;p2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24" name="Google Shape;124;p20"/>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25" name="Google Shape;125;p20"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eading">
  <p:cSld name="Heading">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870858" y="576072"/>
            <a:ext cx="16546800" cy="1138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8" name="Google Shape;128;p21"/>
          <p:cNvSpPr txBox="1">
            <a:spLocks noGrp="1"/>
          </p:cNvSpPr>
          <p:nvPr>
            <p:ph type="subTitle" idx="1"/>
          </p:nvPr>
        </p:nvSpPr>
        <p:spPr>
          <a:xfrm>
            <a:off x="871538" y="2098538"/>
            <a:ext cx="16546800" cy="721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9" name="Google Shape;129;p21"/>
          <p:cNvSpPr txBox="1">
            <a:spLocks noGrp="1"/>
          </p:cNvSpPr>
          <p:nvPr>
            <p:ph type="body" idx="2"/>
          </p:nvPr>
        </p:nvSpPr>
        <p:spPr>
          <a:xfrm>
            <a:off x="870862" y="2819400"/>
            <a:ext cx="16546800" cy="6781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200"/>
              </a:spcBef>
              <a:spcAft>
                <a:spcPts val="0"/>
              </a:spcAft>
              <a:buClr>
                <a:schemeClr val="dk1"/>
              </a:buClr>
              <a:buSzPts val="2200"/>
              <a:buNone/>
              <a:defRPr sz="2200"/>
            </a:lvl1pPr>
            <a:lvl2pPr marL="914400" lvl="1" indent="-228600" algn="l">
              <a:lnSpc>
                <a:spcPct val="100000"/>
              </a:lnSpc>
              <a:spcBef>
                <a:spcPts val="600"/>
              </a:spcBef>
              <a:spcAft>
                <a:spcPts val="0"/>
              </a:spcAft>
              <a:buClr>
                <a:schemeClr val="dk1"/>
              </a:buClr>
              <a:buSzPts val="2200"/>
              <a:buNone/>
              <a:defRPr sz="2200"/>
            </a:lvl2pPr>
            <a:lvl3pPr marL="1371600" lvl="2" indent="-228600" algn="l">
              <a:lnSpc>
                <a:spcPct val="100000"/>
              </a:lnSpc>
              <a:spcBef>
                <a:spcPts val="600"/>
              </a:spcBef>
              <a:spcAft>
                <a:spcPts val="0"/>
              </a:spcAft>
              <a:buClr>
                <a:schemeClr val="dk1"/>
              </a:buClr>
              <a:buSzPts val="2200"/>
              <a:buNone/>
              <a:defRPr sz="2200"/>
            </a:lvl3pPr>
            <a:lvl4pPr marL="1828800" lvl="3" indent="-228600" algn="l">
              <a:lnSpc>
                <a:spcPct val="100000"/>
              </a:lnSpc>
              <a:spcBef>
                <a:spcPts val="600"/>
              </a:spcBef>
              <a:spcAft>
                <a:spcPts val="0"/>
              </a:spcAft>
              <a:buClr>
                <a:schemeClr val="dk1"/>
              </a:buClr>
              <a:buSzPts val="2200"/>
              <a:buNone/>
              <a:defRPr sz="2200"/>
            </a:lvl4pPr>
            <a:lvl5pPr marL="2286000" lvl="4" indent="-228600" algn="l">
              <a:lnSpc>
                <a:spcPct val="100000"/>
              </a:lnSpc>
              <a:spcBef>
                <a:spcPts val="600"/>
              </a:spcBef>
              <a:spcAft>
                <a:spcPts val="0"/>
              </a:spcAft>
              <a:buClr>
                <a:schemeClr val="dk1"/>
              </a:buClr>
              <a:buSzPts val="2200"/>
              <a:buNone/>
              <a:defRPr sz="2200"/>
            </a:lvl5pPr>
            <a:lvl6pPr marL="2743200" lvl="5" indent="-228600" algn="l">
              <a:lnSpc>
                <a:spcPct val="100000"/>
              </a:lnSpc>
              <a:spcBef>
                <a:spcPts val="600"/>
              </a:spcBef>
              <a:spcAft>
                <a:spcPts val="0"/>
              </a:spcAft>
              <a:buClr>
                <a:schemeClr val="dk1"/>
              </a:buClr>
              <a:buSzPts val="2200"/>
              <a:buNone/>
              <a:defRPr sz="2200"/>
            </a:lvl6pPr>
            <a:lvl7pPr marL="3200400" lvl="6" indent="-228600" algn="l">
              <a:lnSpc>
                <a:spcPct val="100000"/>
              </a:lnSpc>
              <a:spcBef>
                <a:spcPts val="600"/>
              </a:spcBef>
              <a:spcAft>
                <a:spcPts val="0"/>
              </a:spcAft>
              <a:buClr>
                <a:schemeClr val="dk1"/>
              </a:buClr>
              <a:buSzPts val="2200"/>
              <a:buNone/>
              <a:defRPr sz="2200"/>
            </a:lvl7pPr>
            <a:lvl8pPr marL="3657600" lvl="7" indent="-228600" algn="l">
              <a:lnSpc>
                <a:spcPct val="100000"/>
              </a:lnSpc>
              <a:spcBef>
                <a:spcPts val="600"/>
              </a:spcBef>
              <a:spcAft>
                <a:spcPts val="0"/>
              </a:spcAft>
              <a:buClr>
                <a:schemeClr val="dk1"/>
              </a:buClr>
              <a:buSzPts val="2200"/>
              <a:buNone/>
              <a:defRPr sz="2200"/>
            </a:lvl8pPr>
            <a:lvl9pPr marL="4114800" lvl="8" indent="-228600" algn="l">
              <a:lnSpc>
                <a:spcPct val="100000"/>
              </a:lnSpc>
              <a:spcBef>
                <a:spcPts val="600"/>
              </a:spcBef>
              <a:spcAft>
                <a:spcPts val="0"/>
              </a:spcAft>
              <a:buClr>
                <a:schemeClr val="dk1"/>
              </a:buClr>
              <a:buSzPts val="2200"/>
              <a:buNone/>
              <a:defRPr sz="2200"/>
            </a:lvl9pPr>
          </a:lstStyle>
          <a:p>
            <a:endParaRPr/>
          </a:p>
        </p:txBody>
      </p:sp>
    </p:spTree>
  </p:cSld>
  <p:clrMapOvr>
    <a:masterClrMapping/>
  </p:clrMapOvr>
  <p:extLst>
    <p:ext uri="{DCECCB84-F9BA-43D5-87BE-67443E8EF086}">
      <p15:sldGuideLst xmlns:p15="http://schemas.microsoft.com/office/powerpoint/2012/main">
        <p15:guide id="1" orient="horz" pos="1320">
          <p15:clr>
            <a:srgbClr val="FBAE40"/>
          </p15:clr>
        </p15:guide>
        <p15:guide id="2" orient="horz" pos="177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Clr>
                <a:srgbClr val="002060"/>
              </a:buClr>
              <a:buSzPts val="5000"/>
              <a:buFont typeface="Lato Black"/>
              <a:buNone/>
              <a:defRPr sz="5000">
                <a:solidFill>
                  <a:srgbClr val="002060"/>
                </a:solidFill>
                <a:latin typeface="Lato Black"/>
                <a:ea typeface="Lato Black"/>
                <a:cs typeface="Lato Black"/>
                <a:sym typeface="Lato Black"/>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grpSp>
        <p:nvGrpSpPr>
          <p:cNvPr id="132" name="Google Shape;132;p22"/>
          <p:cNvGrpSpPr/>
          <p:nvPr/>
        </p:nvGrpSpPr>
        <p:grpSpPr>
          <a:xfrm>
            <a:off x="13622899" y="1303300"/>
            <a:ext cx="4665153" cy="54000"/>
            <a:chOff x="4888300" y="727847"/>
            <a:chExt cx="4255750" cy="27000"/>
          </a:xfrm>
        </p:grpSpPr>
        <p:sp>
          <p:nvSpPr>
            <p:cNvPr id="133" name="Google Shape;133;p22"/>
            <p:cNvSpPr/>
            <p:nvPr/>
          </p:nvSpPr>
          <p:spPr>
            <a:xfrm>
              <a:off x="4888300" y="727847"/>
              <a:ext cx="2127900" cy="27000"/>
            </a:xfrm>
            <a:prstGeom prst="rect">
              <a:avLst/>
            </a:prstGeom>
            <a:solidFill>
              <a:srgbClr val="49A6DB"/>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34" name="Google Shape;134;p22"/>
            <p:cNvSpPr/>
            <p:nvPr/>
          </p:nvSpPr>
          <p:spPr>
            <a:xfrm>
              <a:off x="7016150" y="727847"/>
              <a:ext cx="2127900" cy="27000"/>
            </a:xfrm>
            <a:prstGeom prst="rect">
              <a:avLst/>
            </a:prstGeom>
            <a:solidFill>
              <a:srgbClr val="17406D"/>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grpSp>
      <p:sp>
        <p:nvSpPr>
          <p:cNvPr id="135" name="Google Shape;135;p22"/>
          <p:cNvSpPr txBox="1"/>
          <p:nvPr/>
        </p:nvSpPr>
        <p:spPr>
          <a:xfrm>
            <a:off x="11209950" y="9733950"/>
            <a:ext cx="68160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0592D6"/>
                </a:solidFill>
                <a:latin typeface="Lato"/>
                <a:ea typeface="Lato"/>
                <a:cs typeface="Lato"/>
                <a:sym typeface="Lato"/>
              </a:rPr>
              <a:t>Kementerian Pendidikan, Kebudayaan, Riset, dan Teknologi</a:t>
            </a:r>
            <a:endParaRPr sz="1800" b="0" i="0" u="none" strike="noStrike" cap="none">
              <a:solidFill>
                <a:srgbClr val="0592D6"/>
              </a:solidFill>
              <a:latin typeface="Lato"/>
              <a:ea typeface="Lato"/>
              <a:cs typeface="Lato"/>
              <a:sym typeface="Lato"/>
            </a:endParaRPr>
          </a:p>
        </p:txBody>
      </p:sp>
      <p:pic>
        <p:nvPicPr>
          <p:cNvPr id="136" name="Google Shape;136;p22" descr="Google Shape;12;p5"/>
          <p:cNvPicPr preferRelativeResize="0"/>
          <p:nvPr/>
        </p:nvPicPr>
        <p:blipFill rotWithShape="1">
          <a:blip r:embed="rId2">
            <a:alphaModFix/>
          </a:blip>
          <a:srcRect l="18919" t="10" r="12234" b="-10"/>
          <a:stretch/>
        </p:blipFill>
        <p:spPr>
          <a:xfrm>
            <a:off x="11661450" y="9770926"/>
            <a:ext cx="299000" cy="307050"/>
          </a:xfrm>
          <a:prstGeom prst="rect">
            <a:avLst/>
          </a:prstGeom>
          <a:noFill/>
          <a:ln>
            <a:noFill/>
          </a:ln>
        </p:spPr>
      </p:pic>
      <p:grpSp>
        <p:nvGrpSpPr>
          <p:cNvPr id="137" name="Google Shape;137;p22"/>
          <p:cNvGrpSpPr/>
          <p:nvPr/>
        </p:nvGrpSpPr>
        <p:grpSpPr>
          <a:xfrm>
            <a:off x="-50" y="9456010"/>
            <a:ext cx="5517876" cy="831000"/>
            <a:chOff x="-25" y="4752355"/>
            <a:chExt cx="2758938" cy="415500"/>
          </a:xfrm>
        </p:grpSpPr>
        <p:sp>
          <p:nvSpPr>
            <p:cNvPr id="138" name="Google Shape;138;p22"/>
            <p:cNvSpPr/>
            <p:nvPr/>
          </p:nvSpPr>
          <p:spPr>
            <a:xfrm>
              <a:off x="-25" y="4752375"/>
              <a:ext cx="2668500" cy="415200"/>
            </a:xfrm>
            <a:prstGeom prst="rect">
              <a:avLst/>
            </a:prstGeom>
            <a:solidFill>
              <a:srgbClr val="EEEEEE"/>
            </a:solidFill>
            <a:ln>
              <a:noFill/>
            </a:ln>
          </p:spPr>
          <p:txBody>
            <a:bodyPr spcFirstLastPara="1" wrap="square" lIns="91450" tIns="91450" rIns="91450" bIns="91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9" name="Google Shape;139;p22"/>
            <p:cNvPicPr preferRelativeResize="0"/>
            <p:nvPr/>
          </p:nvPicPr>
          <p:blipFill rotWithShape="1">
            <a:blip r:embed="rId3">
              <a:alphaModFix/>
            </a:blip>
            <a:srcRect/>
            <a:stretch/>
          </p:blipFill>
          <p:spPr>
            <a:xfrm>
              <a:off x="109869" y="4834280"/>
              <a:ext cx="247185" cy="247185"/>
            </a:xfrm>
            <a:prstGeom prst="rect">
              <a:avLst/>
            </a:prstGeom>
            <a:noFill/>
            <a:ln>
              <a:noFill/>
            </a:ln>
          </p:spPr>
        </p:pic>
        <p:sp>
          <p:nvSpPr>
            <p:cNvPr id="140" name="Google Shape;140;p22"/>
            <p:cNvSpPr/>
            <p:nvPr/>
          </p:nvSpPr>
          <p:spPr>
            <a:xfrm>
              <a:off x="2668313" y="4752355"/>
              <a:ext cx="90600" cy="415500"/>
            </a:xfrm>
            <a:prstGeom prst="rtTriangle">
              <a:avLst/>
            </a:prstGeom>
            <a:solidFill>
              <a:srgbClr val="EEEEEE"/>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Calibri"/>
                <a:ea typeface="Calibri"/>
                <a:cs typeface="Calibri"/>
                <a:sym typeface="Calibri"/>
              </a:endParaRPr>
            </a:p>
          </p:txBody>
        </p:sp>
        <p:sp>
          <p:nvSpPr>
            <p:cNvPr id="141" name="Google Shape;141;p22"/>
            <p:cNvSpPr txBox="1"/>
            <p:nvPr/>
          </p:nvSpPr>
          <p:spPr>
            <a:xfrm>
              <a:off x="398225" y="4817700"/>
              <a:ext cx="2270100" cy="284700"/>
            </a:xfrm>
            <a:prstGeom prst="rect">
              <a:avLst/>
            </a:prstGeom>
            <a:noFill/>
            <a:ln>
              <a:noFill/>
            </a:ln>
          </p:spPr>
          <p:txBody>
            <a:bodyPr spcFirstLastPara="1" wrap="square" lIns="137150" tIns="68550" rIns="137150" bIns="6855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1400" b="1" i="0" u="none" strike="noStrike" cap="none">
                  <a:solidFill>
                    <a:srgbClr val="000000"/>
                  </a:solidFill>
                  <a:latin typeface="Lato"/>
                  <a:ea typeface="Lato"/>
                  <a:cs typeface="Lato"/>
                  <a:sym typeface="Lato"/>
                </a:rPr>
                <a:t>DOKUMEN RAHASIA. Tidak untuk disebarluaskan.</a:t>
              </a:r>
              <a:endParaRPr sz="14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3000"/>
                <a:buFont typeface="Arial"/>
                <a:buNone/>
              </a:pPr>
              <a:r>
                <a:rPr lang="en-US" sz="1400" b="0" i="0" u="none" strike="noStrike" cap="none">
                  <a:solidFill>
                    <a:srgbClr val="000000"/>
                  </a:solidFill>
                  <a:latin typeface="Lato"/>
                  <a:ea typeface="Lato"/>
                  <a:cs typeface="Lato"/>
                  <a:sym typeface="Lato"/>
                </a:rPr>
                <a:t>Ditjen GTK Kemendikbudristek</a:t>
              </a:r>
              <a:endParaRPr sz="1400" b="0" i="0" u="none" strike="noStrike" cap="none">
                <a:solidFill>
                  <a:srgbClr val="000000"/>
                </a:solidFill>
                <a:latin typeface="Lato"/>
                <a:ea typeface="Lato"/>
                <a:cs typeface="Lato"/>
                <a:sym typeface="Lato"/>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_ONLY_1">
  <p:cSld name="CAPTION_ONLY_1">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48" name="Google Shape;148;p24"/>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49" name="Google Shape;149;p24"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_ONLY_1_2">
  <p:cSld name="CAPTION_ONLY_1_2">
    <p:spTree>
      <p:nvGrpSpPr>
        <p:cNvPr id="1" name="Shape 150"/>
        <p:cNvGrpSpPr/>
        <p:nvPr/>
      </p:nvGrpSpPr>
      <p:grpSpPr>
        <a:xfrm>
          <a:off x="0" y="0"/>
          <a:ext cx="0" cy="0"/>
          <a:chOff x="0" y="0"/>
          <a:chExt cx="0" cy="0"/>
        </a:xfrm>
      </p:grpSpPr>
      <p:sp>
        <p:nvSpPr>
          <p:cNvPr id="151" name="Google Shape;151;p25"/>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52" name="Google Shape;152;p25"/>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53" name="Google Shape;153;p25"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_ONLY_1_1">
  <p:cSld name="CAPTION_ONLY_1_1">
    <p:spTree>
      <p:nvGrpSpPr>
        <p:cNvPr id="1" name="Shape 154"/>
        <p:cNvGrpSpPr/>
        <p:nvPr/>
      </p:nvGrpSpPr>
      <p:grpSpPr>
        <a:xfrm>
          <a:off x="0" y="0"/>
          <a:ext cx="0" cy="0"/>
          <a:chOff x="0" y="0"/>
          <a:chExt cx="0" cy="0"/>
        </a:xfrm>
      </p:grpSpPr>
      <p:sp>
        <p:nvSpPr>
          <p:cNvPr id="155" name="Google Shape;155;p26"/>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56" name="Google Shape;156;p26"/>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157" name="Google Shape;157;p26"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8"/>
        <p:cNvGrpSpPr/>
        <p:nvPr/>
      </p:nvGrpSpPr>
      <p:grpSpPr>
        <a:xfrm>
          <a:off x="0" y="0"/>
          <a:ext cx="0" cy="0"/>
          <a:chOff x="0" y="0"/>
          <a:chExt cx="0" cy="0"/>
        </a:xfrm>
      </p:grpSpPr>
      <p:sp>
        <p:nvSpPr>
          <p:cNvPr id="159" name="Google Shape;159;p27"/>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60" name="Google Shape;160;p27"/>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61" name="Google Shape;161;p2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64" name="Google Shape;164;p2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67" name="Google Shape;167;p2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68" name="Google Shape;168;p2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71" name="Google Shape;171;p30"/>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72" name="Google Shape;172;p30"/>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73" name="Google Shape;173;p3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76" name="Google Shape;176;p3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79" name="Google Shape;179;p32"/>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180" name="Google Shape;180;p3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183" name="Google Shape;183;p3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184"/>
        <p:cNvGrpSpPr/>
        <p:nvPr/>
      </p:nvGrpSpPr>
      <p:grpSpPr>
        <a:xfrm>
          <a:off x="0" y="0"/>
          <a:ext cx="0" cy="0"/>
          <a:chOff x="0" y="0"/>
          <a:chExt cx="0" cy="0"/>
        </a:xfrm>
      </p:grpSpPr>
      <p:sp>
        <p:nvSpPr>
          <p:cNvPr id="185" name="Google Shape;185;p34"/>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187" name="Google Shape;187;p34"/>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88" name="Google Shape;188;p34"/>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89" name="Google Shape;189;p3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0"/>
        <p:cNvGrpSpPr/>
        <p:nvPr/>
      </p:nvGrpSpPr>
      <p:grpSpPr>
        <a:xfrm>
          <a:off x="0" y="0"/>
          <a:ext cx="0" cy="0"/>
          <a:chOff x="0" y="0"/>
          <a:chExt cx="0" cy="0"/>
        </a:xfrm>
      </p:grpSpPr>
      <p:sp>
        <p:nvSpPr>
          <p:cNvPr id="191" name="Google Shape;191;p35"/>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192" name="Google Shape;192;p3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193"/>
        <p:cNvGrpSpPr/>
        <p:nvPr/>
      </p:nvGrpSpPr>
      <p:grpSpPr>
        <a:xfrm>
          <a:off x="0" y="0"/>
          <a:ext cx="0" cy="0"/>
          <a:chOff x="0" y="0"/>
          <a:chExt cx="0" cy="0"/>
        </a:xfrm>
      </p:grpSpPr>
      <p:sp>
        <p:nvSpPr>
          <p:cNvPr id="194" name="Google Shape;194;p36"/>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195" name="Google Shape;195;p36"/>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196" name="Google Shape;196;p3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7"/>
        <p:cNvGrpSpPr/>
        <p:nvPr/>
      </p:nvGrpSpPr>
      <p:grpSpPr>
        <a:xfrm>
          <a:off x="0" y="0"/>
          <a:ext cx="0" cy="0"/>
          <a:chOff x="0" y="0"/>
          <a:chExt cx="0" cy="0"/>
        </a:xfrm>
      </p:grpSpPr>
      <p:sp>
        <p:nvSpPr>
          <p:cNvPr id="198" name="Google Shape;198;p3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99"/>
        <p:cNvGrpSpPr/>
        <p:nvPr/>
      </p:nvGrpSpPr>
      <p:grpSpPr>
        <a:xfrm>
          <a:off x="0" y="0"/>
          <a:ext cx="0" cy="0"/>
          <a:chOff x="0" y="0"/>
          <a:chExt cx="0" cy="0"/>
        </a:xfrm>
      </p:grpSpPr>
      <p:sp>
        <p:nvSpPr>
          <p:cNvPr id="200" name="Google Shape;200;p38"/>
          <p:cNvSpPr/>
          <p:nvPr/>
        </p:nvSpPr>
        <p:spPr>
          <a:xfrm>
            <a:off x="0" y="9647620"/>
            <a:ext cx="18288000" cy="639600"/>
          </a:xfrm>
          <a:prstGeom prst="rect">
            <a:avLst/>
          </a:prstGeom>
          <a:solidFill>
            <a:srgbClr val="002060"/>
          </a:solidFill>
          <a:ln w="25400" cap="flat" cmpd="sng">
            <a:solidFill>
              <a:srgbClr val="1B3867"/>
            </a:solidFill>
            <a:prstDash val="solid"/>
            <a:round/>
            <a:headEnd type="none" w="sm" len="sm"/>
            <a:tailEnd type="none" w="sm" len="sm"/>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Arial"/>
              <a:ea typeface="Arial"/>
              <a:cs typeface="Arial"/>
              <a:sym typeface="Arial"/>
            </a:endParaRPr>
          </a:p>
        </p:txBody>
      </p:sp>
      <p:sp>
        <p:nvSpPr>
          <p:cNvPr id="201" name="Google Shape;201;p38"/>
          <p:cNvSpPr txBox="1">
            <a:spLocks noGrp="1"/>
          </p:cNvSpPr>
          <p:nvPr>
            <p:ph type="sldNum" idx="12"/>
          </p:nvPr>
        </p:nvSpPr>
        <p:spPr>
          <a:xfrm>
            <a:off x="17461548" y="9665026"/>
            <a:ext cx="639600" cy="622200"/>
          </a:xfrm>
          <a:prstGeom prst="rect">
            <a:avLst/>
          </a:prstGeom>
          <a:noFill/>
          <a:ln>
            <a:noFill/>
          </a:ln>
        </p:spPr>
        <p:txBody>
          <a:bodyPr spcFirstLastPara="1" wrap="square" lIns="137150" tIns="137150" rIns="137150" bIns="137150" anchor="ctr" anchorCtr="0">
            <a:normAutofit/>
          </a:bodyPr>
          <a:lstStyle>
            <a:lvl1pPr marL="0" marR="0" lvl="0"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sz="2000">
              <a:solidFill>
                <a:schemeClr val="dk2"/>
              </a:solidFill>
            </a:endParaRPr>
          </a:p>
        </p:txBody>
      </p:sp>
      <p:sp>
        <p:nvSpPr>
          <p:cNvPr id="202" name="Google Shape;202;p38"/>
          <p:cNvSpPr txBox="1"/>
          <p:nvPr/>
        </p:nvSpPr>
        <p:spPr>
          <a:xfrm>
            <a:off x="11767200" y="9794278"/>
            <a:ext cx="5694600" cy="384600"/>
          </a:xfrm>
          <a:prstGeom prst="rect">
            <a:avLst/>
          </a:prstGeom>
          <a:noFill/>
          <a:ln>
            <a:noFill/>
          </a:ln>
        </p:spPr>
        <p:txBody>
          <a:bodyPr spcFirstLastPara="1" wrap="square" lIns="137150" tIns="68550" rIns="137150" bIns="6855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Arial"/>
                <a:ea typeface="Arial"/>
                <a:cs typeface="Arial"/>
                <a:sym typeface="Arial"/>
              </a:rPr>
              <a:t>Kementerian Pendidikan, Kebudayaan, Riset, dan Teknologi</a:t>
            </a:r>
            <a:endParaRPr sz="1600" b="0" i="0" u="none" strike="noStrike" cap="none">
              <a:solidFill>
                <a:schemeClr val="lt1"/>
              </a:solidFill>
              <a:latin typeface="Arial"/>
              <a:ea typeface="Arial"/>
              <a:cs typeface="Arial"/>
              <a:sym typeface="Arial"/>
            </a:endParaRPr>
          </a:p>
        </p:txBody>
      </p:sp>
      <p:pic>
        <p:nvPicPr>
          <p:cNvPr id="203" name="Google Shape;203;p38"/>
          <p:cNvPicPr preferRelativeResize="0"/>
          <p:nvPr/>
        </p:nvPicPr>
        <p:blipFill rotWithShape="1">
          <a:blip r:embed="rId2">
            <a:alphaModFix/>
          </a:blip>
          <a:srcRect/>
          <a:stretch/>
        </p:blipFill>
        <p:spPr>
          <a:xfrm>
            <a:off x="11127820" y="9665026"/>
            <a:ext cx="639382" cy="63938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2067650" y="392600"/>
            <a:ext cx="15444600" cy="1145400"/>
          </a:xfrm>
          <a:prstGeom prst="rect">
            <a:avLst/>
          </a:prstGeom>
          <a:noFill/>
          <a:ln>
            <a:noFill/>
          </a:ln>
        </p:spPr>
        <p:txBody>
          <a:bodyPr spcFirstLastPara="1" wrap="square" lIns="182850" tIns="182850" rIns="182850" bIns="182850" anchor="t" anchorCtr="0">
            <a:noAutofit/>
          </a:bodyPr>
          <a:lstStyle>
            <a:lvl1pPr lvl="0" algn="l">
              <a:lnSpc>
                <a:spcPct val="100000"/>
              </a:lnSpc>
              <a:spcBef>
                <a:spcPts val="0"/>
              </a:spcBef>
              <a:spcAft>
                <a:spcPts val="0"/>
              </a:spcAft>
              <a:buClr>
                <a:srgbClr val="344EAC"/>
              </a:buClr>
              <a:buSzPts val="4200"/>
              <a:buFont typeface="Open Sans ExtraBold"/>
              <a:buNone/>
              <a:defRPr sz="4200">
                <a:solidFill>
                  <a:srgbClr val="344EAC"/>
                </a:solidFill>
                <a:latin typeface="Open Sans ExtraBold"/>
                <a:ea typeface="Open Sans ExtraBold"/>
                <a:cs typeface="Open Sans ExtraBold"/>
                <a:sym typeface="Open Sans ExtraBold"/>
              </a:defRPr>
            </a:lvl1pPr>
            <a:lvl2pPr lvl="1" algn="l">
              <a:lnSpc>
                <a:spcPct val="100000"/>
              </a:lnSpc>
              <a:spcBef>
                <a:spcPts val="0"/>
              </a:spcBef>
              <a:spcAft>
                <a:spcPts val="0"/>
              </a:spcAft>
              <a:buSzPts val="6000"/>
              <a:buFont typeface="Open Sans"/>
              <a:buNone/>
              <a:defRPr>
                <a:latin typeface="Open Sans"/>
                <a:ea typeface="Open Sans"/>
                <a:cs typeface="Open Sans"/>
                <a:sym typeface="Open Sans"/>
              </a:defRPr>
            </a:lvl2pPr>
            <a:lvl3pPr lvl="2" algn="l">
              <a:lnSpc>
                <a:spcPct val="100000"/>
              </a:lnSpc>
              <a:spcBef>
                <a:spcPts val="0"/>
              </a:spcBef>
              <a:spcAft>
                <a:spcPts val="0"/>
              </a:spcAft>
              <a:buSzPts val="6000"/>
              <a:buFont typeface="Open Sans"/>
              <a:buNone/>
              <a:defRPr>
                <a:latin typeface="Open Sans"/>
                <a:ea typeface="Open Sans"/>
                <a:cs typeface="Open Sans"/>
                <a:sym typeface="Open Sans"/>
              </a:defRPr>
            </a:lvl3pPr>
            <a:lvl4pPr lvl="3" algn="l">
              <a:lnSpc>
                <a:spcPct val="100000"/>
              </a:lnSpc>
              <a:spcBef>
                <a:spcPts val="0"/>
              </a:spcBef>
              <a:spcAft>
                <a:spcPts val="0"/>
              </a:spcAft>
              <a:buSzPts val="6000"/>
              <a:buFont typeface="Open Sans"/>
              <a:buNone/>
              <a:defRPr>
                <a:latin typeface="Open Sans"/>
                <a:ea typeface="Open Sans"/>
                <a:cs typeface="Open Sans"/>
                <a:sym typeface="Open Sans"/>
              </a:defRPr>
            </a:lvl4pPr>
            <a:lvl5pPr lvl="4" algn="l">
              <a:lnSpc>
                <a:spcPct val="100000"/>
              </a:lnSpc>
              <a:spcBef>
                <a:spcPts val="0"/>
              </a:spcBef>
              <a:spcAft>
                <a:spcPts val="0"/>
              </a:spcAft>
              <a:buSzPts val="6000"/>
              <a:buFont typeface="Open Sans"/>
              <a:buNone/>
              <a:defRPr>
                <a:latin typeface="Open Sans"/>
                <a:ea typeface="Open Sans"/>
                <a:cs typeface="Open Sans"/>
                <a:sym typeface="Open Sans"/>
              </a:defRPr>
            </a:lvl5pPr>
            <a:lvl6pPr lvl="5" algn="l">
              <a:lnSpc>
                <a:spcPct val="100000"/>
              </a:lnSpc>
              <a:spcBef>
                <a:spcPts val="0"/>
              </a:spcBef>
              <a:spcAft>
                <a:spcPts val="0"/>
              </a:spcAft>
              <a:buSzPts val="6000"/>
              <a:buFont typeface="Open Sans"/>
              <a:buNone/>
              <a:defRPr>
                <a:latin typeface="Open Sans"/>
                <a:ea typeface="Open Sans"/>
                <a:cs typeface="Open Sans"/>
                <a:sym typeface="Open Sans"/>
              </a:defRPr>
            </a:lvl6pPr>
            <a:lvl7pPr lvl="6" algn="l">
              <a:lnSpc>
                <a:spcPct val="100000"/>
              </a:lnSpc>
              <a:spcBef>
                <a:spcPts val="0"/>
              </a:spcBef>
              <a:spcAft>
                <a:spcPts val="0"/>
              </a:spcAft>
              <a:buSzPts val="6000"/>
              <a:buFont typeface="Open Sans"/>
              <a:buNone/>
              <a:defRPr>
                <a:latin typeface="Open Sans"/>
                <a:ea typeface="Open Sans"/>
                <a:cs typeface="Open Sans"/>
                <a:sym typeface="Open Sans"/>
              </a:defRPr>
            </a:lvl7pPr>
            <a:lvl8pPr lvl="7" algn="l">
              <a:lnSpc>
                <a:spcPct val="100000"/>
              </a:lnSpc>
              <a:spcBef>
                <a:spcPts val="0"/>
              </a:spcBef>
              <a:spcAft>
                <a:spcPts val="0"/>
              </a:spcAft>
              <a:buSzPts val="6000"/>
              <a:buFont typeface="Open Sans"/>
              <a:buNone/>
              <a:defRPr>
                <a:latin typeface="Open Sans"/>
                <a:ea typeface="Open Sans"/>
                <a:cs typeface="Open Sans"/>
                <a:sym typeface="Open Sans"/>
              </a:defRPr>
            </a:lvl8pPr>
            <a:lvl9pPr lvl="8" algn="l">
              <a:lnSpc>
                <a:spcPct val="100000"/>
              </a:lnSpc>
              <a:spcBef>
                <a:spcPts val="0"/>
              </a:spcBef>
              <a:spcAft>
                <a:spcPts val="0"/>
              </a:spcAft>
              <a:buSzPts val="6000"/>
              <a:buFont typeface="Open Sans"/>
              <a:buNone/>
              <a:defRPr>
                <a:latin typeface="Open Sans"/>
                <a:ea typeface="Open Sans"/>
                <a:cs typeface="Open Sans"/>
                <a:sym typeface="Open Sans"/>
              </a:defRPr>
            </a:lvl9pPr>
          </a:lstStyle>
          <a:p>
            <a:endParaRPr/>
          </a:p>
        </p:txBody>
      </p:sp>
      <p:sp>
        <p:nvSpPr>
          <p:cNvPr id="206" name="Google Shape;206;p3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Autofit/>
          </a:bodyPr>
          <a:lstStyle>
            <a:lvl1pPr marL="457200" lvl="0" indent="-457200" algn="l">
              <a:lnSpc>
                <a:spcPct val="115000"/>
              </a:lnSpc>
              <a:spcBef>
                <a:spcPts val="0"/>
              </a:spcBef>
              <a:spcAft>
                <a:spcPts val="0"/>
              </a:spcAft>
              <a:buSzPts val="3600"/>
              <a:buFont typeface="Open Sans"/>
              <a:buChar char="●"/>
              <a:defRPr>
                <a:latin typeface="Open Sans"/>
                <a:ea typeface="Open Sans"/>
                <a:cs typeface="Open Sans"/>
                <a:sym typeface="Open Sans"/>
              </a:defRPr>
            </a:lvl1pPr>
            <a:lvl2pPr marL="914400" lvl="1" indent="-406400" algn="l">
              <a:lnSpc>
                <a:spcPct val="115000"/>
              </a:lnSpc>
              <a:spcBef>
                <a:spcPts val="0"/>
              </a:spcBef>
              <a:spcAft>
                <a:spcPts val="0"/>
              </a:spcAft>
              <a:buSzPts val="2800"/>
              <a:buFont typeface="Open Sans"/>
              <a:buChar char="○"/>
              <a:defRPr>
                <a:latin typeface="Open Sans"/>
                <a:ea typeface="Open Sans"/>
                <a:cs typeface="Open Sans"/>
                <a:sym typeface="Open Sans"/>
              </a:defRPr>
            </a:lvl2pPr>
            <a:lvl3pPr marL="1371600" lvl="2" indent="-406400" algn="l">
              <a:lnSpc>
                <a:spcPct val="115000"/>
              </a:lnSpc>
              <a:spcBef>
                <a:spcPts val="0"/>
              </a:spcBef>
              <a:spcAft>
                <a:spcPts val="0"/>
              </a:spcAft>
              <a:buSzPts val="2800"/>
              <a:buFont typeface="Open Sans"/>
              <a:buChar char="■"/>
              <a:defRPr>
                <a:latin typeface="Open Sans"/>
                <a:ea typeface="Open Sans"/>
                <a:cs typeface="Open Sans"/>
                <a:sym typeface="Open Sans"/>
              </a:defRPr>
            </a:lvl3pPr>
            <a:lvl4pPr marL="1828800" lvl="3" indent="-406400" algn="l">
              <a:lnSpc>
                <a:spcPct val="115000"/>
              </a:lnSpc>
              <a:spcBef>
                <a:spcPts val="0"/>
              </a:spcBef>
              <a:spcAft>
                <a:spcPts val="0"/>
              </a:spcAft>
              <a:buSzPts val="2800"/>
              <a:buFont typeface="Open Sans"/>
              <a:buChar char="●"/>
              <a:defRPr>
                <a:latin typeface="Open Sans"/>
                <a:ea typeface="Open Sans"/>
                <a:cs typeface="Open Sans"/>
                <a:sym typeface="Open Sans"/>
              </a:defRPr>
            </a:lvl4pPr>
            <a:lvl5pPr marL="2286000" lvl="4" indent="-406400" algn="l">
              <a:lnSpc>
                <a:spcPct val="115000"/>
              </a:lnSpc>
              <a:spcBef>
                <a:spcPts val="0"/>
              </a:spcBef>
              <a:spcAft>
                <a:spcPts val="0"/>
              </a:spcAft>
              <a:buSzPts val="2800"/>
              <a:buFont typeface="Open Sans"/>
              <a:buChar char="○"/>
              <a:defRPr>
                <a:latin typeface="Open Sans"/>
                <a:ea typeface="Open Sans"/>
                <a:cs typeface="Open Sans"/>
                <a:sym typeface="Open Sans"/>
              </a:defRPr>
            </a:lvl5pPr>
            <a:lvl6pPr marL="2743200" lvl="5" indent="-406400" algn="l">
              <a:lnSpc>
                <a:spcPct val="115000"/>
              </a:lnSpc>
              <a:spcBef>
                <a:spcPts val="0"/>
              </a:spcBef>
              <a:spcAft>
                <a:spcPts val="0"/>
              </a:spcAft>
              <a:buSzPts val="2800"/>
              <a:buFont typeface="Open Sans"/>
              <a:buChar char="■"/>
              <a:defRPr>
                <a:latin typeface="Open Sans"/>
                <a:ea typeface="Open Sans"/>
                <a:cs typeface="Open Sans"/>
                <a:sym typeface="Open Sans"/>
              </a:defRPr>
            </a:lvl6pPr>
            <a:lvl7pPr marL="3200400" lvl="6" indent="-406400" algn="l">
              <a:lnSpc>
                <a:spcPct val="115000"/>
              </a:lnSpc>
              <a:spcBef>
                <a:spcPts val="0"/>
              </a:spcBef>
              <a:spcAft>
                <a:spcPts val="0"/>
              </a:spcAft>
              <a:buSzPts val="2800"/>
              <a:buFont typeface="Open Sans"/>
              <a:buChar char="●"/>
              <a:defRPr>
                <a:latin typeface="Open Sans"/>
                <a:ea typeface="Open Sans"/>
                <a:cs typeface="Open Sans"/>
                <a:sym typeface="Open Sans"/>
              </a:defRPr>
            </a:lvl7pPr>
            <a:lvl8pPr marL="3657600" lvl="7" indent="-406400" algn="l">
              <a:lnSpc>
                <a:spcPct val="115000"/>
              </a:lnSpc>
              <a:spcBef>
                <a:spcPts val="0"/>
              </a:spcBef>
              <a:spcAft>
                <a:spcPts val="0"/>
              </a:spcAft>
              <a:buSzPts val="2800"/>
              <a:buFont typeface="Open Sans"/>
              <a:buChar char="○"/>
              <a:defRPr>
                <a:latin typeface="Open Sans"/>
                <a:ea typeface="Open Sans"/>
                <a:cs typeface="Open Sans"/>
                <a:sym typeface="Open Sans"/>
              </a:defRPr>
            </a:lvl8pPr>
            <a:lvl9pPr marL="4114800" lvl="8" indent="-406400" algn="l">
              <a:lnSpc>
                <a:spcPct val="115000"/>
              </a:lnSpc>
              <a:spcBef>
                <a:spcPts val="0"/>
              </a:spcBef>
              <a:spcAft>
                <a:spcPts val="0"/>
              </a:spcAft>
              <a:buSzPts val="2800"/>
              <a:buFont typeface="Open Sans"/>
              <a:buChar char="■"/>
              <a:defRPr>
                <a:latin typeface="Open Sans"/>
                <a:ea typeface="Open Sans"/>
                <a:cs typeface="Open Sans"/>
                <a:sym typeface="Open Sans"/>
              </a:defRPr>
            </a:lvl9pPr>
          </a:lstStyle>
          <a:p>
            <a:endParaRPr/>
          </a:p>
        </p:txBody>
      </p:sp>
      <p:sp>
        <p:nvSpPr>
          <p:cNvPr id="207" name="Google Shape;207;p39"/>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08" name="Google Shape;208;p39"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grpSp>
        <p:nvGrpSpPr>
          <p:cNvPr id="209" name="Google Shape;209;p39"/>
          <p:cNvGrpSpPr/>
          <p:nvPr/>
        </p:nvGrpSpPr>
        <p:grpSpPr>
          <a:xfrm>
            <a:off x="64298" y="217736"/>
            <a:ext cx="1923749" cy="1495147"/>
            <a:chOff x="-151896" y="-128007"/>
            <a:chExt cx="1282499" cy="996765"/>
          </a:xfrm>
        </p:grpSpPr>
        <p:sp>
          <p:nvSpPr>
            <p:cNvPr id="210" name="Google Shape;210;p39"/>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211" name="Google Shape;211;p39"/>
            <p:cNvGrpSpPr/>
            <p:nvPr/>
          </p:nvGrpSpPr>
          <p:grpSpPr>
            <a:xfrm>
              <a:off x="-151896" y="-128007"/>
              <a:ext cx="1282499" cy="996765"/>
              <a:chOff x="5908291" y="1447244"/>
              <a:chExt cx="4033016" cy="3338127"/>
            </a:xfrm>
          </p:grpSpPr>
          <p:pic>
            <p:nvPicPr>
              <p:cNvPr id="212" name="Google Shape;212;p39"/>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213" name="Google Shape;213;p39"/>
              <p:cNvPicPr preferRelativeResize="0"/>
              <p:nvPr/>
            </p:nvPicPr>
            <p:blipFill rotWithShape="1">
              <a:blip r:embed="rId4">
                <a:alphaModFix/>
              </a:blip>
              <a:srcRect l="25906" t="42302" r="62505" b="55212"/>
              <a:stretch/>
            </p:blipFill>
            <p:spPr>
              <a:xfrm>
                <a:off x="6945284" y="2784764"/>
                <a:ext cx="486200" cy="120538"/>
              </a:xfrm>
              <a:prstGeom prst="rect">
                <a:avLst/>
              </a:prstGeom>
              <a:noFill/>
              <a:ln>
                <a:noFill/>
              </a:ln>
            </p:spPr>
          </p:pic>
        </p:grpSp>
        <p:pic>
          <p:nvPicPr>
            <p:cNvPr id="214" name="Google Shape;214;p39"/>
            <p:cNvPicPr preferRelativeResize="0"/>
            <p:nvPr/>
          </p:nvPicPr>
          <p:blipFill rotWithShape="1">
            <a:blip r:embed="rId5">
              <a:alphaModFix/>
            </a:blip>
            <a:srcRect/>
            <a:stretch/>
          </p:blipFill>
          <p:spPr>
            <a:xfrm>
              <a:off x="350001" y="64715"/>
              <a:ext cx="620819" cy="263808"/>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_ONLY_1_1_1">
  <p:cSld name="CAPTION_ONLY_1_1_1">
    <p:spTree>
      <p:nvGrpSpPr>
        <p:cNvPr id="1" name="Shape 215"/>
        <p:cNvGrpSpPr/>
        <p:nvPr/>
      </p:nvGrpSpPr>
      <p:grpSpPr>
        <a:xfrm>
          <a:off x="0" y="0"/>
          <a:ext cx="0" cy="0"/>
          <a:chOff x="0" y="0"/>
          <a:chExt cx="0" cy="0"/>
        </a:xfrm>
      </p:grpSpPr>
      <p:sp>
        <p:nvSpPr>
          <p:cNvPr id="216" name="Google Shape;216;p4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217" name="Google Shape;217;p40"/>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18" name="Google Shape;218;p40"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_ONLY_1_3">
  <p:cSld name="CAPTION_ONLY_1_3">
    <p:spTree>
      <p:nvGrpSpPr>
        <p:cNvPr id="1" name="Shape 219"/>
        <p:cNvGrpSpPr/>
        <p:nvPr/>
      </p:nvGrpSpPr>
      <p:grpSpPr>
        <a:xfrm>
          <a:off x="0" y="0"/>
          <a:ext cx="0" cy="0"/>
          <a:chOff x="0" y="0"/>
          <a:chExt cx="0" cy="0"/>
        </a:xfrm>
      </p:grpSpPr>
      <p:sp>
        <p:nvSpPr>
          <p:cNvPr id="220" name="Google Shape;220;p41"/>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Clr>
                <a:srgbClr val="344EAC"/>
              </a:buClr>
              <a:buSzPts val="3600"/>
              <a:buFont typeface="Open Sans ExtraBold"/>
              <a:buNone/>
              <a:defRPr>
                <a:solidFill>
                  <a:srgbClr val="344EAC"/>
                </a:solidFill>
                <a:latin typeface="Open Sans ExtraBold"/>
                <a:ea typeface="Open Sans ExtraBold"/>
                <a:cs typeface="Open Sans ExtraBold"/>
                <a:sym typeface="Open Sans ExtraBold"/>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221" name="Google Shape;221;p41"/>
          <p:cNvSpPr txBox="1"/>
          <p:nvPr/>
        </p:nvSpPr>
        <p:spPr>
          <a:xfrm>
            <a:off x="12420100"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2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22" name="Google Shape;222;p41" descr="Google Shape;12;p5"/>
          <p:cNvPicPr preferRelativeResize="0"/>
          <p:nvPr/>
        </p:nvPicPr>
        <p:blipFill rotWithShape="1">
          <a:blip r:embed="rId2">
            <a:alphaModFix/>
          </a:blip>
          <a:srcRect l="18919" t="10" r="12234" b="-10"/>
          <a:stretch/>
        </p:blipFill>
        <p:spPr>
          <a:xfrm>
            <a:off x="12572500" y="9770926"/>
            <a:ext cx="299000" cy="30705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losing">
  <p:cSld name="Closing">
    <p:spTree>
      <p:nvGrpSpPr>
        <p:cNvPr id="1" name="Shape 223"/>
        <p:cNvGrpSpPr/>
        <p:nvPr/>
      </p:nvGrpSpPr>
      <p:grpSpPr>
        <a:xfrm>
          <a:off x="0" y="0"/>
          <a:ext cx="0" cy="0"/>
          <a:chOff x="0" y="0"/>
          <a:chExt cx="0" cy="0"/>
        </a:xfrm>
      </p:grpSpPr>
      <p:pic>
        <p:nvPicPr>
          <p:cNvPr id="224" name="Google Shape;224;p42"/>
          <p:cNvPicPr preferRelativeResize="0"/>
          <p:nvPr/>
        </p:nvPicPr>
        <p:blipFill rotWithShape="1">
          <a:blip r:embed="rId2">
            <a:alphaModFix/>
          </a:blip>
          <a:srcRect t="-3210" b="3209"/>
          <a:stretch/>
        </p:blipFill>
        <p:spPr>
          <a:xfrm>
            <a:off x="0" y="0"/>
            <a:ext cx="18288000" cy="10287022"/>
          </a:xfrm>
          <a:prstGeom prst="rect">
            <a:avLst/>
          </a:prstGeom>
          <a:noFill/>
          <a:ln>
            <a:noFill/>
          </a:ln>
        </p:spPr>
      </p:pic>
      <p:pic>
        <p:nvPicPr>
          <p:cNvPr id="225" name="Google Shape;225;p42"/>
          <p:cNvPicPr preferRelativeResize="0"/>
          <p:nvPr/>
        </p:nvPicPr>
        <p:blipFill rotWithShape="1">
          <a:blip r:embed="rId3">
            <a:alphaModFix/>
          </a:blip>
          <a:srcRect/>
          <a:stretch/>
        </p:blipFill>
        <p:spPr>
          <a:xfrm>
            <a:off x="558748" y="486400"/>
            <a:ext cx="860502" cy="871402"/>
          </a:xfrm>
          <a:prstGeom prst="rect">
            <a:avLst/>
          </a:prstGeom>
          <a:noFill/>
          <a:ln>
            <a:noFill/>
          </a:ln>
        </p:spPr>
      </p:pic>
      <p:sp>
        <p:nvSpPr>
          <p:cNvPr id="226" name="Google Shape;226;p42"/>
          <p:cNvSpPr txBox="1"/>
          <p:nvPr/>
        </p:nvSpPr>
        <p:spPr>
          <a:xfrm>
            <a:off x="1580750" y="454348"/>
            <a:ext cx="79278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63474"/>
                </a:solidFill>
                <a:latin typeface="Nunito Sans SemiBold"/>
                <a:ea typeface="Nunito Sans SemiBold"/>
                <a:cs typeface="Nunito Sans SemiBold"/>
                <a:sym typeface="Nunito Sans SemiBold"/>
              </a:rPr>
              <a:t>Kementerian Pendidikan, Kebudayaan, Riset, dan Teknologi</a:t>
            </a:r>
            <a:br>
              <a:rPr lang="en-US" sz="2000" b="0" i="0" u="none" strike="noStrike" cap="none">
                <a:solidFill>
                  <a:srgbClr val="263474"/>
                </a:solidFill>
                <a:latin typeface="Nunito Sans SemiBold"/>
                <a:ea typeface="Nunito Sans SemiBold"/>
                <a:cs typeface="Nunito Sans SemiBold"/>
                <a:sym typeface="Nunito Sans SemiBold"/>
              </a:rPr>
            </a:br>
            <a:r>
              <a:rPr lang="en-US" sz="2000" b="0" i="0" u="none" strike="noStrike" cap="none">
                <a:solidFill>
                  <a:srgbClr val="263474"/>
                </a:solidFill>
                <a:latin typeface="Nunito Sans SemiBold"/>
                <a:ea typeface="Nunito Sans SemiBold"/>
                <a:cs typeface="Nunito Sans SemiBold"/>
                <a:sym typeface="Nunito Sans SemiBold"/>
              </a:rPr>
              <a:t>Direktorat Jenderal Guru dan Tenaga Kependidikan</a:t>
            </a:r>
            <a:endParaRPr sz="2000" b="0" i="0" u="none" strike="noStrike" cap="none">
              <a:solidFill>
                <a:srgbClr val="263474"/>
              </a:solidFill>
              <a:latin typeface="Nunito Sans SemiBold"/>
              <a:ea typeface="Nunito Sans SemiBold"/>
              <a:cs typeface="Nunito Sans SemiBold"/>
              <a:sym typeface="Nunito Sans SemiBo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227"/>
        <p:cNvGrpSpPr/>
        <p:nvPr/>
      </p:nvGrpSpPr>
      <p:grpSpPr>
        <a:xfrm>
          <a:off x="0" y="0"/>
          <a:ext cx="0" cy="0"/>
          <a:chOff x="0" y="0"/>
          <a:chExt cx="0" cy="0"/>
        </a:xfrm>
      </p:grpSpPr>
      <p:sp>
        <p:nvSpPr>
          <p:cNvPr id="228" name="Google Shape;228;p43"/>
          <p:cNvSpPr txBox="1">
            <a:spLocks noGrp="1"/>
          </p:cNvSpPr>
          <p:nvPr>
            <p:ph type="title"/>
          </p:nvPr>
        </p:nvSpPr>
        <p:spPr>
          <a:xfrm>
            <a:off x="469548" y="674212"/>
            <a:ext cx="16765200" cy="43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200"/>
              <a:buNone/>
              <a:defRPr sz="2800" b="1" i="0">
                <a:solidFill>
                  <a:srgbClr val="001F60"/>
                </a:solidFill>
                <a:latin typeface="Arial"/>
                <a:ea typeface="Arial"/>
                <a:cs typeface="Arial"/>
                <a:sym typeface="Arial"/>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9" name="Google Shape;229;p43"/>
          <p:cNvSpPr txBox="1">
            <a:spLocks noGrp="1"/>
          </p:cNvSpPr>
          <p:nvPr>
            <p:ph type="ftr" idx="11"/>
          </p:nvPr>
        </p:nvSpPr>
        <p:spPr>
          <a:xfrm>
            <a:off x="511806" y="9746236"/>
            <a:ext cx="4446000" cy="2154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lt1"/>
              </a:buClr>
              <a:buSzPts val="2200"/>
              <a:buFont typeface="Arial"/>
              <a:buNone/>
              <a:defRPr sz="1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9pPr>
          </a:lstStyle>
          <a:p>
            <a:endParaRPr/>
          </a:p>
        </p:txBody>
      </p:sp>
      <p:sp>
        <p:nvSpPr>
          <p:cNvPr id="230" name="Google Shape;230;p43"/>
          <p:cNvSpPr txBox="1">
            <a:spLocks noGrp="1"/>
          </p:cNvSpPr>
          <p:nvPr>
            <p:ph type="dt" idx="10"/>
          </p:nvPr>
        </p:nvSpPr>
        <p:spPr>
          <a:xfrm>
            <a:off x="11954330" y="9761226"/>
            <a:ext cx="5443200" cy="246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lt1"/>
              </a:buClr>
              <a:buSzPts val="2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200"/>
              <a:buFont typeface="Arial"/>
              <a:buNone/>
              <a:defRPr sz="2800" b="0" i="0" u="none" strike="noStrike" cap="none">
                <a:solidFill>
                  <a:schemeClr val="dk1"/>
                </a:solidFill>
                <a:latin typeface="Arial"/>
                <a:ea typeface="Arial"/>
                <a:cs typeface="Arial"/>
                <a:sym typeface="Arial"/>
              </a:defRPr>
            </a:lvl9pPr>
          </a:lstStyle>
          <a:p>
            <a:endParaRPr/>
          </a:p>
        </p:txBody>
      </p:sp>
      <p:sp>
        <p:nvSpPr>
          <p:cNvPr id="231" name="Google Shape;231;p43"/>
          <p:cNvSpPr txBox="1">
            <a:spLocks noGrp="1"/>
          </p:cNvSpPr>
          <p:nvPr>
            <p:ph type="sldNum" idx="12"/>
          </p:nvPr>
        </p:nvSpPr>
        <p:spPr>
          <a:xfrm>
            <a:off x="17752938" y="9750918"/>
            <a:ext cx="379800" cy="246300"/>
          </a:xfrm>
          <a:prstGeom prst="rect">
            <a:avLst/>
          </a:prstGeom>
          <a:noFill/>
          <a:ln>
            <a:noFill/>
          </a:ln>
        </p:spPr>
        <p:txBody>
          <a:bodyPr spcFirstLastPara="1" wrap="square" lIns="0" tIns="0" rIns="0" bIns="0" anchor="t" anchorCtr="0">
            <a:spAutoFit/>
          </a:bodyPr>
          <a:lstStyle>
            <a:lvl1pPr marL="76200" marR="0" lvl="0"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76200" marR="0" lvl="1"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76200" marR="0" lvl="2"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76200" marR="0" lvl="3"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76200" marR="0" lvl="4"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76200" marR="0" lvl="5"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76200" marR="0" lvl="6"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76200" marR="0" lvl="7"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76200" marR="0" lvl="8" indent="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pPr marL="76200" lvl="0" indent="0" algn="l" rtl="0">
              <a:spcBef>
                <a:spcPts val="0"/>
              </a:spcBef>
              <a:spcAft>
                <a:spcPts val="0"/>
              </a:spcAft>
              <a:buNone/>
            </a:pPr>
            <a:fld id="{00000000-1234-1234-1234-123412341234}" type="slidenum">
              <a:rPr lang="en-US"/>
              <a:t>‹#›</a:t>
            </a:fld>
            <a:endParaRPr sz="2000">
              <a:solidFill>
                <a:schemeClr val="dk2"/>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1">
  <p:cSld name="Caption 1">
    <p:spTree>
      <p:nvGrpSpPr>
        <p:cNvPr id="1" name="Shape 232"/>
        <p:cNvGrpSpPr/>
        <p:nvPr/>
      </p:nvGrpSpPr>
      <p:grpSpPr>
        <a:xfrm>
          <a:off x="0" y="0"/>
          <a:ext cx="0" cy="0"/>
          <a:chOff x="0" y="0"/>
          <a:chExt cx="0" cy="0"/>
        </a:xfrm>
      </p:grpSpPr>
      <p:sp>
        <p:nvSpPr>
          <p:cNvPr id="233" name="Google Shape;233;p44"/>
          <p:cNvSpPr txBox="1">
            <a:spLocks noGrp="1"/>
          </p:cNvSpPr>
          <p:nvPr>
            <p:ph type="body" idx="1"/>
          </p:nvPr>
        </p:nvSpPr>
        <p:spPr>
          <a:xfrm>
            <a:off x="623400" y="8461151"/>
            <a:ext cx="11997600" cy="1210200"/>
          </a:xfrm>
          <a:prstGeom prst="rect">
            <a:avLst/>
          </a:prstGeom>
          <a:noFill/>
          <a:ln>
            <a:noFill/>
          </a:ln>
        </p:spPr>
        <p:txBody>
          <a:bodyPr spcFirstLastPara="1" wrap="square" lIns="137150" tIns="137150" rIns="137150" bIns="137150" anchor="ctr" anchorCtr="0">
            <a:normAutofit/>
          </a:bodyPr>
          <a:lstStyle>
            <a:lvl1pPr marL="457200" lvl="0" indent="-228600" algn="l">
              <a:lnSpc>
                <a:spcPct val="100000"/>
              </a:lnSpc>
              <a:spcBef>
                <a:spcPts val="0"/>
              </a:spcBef>
              <a:spcAft>
                <a:spcPts val="0"/>
              </a:spcAft>
              <a:buClr>
                <a:srgbClr val="344EAC"/>
              </a:buClr>
              <a:buSzPts val="2800"/>
              <a:buFont typeface="Open Sans ExtraBold"/>
              <a:buNone/>
              <a:defRPr b="1">
                <a:solidFill>
                  <a:srgbClr val="344EAC"/>
                </a:solidFill>
                <a:latin typeface="Open Sans ExtraBold"/>
                <a:ea typeface="Open Sans ExtraBold"/>
                <a:cs typeface="Open Sans ExtraBold"/>
                <a:sym typeface="Open Sans ExtraBold"/>
              </a:defRPr>
            </a:lvl1pPr>
            <a:lvl2pPr marL="914400" lvl="1" indent="-368300" algn="l">
              <a:lnSpc>
                <a:spcPct val="115000"/>
              </a:lnSpc>
              <a:spcBef>
                <a:spcPts val="0"/>
              </a:spcBef>
              <a:spcAft>
                <a:spcPts val="0"/>
              </a:spcAft>
              <a:buSzPts val="2200"/>
              <a:buChar char="○"/>
              <a:defRPr/>
            </a:lvl2pPr>
            <a:lvl3pPr marL="1371600" lvl="2" indent="-368300" algn="l">
              <a:lnSpc>
                <a:spcPct val="115000"/>
              </a:lnSpc>
              <a:spcBef>
                <a:spcPts val="0"/>
              </a:spcBef>
              <a:spcAft>
                <a:spcPts val="0"/>
              </a:spcAft>
              <a:buSzPts val="2200"/>
              <a:buChar char="■"/>
              <a:defRPr/>
            </a:lvl3pPr>
            <a:lvl4pPr marL="1828800" lvl="3" indent="-368300" algn="l">
              <a:lnSpc>
                <a:spcPct val="115000"/>
              </a:lnSpc>
              <a:spcBef>
                <a:spcPts val="0"/>
              </a:spcBef>
              <a:spcAft>
                <a:spcPts val="0"/>
              </a:spcAft>
              <a:buSzPts val="2200"/>
              <a:buChar char="●"/>
              <a:defRPr/>
            </a:lvl4pPr>
            <a:lvl5pPr marL="2286000" lvl="4" indent="-368300" algn="l">
              <a:lnSpc>
                <a:spcPct val="115000"/>
              </a:lnSpc>
              <a:spcBef>
                <a:spcPts val="0"/>
              </a:spcBef>
              <a:spcAft>
                <a:spcPts val="0"/>
              </a:spcAft>
              <a:buSzPts val="2200"/>
              <a:buChar char="○"/>
              <a:defRPr/>
            </a:lvl5pPr>
            <a:lvl6pPr marL="2743200" lvl="5" indent="-368300" algn="l">
              <a:lnSpc>
                <a:spcPct val="115000"/>
              </a:lnSpc>
              <a:spcBef>
                <a:spcPts val="0"/>
              </a:spcBef>
              <a:spcAft>
                <a:spcPts val="0"/>
              </a:spcAft>
              <a:buSzPts val="2200"/>
              <a:buChar char="■"/>
              <a:defRPr/>
            </a:lvl6pPr>
            <a:lvl7pPr marL="3200400" lvl="6" indent="-368300" algn="l">
              <a:lnSpc>
                <a:spcPct val="115000"/>
              </a:lnSpc>
              <a:spcBef>
                <a:spcPts val="0"/>
              </a:spcBef>
              <a:spcAft>
                <a:spcPts val="0"/>
              </a:spcAft>
              <a:buSzPts val="2200"/>
              <a:buChar char="●"/>
              <a:defRPr/>
            </a:lvl7pPr>
            <a:lvl8pPr marL="3657600" lvl="7" indent="-368300" algn="l">
              <a:lnSpc>
                <a:spcPct val="115000"/>
              </a:lnSpc>
              <a:spcBef>
                <a:spcPts val="0"/>
              </a:spcBef>
              <a:spcAft>
                <a:spcPts val="0"/>
              </a:spcAft>
              <a:buSzPts val="2200"/>
              <a:buChar char="○"/>
              <a:defRPr/>
            </a:lvl8pPr>
            <a:lvl9pPr marL="4114800" lvl="8" indent="-368300" algn="l">
              <a:lnSpc>
                <a:spcPct val="115000"/>
              </a:lnSpc>
              <a:spcBef>
                <a:spcPts val="0"/>
              </a:spcBef>
              <a:spcAft>
                <a:spcPts val="0"/>
              </a:spcAft>
              <a:buSzPts val="2200"/>
              <a:buChar char="■"/>
              <a:defRPr/>
            </a:lvl9pPr>
          </a:lstStyle>
          <a:p>
            <a:endParaRPr/>
          </a:p>
        </p:txBody>
      </p:sp>
      <p:sp>
        <p:nvSpPr>
          <p:cNvPr id="234" name="Google Shape;234;p44"/>
          <p:cNvSpPr txBox="1"/>
          <p:nvPr/>
        </p:nvSpPr>
        <p:spPr>
          <a:xfrm>
            <a:off x="12420101" y="9733950"/>
            <a:ext cx="5605200" cy="381000"/>
          </a:xfrm>
          <a:prstGeom prst="rect">
            <a:avLst/>
          </a:prstGeom>
          <a:noFill/>
          <a:ln>
            <a:noFill/>
          </a:ln>
        </p:spPr>
        <p:txBody>
          <a:bodyPr spcFirstLastPara="1" wrap="square" lIns="51400" tIns="51400" rIns="51400" bIns="51400" anchor="t" anchorCtr="0">
            <a:spAutoFit/>
          </a:bodyPr>
          <a:lstStyle/>
          <a:p>
            <a:pPr marL="0" marR="0" lvl="1" indent="508000" algn="r" rtl="0">
              <a:lnSpc>
                <a:spcPct val="100000"/>
              </a:lnSpc>
              <a:spcBef>
                <a:spcPts val="0"/>
              </a:spcBef>
              <a:spcAft>
                <a:spcPts val="0"/>
              </a:spcAft>
              <a:buClr>
                <a:srgbClr val="FFFFFF"/>
              </a:buClr>
              <a:buSzPts val="1000"/>
              <a:buFont typeface="Arial"/>
              <a:buNone/>
            </a:pPr>
            <a:r>
              <a:rPr lang="en-US" sz="1800" b="0" i="0" u="none" strike="noStrike" cap="none">
                <a:solidFill>
                  <a:srgbClr val="344EAC"/>
                </a:solidFill>
                <a:latin typeface="Open Sans"/>
                <a:ea typeface="Open Sans"/>
                <a:cs typeface="Open Sans"/>
                <a:sym typeface="Open Sans"/>
              </a:rPr>
              <a:t>Kementerian Pendidikan Dasar dan Menengah</a:t>
            </a:r>
            <a:endParaRPr sz="1800" b="0" i="0" u="none" strike="noStrike" cap="none">
              <a:solidFill>
                <a:srgbClr val="344EAC"/>
              </a:solidFill>
              <a:latin typeface="Open Sans"/>
              <a:ea typeface="Open Sans"/>
              <a:cs typeface="Open Sans"/>
              <a:sym typeface="Open Sans"/>
            </a:endParaRPr>
          </a:p>
        </p:txBody>
      </p:sp>
      <p:pic>
        <p:nvPicPr>
          <p:cNvPr id="235" name="Google Shape;235;p44" descr="Google Shape;12;p5"/>
          <p:cNvPicPr preferRelativeResize="0"/>
          <p:nvPr/>
        </p:nvPicPr>
        <p:blipFill rotWithShape="1">
          <a:blip r:embed="rId2">
            <a:alphaModFix/>
          </a:blip>
          <a:srcRect l="18919" t="10" r="12234" b="-10"/>
          <a:stretch/>
        </p:blipFill>
        <p:spPr>
          <a:xfrm>
            <a:off x="12572501" y="9770927"/>
            <a:ext cx="299000" cy="3070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776478" y="749300"/>
            <a:ext cx="16735200" cy="9654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2800"/>
              <a:buFont typeface="Arial"/>
              <a:buNone/>
              <a:defRPr sz="6000" b="1" i="0" u="none" strike="noStrike" cap="none">
                <a:solidFill>
                  <a:srgbClr val="1C4586"/>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2" name="Google Shape;82;p13"/>
          <p:cNvSpPr txBox="1">
            <a:spLocks noGrp="1"/>
          </p:cNvSpPr>
          <p:nvPr>
            <p:ph type="body" idx="1"/>
          </p:nvPr>
        </p:nvSpPr>
        <p:spPr>
          <a:xfrm>
            <a:off x="1313434" y="3871976"/>
            <a:ext cx="15661200" cy="26226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800"/>
              <a:buFont typeface="Arial"/>
              <a:buNone/>
              <a:defRPr sz="2400" b="1" i="0" u="none" strike="noStrike" cap="none">
                <a:solidFill>
                  <a:srgbClr val="CFF3FB"/>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Calibri"/>
                <a:ea typeface="Calibri"/>
                <a:cs typeface="Calibri"/>
                <a:sym typeface="Calibri"/>
              </a:defRPr>
            </a:lvl9pPr>
          </a:lstStyle>
          <a:p>
            <a:endParaRPr/>
          </a:p>
        </p:txBody>
      </p:sp>
      <p:sp>
        <p:nvSpPr>
          <p:cNvPr id="83" name="Google Shape;83;p13"/>
          <p:cNvSpPr txBox="1">
            <a:spLocks noGrp="1"/>
          </p:cNvSpPr>
          <p:nvPr>
            <p:ph type="ftr" idx="11"/>
          </p:nvPr>
        </p:nvSpPr>
        <p:spPr>
          <a:xfrm>
            <a:off x="6217920" y="9566910"/>
            <a:ext cx="5852400" cy="5142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2800"/>
              <a:buFont typeface="Arial"/>
              <a:buNone/>
              <a:defRPr sz="3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4" name="Google Shape;84;p13"/>
          <p:cNvSpPr txBox="1">
            <a:spLocks noGrp="1"/>
          </p:cNvSpPr>
          <p:nvPr>
            <p:ph type="dt" idx="10"/>
          </p:nvPr>
        </p:nvSpPr>
        <p:spPr>
          <a:xfrm>
            <a:off x="914400" y="9566910"/>
            <a:ext cx="4206000" cy="514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2800"/>
              <a:buFont typeface="Arial"/>
              <a:buNone/>
              <a:defRPr sz="3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3600" b="0" i="0" u="none" strike="noStrike" cap="none">
                <a:solidFill>
                  <a:srgbClr val="000000"/>
                </a:solidFill>
                <a:latin typeface="Arial"/>
                <a:ea typeface="Arial"/>
                <a:cs typeface="Arial"/>
                <a:sym typeface="Arial"/>
              </a:defRPr>
            </a:lvl9pPr>
          </a:lstStyle>
          <a:p>
            <a:endParaRPr/>
          </a:p>
        </p:txBody>
      </p:sp>
      <p:sp>
        <p:nvSpPr>
          <p:cNvPr id="85" name="Google Shape;85;p13"/>
          <p:cNvSpPr txBox="1">
            <a:spLocks noGrp="1"/>
          </p:cNvSpPr>
          <p:nvPr>
            <p:ph type="sldNum" idx="12"/>
          </p:nvPr>
        </p:nvSpPr>
        <p:spPr>
          <a:xfrm>
            <a:off x="13167360" y="9566910"/>
            <a:ext cx="4206000" cy="5541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2800">
              <a:solidFill>
                <a:srgbClr val="000000"/>
              </a:solidFil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144" name="Google Shape;144;p23"/>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145" name="Google Shape;145;p2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45"/>
          <p:cNvPicPr preferRelativeResize="0"/>
          <p:nvPr/>
        </p:nvPicPr>
        <p:blipFill rotWithShape="1">
          <a:blip r:embed="rId3">
            <a:alphaModFix/>
          </a:blip>
          <a:srcRect b="24952"/>
          <a:stretch/>
        </p:blipFill>
        <p:spPr>
          <a:xfrm>
            <a:off x="0" y="0"/>
            <a:ext cx="18288000" cy="10287000"/>
          </a:xfrm>
          <a:prstGeom prst="rect">
            <a:avLst/>
          </a:prstGeom>
          <a:noFill/>
          <a:ln>
            <a:noFill/>
          </a:ln>
        </p:spPr>
      </p:pic>
      <p:pic>
        <p:nvPicPr>
          <p:cNvPr id="241" name="Google Shape;241;p45"/>
          <p:cNvPicPr preferRelativeResize="0"/>
          <p:nvPr/>
        </p:nvPicPr>
        <p:blipFill rotWithShape="1">
          <a:blip r:embed="rId4">
            <a:alphaModFix/>
          </a:blip>
          <a:srcRect/>
          <a:stretch/>
        </p:blipFill>
        <p:spPr>
          <a:xfrm>
            <a:off x="309248" y="163600"/>
            <a:ext cx="711647" cy="720648"/>
          </a:xfrm>
          <a:prstGeom prst="rect">
            <a:avLst/>
          </a:prstGeom>
          <a:noFill/>
          <a:ln>
            <a:noFill/>
          </a:ln>
        </p:spPr>
      </p:pic>
      <p:sp>
        <p:nvSpPr>
          <p:cNvPr id="242" name="Google Shape;242;p45"/>
          <p:cNvSpPr txBox="1"/>
          <p:nvPr/>
        </p:nvSpPr>
        <p:spPr>
          <a:xfrm>
            <a:off x="1020900" y="313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Lato Black"/>
                <a:ea typeface="Lato Black"/>
                <a:cs typeface="Lato Black"/>
                <a:sym typeface="Lato Black"/>
              </a:rPr>
              <a:t>Kementerian Pendidikan </a:t>
            </a:r>
            <a:br>
              <a:rPr lang="en-US" sz="2000" b="0" i="0" u="none" strike="noStrike" cap="none">
                <a:solidFill>
                  <a:srgbClr val="FFFFFF"/>
                </a:solidFill>
                <a:latin typeface="Lato Black"/>
                <a:ea typeface="Lato Black"/>
                <a:cs typeface="Lato Black"/>
                <a:sym typeface="Lato Black"/>
              </a:rPr>
            </a:br>
            <a:r>
              <a:rPr lang="en-US" sz="2000" b="0" i="0" u="none" strike="noStrike" cap="none">
                <a:solidFill>
                  <a:srgbClr val="FFFFFF"/>
                </a:solidFill>
                <a:latin typeface="Lato Black"/>
                <a:ea typeface="Lato Black"/>
                <a:cs typeface="Lato Black"/>
                <a:sym typeface="Lato Black"/>
              </a:rPr>
              <a:t>Dasar dan Menengah</a:t>
            </a:r>
            <a:endParaRPr sz="2000" b="0" i="0" u="none" strike="noStrike" cap="none">
              <a:solidFill>
                <a:srgbClr val="FFFFFF"/>
              </a:solidFill>
              <a:latin typeface="Lato Black"/>
              <a:ea typeface="Lato Black"/>
              <a:cs typeface="Lato Black"/>
              <a:sym typeface="Lato Black"/>
            </a:endParaRPr>
          </a:p>
        </p:txBody>
      </p:sp>
      <p:sp>
        <p:nvSpPr>
          <p:cNvPr id="243" name="Google Shape;243;p45"/>
          <p:cNvSpPr txBox="1"/>
          <p:nvPr/>
        </p:nvSpPr>
        <p:spPr>
          <a:xfrm>
            <a:off x="939600" y="5096875"/>
            <a:ext cx="16408800" cy="3392700"/>
          </a:xfrm>
          <a:prstGeom prst="rect">
            <a:avLst/>
          </a:prstGeom>
          <a:noFill/>
          <a:ln>
            <a:noFill/>
          </a:ln>
          <a:effectLst>
            <a:outerShdw blurRad="114300" dist="114300" dir="21540000" algn="bl" rotWithShape="0">
              <a:srgbClr val="000000"/>
            </a:outerShdw>
          </a:effectLst>
        </p:spPr>
        <p:txBody>
          <a:bodyPr spcFirstLastPara="1" wrap="square" lIns="182850" tIns="182850" rIns="182850" bIns="182850" anchor="t" anchorCtr="0">
            <a:noAutofit/>
          </a:bodyPr>
          <a:lstStyle/>
          <a:p>
            <a:pPr marL="0" lvl="0" indent="0" algn="l" rtl="0">
              <a:spcBef>
                <a:spcPts val="0"/>
              </a:spcBef>
              <a:spcAft>
                <a:spcPts val="0"/>
              </a:spcAft>
              <a:buClr>
                <a:schemeClr val="dk1"/>
              </a:buClr>
              <a:buSzPts val="1100"/>
              <a:buFont typeface="Arial"/>
              <a:buNone/>
            </a:pPr>
            <a:r>
              <a:rPr lang="en-US" sz="9600">
                <a:solidFill>
                  <a:schemeClr val="lt1"/>
                </a:solidFill>
                <a:latin typeface="Open Sans ExtraBold"/>
                <a:ea typeface="Open Sans ExtraBold"/>
                <a:cs typeface="Open Sans ExtraBold"/>
                <a:sym typeface="Open Sans ExtraBold"/>
              </a:rPr>
              <a:t>Pola Pikir Bertumbuh </a:t>
            </a:r>
            <a:endParaRPr sz="9600">
              <a:solidFill>
                <a:schemeClr val="lt1"/>
              </a:solidFill>
              <a:latin typeface="Open Sans ExtraBold"/>
              <a:ea typeface="Open Sans ExtraBold"/>
              <a:cs typeface="Open Sans ExtraBold"/>
              <a:sym typeface="Open Sans ExtraBold"/>
            </a:endParaRPr>
          </a:p>
          <a:p>
            <a:pPr marL="0" lvl="0" indent="0" algn="l" rtl="0">
              <a:spcBef>
                <a:spcPts val="0"/>
              </a:spcBef>
              <a:spcAft>
                <a:spcPts val="0"/>
              </a:spcAft>
              <a:buClr>
                <a:schemeClr val="dk1"/>
              </a:buClr>
              <a:buSzPts val="1100"/>
              <a:buFont typeface="Arial"/>
              <a:buNone/>
            </a:pPr>
            <a:r>
              <a:rPr lang="en-US" sz="9600">
                <a:solidFill>
                  <a:schemeClr val="lt1"/>
                </a:solidFill>
                <a:latin typeface="Open Sans ExtraBold"/>
                <a:ea typeface="Open Sans ExtraBold"/>
                <a:cs typeface="Open Sans ExtraBold"/>
                <a:sym typeface="Open Sans ExtraBold"/>
              </a:rPr>
              <a:t>Topik 4</a:t>
            </a:r>
            <a:endParaRPr sz="9600">
              <a:solidFill>
                <a:schemeClr val="lt1"/>
              </a:solidFill>
              <a:latin typeface="Open Sans ExtraBold"/>
              <a:ea typeface="Open Sans ExtraBold"/>
              <a:cs typeface="Open Sans ExtraBold"/>
              <a:sym typeface="Open Sans ExtraBold"/>
            </a:endParaRPr>
          </a:p>
        </p:txBody>
      </p:sp>
      <p:pic>
        <p:nvPicPr>
          <p:cNvPr id="244" name="Google Shape;244;p45"/>
          <p:cNvPicPr preferRelativeResize="0"/>
          <p:nvPr/>
        </p:nvPicPr>
        <p:blipFill rotWithShape="1">
          <a:blip r:embed="rId5">
            <a:alphaModFix/>
          </a:blip>
          <a:srcRect/>
          <a:stretch/>
        </p:blipFill>
        <p:spPr>
          <a:xfrm>
            <a:off x="14801566" y="245678"/>
            <a:ext cx="1655537" cy="628725"/>
          </a:xfrm>
          <a:prstGeom prst="rect">
            <a:avLst/>
          </a:prstGeom>
          <a:noFill/>
          <a:ln>
            <a:noFill/>
          </a:ln>
        </p:spPr>
      </p:pic>
      <p:pic>
        <p:nvPicPr>
          <p:cNvPr id="245" name="Google Shape;245;p45"/>
          <p:cNvPicPr preferRelativeResize="0"/>
          <p:nvPr/>
        </p:nvPicPr>
        <p:blipFill rotWithShape="1">
          <a:blip r:embed="rId6">
            <a:alphaModFix/>
          </a:blip>
          <a:srcRect l="4970"/>
          <a:stretch/>
        </p:blipFill>
        <p:spPr>
          <a:xfrm>
            <a:off x="16304700" y="245669"/>
            <a:ext cx="1916625" cy="628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46"/>
          <p:cNvGrpSpPr/>
          <p:nvPr/>
        </p:nvGrpSpPr>
        <p:grpSpPr>
          <a:xfrm>
            <a:off x="1359738" y="8048776"/>
            <a:ext cx="5746750" cy="784858"/>
            <a:chOff x="679869" y="4024388"/>
            <a:chExt cx="2873375" cy="392429"/>
          </a:xfrm>
        </p:grpSpPr>
        <p:pic>
          <p:nvPicPr>
            <p:cNvPr id="251" name="Google Shape;251;p46"/>
            <p:cNvPicPr preferRelativeResize="0"/>
            <p:nvPr/>
          </p:nvPicPr>
          <p:blipFill rotWithShape="1">
            <a:blip r:embed="rId3">
              <a:alphaModFix/>
            </a:blip>
            <a:srcRect/>
            <a:stretch/>
          </p:blipFill>
          <p:spPr>
            <a:xfrm>
              <a:off x="679869" y="4024388"/>
              <a:ext cx="2873082" cy="391795"/>
            </a:xfrm>
            <a:prstGeom prst="rect">
              <a:avLst/>
            </a:prstGeom>
            <a:noFill/>
            <a:ln>
              <a:noFill/>
            </a:ln>
          </p:spPr>
        </p:pic>
        <p:sp>
          <p:nvSpPr>
            <p:cNvPr id="252" name="Google Shape;252;p46"/>
            <p:cNvSpPr/>
            <p:nvPr/>
          </p:nvSpPr>
          <p:spPr>
            <a:xfrm>
              <a:off x="679869" y="4024388"/>
              <a:ext cx="2873375" cy="392429"/>
            </a:xfrm>
            <a:custGeom>
              <a:avLst/>
              <a:gdLst/>
              <a:ahLst/>
              <a:cxnLst/>
              <a:rect l="l" t="t" r="r" b="b"/>
              <a:pathLst>
                <a:path w="2873375" h="392429" extrusionOk="0">
                  <a:moveTo>
                    <a:pt x="0" y="195897"/>
                  </a:moveTo>
                  <a:lnTo>
                    <a:pt x="5174" y="150979"/>
                  </a:lnTo>
                  <a:lnTo>
                    <a:pt x="19913" y="109746"/>
                  </a:lnTo>
                  <a:lnTo>
                    <a:pt x="43041" y="73373"/>
                  </a:lnTo>
                  <a:lnTo>
                    <a:pt x="73381" y="43036"/>
                  </a:lnTo>
                  <a:lnTo>
                    <a:pt x="109756" y="19911"/>
                  </a:lnTo>
                  <a:lnTo>
                    <a:pt x="150991" y="5173"/>
                  </a:lnTo>
                  <a:lnTo>
                    <a:pt x="195910" y="0"/>
                  </a:lnTo>
                  <a:lnTo>
                    <a:pt x="2677248" y="0"/>
                  </a:lnTo>
                  <a:lnTo>
                    <a:pt x="2722166" y="5173"/>
                  </a:lnTo>
                  <a:lnTo>
                    <a:pt x="2763392" y="19911"/>
                  </a:lnTo>
                  <a:lnTo>
                    <a:pt x="2799753" y="43036"/>
                  </a:lnTo>
                  <a:lnTo>
                    <a:pt x="2830075" y="73373"/>
                  </a:lnTo>
                  <a:lnTo>
                    <a:pt x="2853186" y="109746"/>
                  </a:lnTo>
                  <a:lnTo>
                    <a:pt x="2867913" y="150979"/>
                  </a:lnTo>
                  <a:lnTo>
                    <a:pt x="2873082" y="195897"/>
                  </a:lnTo>
                  <a:lnTo>
                    <a:pt x="2867913" y="240815"/>
                  </a:lnTo>
                  <a:lnTo>
                    <a:pt x="2853186" y="282050"/>
                  </a:lnTo>
                  <a:lnTo>
                    <a:pt x="2830075" y="318426"/>
                  </a:lnTo>
                  <a:lnTo>
                    <a:pt x="2799753" y="348766"/>
                  </a:lnTo>
                  <a:lnTo>
                    <a:pt x="2763392" y="371893"/>
                  </a:lnTo>
                  <a:lnTo>
                    <a:pt x="2722166" y="386633"/>
                  </a:lnTo>
                  <a:lnTo>
                    <a:pt x="2677248" y="391807"/>
                  </a:lnTo>
                  <a:lnTo>
                    <a:pt x="195910" y="391795"/>
                  </a:lnTo>
                  <a:lnTo>
                    <a:pt x="150991" y="386621"/>
                  </a:lnTo>
                  <a:lnTo>
                    <a:pt x="109756" y="371883"/>
                  </a:lnTo>
                  <a:lnTo>
                    <a:pt x="73381" y="348758"/>
                  </a:lnTo>
                  <a:lnTo>
                    <a:pt x="43041" y="318421"/>
                  </a:lnTo>
                  <a:lnTo>
                    <a:pt x="19913" y="282048"/>
                  </a:lnTo>
                  <a:lnTo>
                    <a:pt x="5174" y="240815"/>
                  </a:lnTo>
                  <a:lnTo>
                    <a:pt x="0" y="195897"/>
                  </a:lnTo>
                  <a:close/>
                </a:path>
              </a:pathLst>
            </a:custGeom>
            <a:noFill/>
            <a:ln w="190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grpSp>
      <p:sp>
        <p:nvSpPr>
          <p:cNvPr id="253" name="Google Shape;253;p46"/>
          <p:cNvSpPr txBox="1"/>
          <p:nvPr/>
        </p:nvSpPr>
        <p:spPr>
          <a:xfrm>
            <a:off x="2603410" y="8151422"/>
            <a:ext cx="3523200" cy="579900"/>
          </a:xfrm>
          <a:prstGeom prst="rect">
            <a:avLst/>
          </a:prstGeom>
          <a:noFill/>
          <a:ln>
            <a:noFill/>
          </a:ln>
        </p:spPr>
        <p:txBody>
          <a:bodyPr spcFirstLastPara="1" wrap="square" lIns="0" tIns="2540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a:solidFill>
                  <a:srgbClr val="FFFFFF"/>
                </a:solidFill>
              </a:rPr>
              <a:t>November </a:t>
            </a:r>
            <a:r>
              <a:rPr lang="en-US" sz="3600" b="1" i="0" u="none" strike="noStrike" cap="none">
                <a:solidFill>
                  <a:srgbClr val="FFFFFF"/>
                </a:solidFill>
                <a:latin typeface="Arial"/>
                <a:ea typeface="Arial"/>
                <a:cs typeface="Arial"/>
                <a:sym typeface="Arial"/>
              </a:rPr>
              <a:t> 2025</a:t>
            </a:r>
            <a:endParaRPr sz="3600" b="0" i="0" u="none" strike="noStrike" cap="none">
              <a:solidFill>
                <a:srgbClr val="000000"/>
              </a:solidFill>
              <a:latin typeface="Arial"/>
              <a:ea typeface="Arial"/>
              <a:cs typeface="Arial"/>
              <a:sym typeface="Arial"/>
            </a:endParaRPr>
          </a:p>
        </p:txBody>
      </p:sp>
      <p:sp>
        <p:nvSpPr>
          <p:cNvPr id="254" name="Google Shape;254;p46"/>
          <p:cNvSpPr txBox="1"/>
          <p:nvPr/>
        </p:nvSpPr>
        <p:spPr>
          <a:xfrm>
            <a:off x="846250" y="3429000"/>
            <a:ext cx="10732800" cy="1593000"/>
          </a:xfrm>
          <a:prstGeom prst="rect">
            <a:avLst/>
          </a:prstGeom>
          <a:noFill/>
          <a:ln>
            <a:noFill/>
          </a:ln>
        </p:spPr>
        <p:txBody>
          <a:bodyPr spcFirstLastPara="1" wrap="square" lIns="0" tIns="114300" rIns="0" bIns="0" anchor="t" anchorCtr="0">
            <a:noAutofit/>
          </a:bodyPr>
          <a:lstStyle/>
          <a:p>
            <a:pPr marL="0" lvl="0" indent="0" algn="l" rtl="0">
              <a:spcBef>
                <a:spcPts val="0"/>
              </a:spcBef>
              <a:spcAft>
                <a:spcPts val="0"/>
              </a:spcAft>
              <a:buClr>
                <a:schemeClr val="dk1"/>
              </a:buClr>
              <a:buSzPts val="1100"/>
              <a:buFont typeface="Arial"/>
              <a:buNone/>
            </a:pPr>
            <a:r>
              <a:rPr lang="en-US" sz="4800">
                <a:solidFill>
                  <a:schemeClr val="lt1"/>
                </a:solidFill>
                <a:latin typeface="Open Sans ExtraBold"/>
                <a:ea typeface="Open Sans ExtraBold"/>
                <a:cs typeface="Open Sans ExtraBold"/>
                <a:sym typeface="Open Sans ExtraBold"/>
              </a:rPr>
              <a:t>Pola Pikir Bertumbuh dalam Konteks Pembelajaran</a:t>
            </a:r>
            <a:endParaRPr sz="5800" b="1">
              <a:solidFill>
                <a:srgbClr val="FFFFFF"/>
              </a:solidFill>
            </a:endParaRPr>
          </a:p>
        </p:txBody>
      </p:sp>
      <p:pic>
        <p:nvPicPr>
          <p:cNvPr id="255" name="Google Shape;255;p46"/>
          <p:cNvPicPr preferRelativeResize="0"/>
          <p:nvPr/>
        </p:nvPicPr>
        <p:blipFill rotWithShape="1">
          <a:blip r:embed="rId4">
            <a:alphaModFix/>
          </a:blip>
          <a:srcRect/>
          <a:stretch/>
        </p:blipFill>
        <p:spPr>
          <a:xfrm>
            <a:off x="10120120" y="2198420"/>
            <a:ext cx="8167878" cy="8088578"/>
          </a:xfrm>
          <a:prstGeom prst="rect">
            <a:avLst/>
          </a:prstGeom>
          <a:noFill/>
          <a:ln>
            <a:noFill/>
          </a:ln>
        </p:spPr>
      </p:pic>
      <p:sp>
        <p:nvSpPr>
          <p:cNvPr id="256" name="Google Shape;256;p46"/>
          <p:cNvSpPr txBox="1"/>
          <p:nvPr/>
        </p:nvSpPr>
        <p:spPr>
          <a:xfrm>
            <a:off x="1624625" y="7824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Lato Black"/>
                <a:ea typeface="Lato Black"/>
                <a:cs typeface="Lato Black"/>
                <a:sym typeface="Lato Black"/>
              </a:rPr>
              <a:t>Kementerian Pendidikan </a:t>
            </a:r>
            <a:br>
              <a:rPr lang="en-US" sz="2000" b="0" i="0" u="none" strike="noStrike" cap="none">
                <a:solidFill>
                  <a:srgbClr val="FFFFFF"/>
                </a:solidFill>
                <a:latin typeface="Lato Black"/>
                <a:ea typeface="Lato Black"/>
                <a:cs typeface="Lato Black"/>
                <a:sym typeface="Lato Black"/>
              </a:rPr>
            </a:br>
            <a:r>
              <a:rPr lang="en-US" sz="2000" b="0" i="0" u="none" strike="noStrike" cap="none">
                <a:solidFill>
                  <a:srgbClr val="FFFFFF"/>
                </a:solidFill>
                <a:latin typeface="Lato Black"/>
                <a:ea typeface="Lato Black"/>
                <a:cs typeface="Lato Black"/>
                <a:sym typeface="Lato Black"/>
              </a:rPr>
              <a:t>Dasar dan Menengah</a:t>
            </a:r>
            <a:endParaRPr sz="2000" b="0" i="0" u="none" strike="noStrike" cap="none">
              <a:solidFill>
                <a:srgbClr val="FFFFFF"/>
              </a:solidFill>
              <a:latin typeface="Lato Black"/>
              <a:ea typeface="Lato Black"/>
              <a:cs typeface="Lato Black"/>
              <a:sym typeface="La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7"/>
          <p:cNvSpPr txBox="1">
            <a:spLocks noGrp="1"/>
          </p:cNvSpPr>
          <p:nvPr>
            <p:ph type="title" idx="4294967295"/>
          </p:nvPr>
        </p:nvSpPr>
        <p:spPr>
          <a:xfrm>
            <a:off x="1923750" y="372950"/>
            <a:ext cx="16955400" cy="1145400"/>
          </a:xfrm>
          <a:prstGeom prst="rect">
            <a:avLst/>
          </a:prstGeom>
          <a:noFill/>
          <a:ln>
            <a:noFill/>
          </a:ln>
        </p:spPr>
        <p:txBody>
          <a:bodyPr spcFirstLastPara="1" wrap="square" lIns="182850" tIns="182850" rIns="182850" bIns="182850" anchor="t" anchorCtr="0">
            <a:normAutofit fontScale="90000"/>
          </a:bodyPr>
          <a:lstStyle/>
          <a:p>
            <a:pPr marL="0" lvl="0" indent="0" algn="l" rtl="0">
              <a:lnSpc>
                <a:spcPct val="100000"/>
              </a:lnSpc>
              <a:spcBef>
                <a:spcPts val="0"/>
              </a:spcBef>
              <a:spcAft>
                <a:spcPts val="0"/>
              </a:spcAft>
              <a:buSzPct val="111111"/>
              <a:buNone/>
            </a:pPr>
            <a:r>
              <a:rPr lang="en-US" b="1">
                <a:latin typeface="Poppins"/>
                <a:ea typeface="Poppins"/>
                <a:cs typeface="Poppins"/>
                <a:sym typeface="Poppins"/>
              </a:rPr>
              <a:t>Daftar </a:t>
            </a:r>
            <a:r>
              <a:rPr lang="en-US" b="1">
                <a:solidFill>
                  <a:srgbClr val="0592D6"/>
                </a:solidFill>
                <a:latin typeface="Poppins"/>
                <a:ea typeface="Poppins"/>
                <a:cs typeface="Poppins"/>
                <a:sym typeface="Poppins"/>
              </a:rPr>
              <a:t>Isi</a:t>
            </a:r>
            <a:endParaRPr b="1">
              <a:solidFill>
                <a:srgbClr val="0592D6"/>
              </a:solidFill>
              <a:latin typeface="Poppins"/>
              <a:ea typeface="Poppins"/>
              <a:cs typeface="Poppins"/>
              <a:sym typeface="Poppins"/>
            </a:endParaRPr>
          </a:p>
        </p:txBody>
      </p:sp>
      <p:grpSp>
        <p:nvGrpSpPr>
          <p:cNvPr id="262" name="Google Shape;262;p47"/>
          <p:cNvGrpSpPr/>
          <p:nvPr/>
        </p:nvGrpSpPr>
        <p:grpSpPr>
          <a:xfrm>
            <a:off x="916400" y="2623871"/>
            <a:ext cx="16323300" cy="838200"/>
            <a:chOff x="916400" y="2931298"/>
            <a:chExt cx="16323300" cy="838200"/>
          </a:xfrm>
        </p:grpSpPr>
        <p:sp>
          <p:nvSpPr>
            <p:cNvPr id="263" name="Google Shape;263;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Perbedaan Pola Pikir Guru</a:t>
              </a:r>
              <a:endParaRPr sz="2600" b="1" i="0" u="none" strike="noStrike" cap="none">
                <a:solidFill>
                  <a:srgbClr val="002060"/>
                </a:solidFill>
                <a:latin typeface="Plus Jakarta Sans"/>
                <a:ea typeface="Plus Jakarta Sans"/>
                <a:cs typeface="Plus Jakarta Sans"/>
                <a:sym typeface="Plus Jakarta Sans"/>
              </a:endParaRPr>
            </a:p>
          </p:txBody>
        </p:sp>
        <p:sp>
          <p:nvSpPr>
            <p:cNvPr id="264" name="Google Shape;264;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i="0" u="none" strike="noStrike" cap="none">
                  <a:solidFill>
                    <a:srgbClr val="FFFFFF"/>
                  </a:solidFill>
                  <a:latin typeface="Lato"/>
                  <a:ea typeface="Lato"/>
                  <a:cs typeface="Lato"/>
                  <a:sym typeface="Lato"/>
                </a:rPr>
                <a:t>2</a:t>
              </a:r>
              <a:endParaRPr sz="2800" b="1" i="0" u="none" strike="noStrike" cap="none">
                <a:solidFill>
                  <a:srgbClr val="FFFFFF"/>
                </a:solidFill>
                <a:latin typeface="Lato"/>
                <a:ea typeface="Lato"/>
                <a:cs typeface="Lato"/>
                <a:sym typeface="Lato"/>
              </a:endParaRPr>
            </a:p>
          </p:txBody>
        </p:sp>
      </p:grpSp>
      <p:grpSp>
        <p:nvGrpSpPr>
          <p:cNvPr id="265" name="Google Shape;265;p47"/>
          <p:cNvGrpSpPr/>
          <p:nvPr/>
        </p:nvGrpSpPr>
        <p:grpSpPr>
          <a:xfrm>
            <a:off x="916400" y="1749672"/>
            <a:ext cx="16323300" cy="762000"/>
            <a:chOff x="916400" y="2057100"/>
            <a:chExt cx="16323300" cy="762000"/>
          </a:xfrm>
        </p:grpSpPr>
        <p:sp>
          <p:nvSpPr>
            <p:cNvPr id="266" name="Google Shape;266;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Mendorong Pola Pikir Bertumbuh di Kelas</a:t>
              </a:r>
              <a:endParaRPr sz="2600" b="1" i="0" u="none" strike="noStrike" cap="none">
                <a:solidFill>
                  <a:srgbClr val="002060"/>
                </a:solidFill>
                <a:latin typeface="Plus Jakarta Sans"/>
                <a:ea typeface="Plus Jakarta Sans"/>
                <a:cs typeface="Plus Jakarta Sans"/>
                <a:sym typeface="Plus Jakarta Sans"/>
              </a:endParaRPr>
            </a:p>
          </p:txBody>
        </p:sp>
        <p:sp>
          <p:nvSpPr>
            <p:cNvPr id="267" name="Google Shape;267;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i="0" u="none" strike="noStrike" cap="none">
                  <a:solidFill>
                    <a:srgbClr val="FFFFFF"/>
                  </a:solidFill>
                  <a:latin typeface="Lato"/>
                  <a:ea typeface="Lato"/>
                  <a:cs typeface="Lato"/>
                  <a:sym typeface="Lato"/>
                </a:rPr>
                <a:t>1</a:t>
              </a:r>
              <a:endParaRPr sz="2800" b="1" i="0" u="none" strike="noStrike" cap="none">
                <a:solidFill>
                  <a:srgbClr val="FFFFFF"/>
                </a:solidFill>
                <a:latin typeface="Lato"/>
                <a:ea typeface="Lato"/>
                <a:cs typeface="Lato"/>
                <a:sym typeface="Lato"/>
              </a:endParaRPr>
            </a:p>
          </p:txBody>
        </p:sp>
      </p:grpSp>
      <p:pic>
        <p:nvPicPr>
          <p:cNvPr id="268" name="Google Shape;268;p47"/>
          <p:cNvPicPr preferRelativeResize="0"/>
          <p:nvPr/>
        </p:nvPicPr>
        <p:blipFill rotWithShape="1">
          <a:blip r:embed="rId3">
            <a:alphaModFix/>
          </a:blip>
          <a:srcRect/>
          <a:stretch/>
        </p:blipFill>
        <p:spPr>
          <a:xfrm>
            <a:off x="14801566" y="245678"/>
            <a:ext cx="1655537" cy="628725"/>
          </a:xfrm>
          <a:prstGeom prst="rect">
            <a:avLst/>
          </a:prstGeom>
          <a:noFill/>
          <a:ln>
            <a:noFill/>
          </a:ln>
        </p:spPr>
      </p:pic>
      <p:pic>
        <p:nvPicPr>
          <p:cNvPr id="269" name="Google Shape;269;p47"/>
          <p:cNvPicPr preferRelativeResize="0"/>
          <p:nvPr/>
        </p:nvPicPr>
        <p:blipFill rotWithShape="1">
          <a:blip r:embed="rId4">
            <a:alphaModFix/>
          </a:blip>
          <a:srcRect l="4970"/>
          <a:stretch/>
        </p:blipFill>
        <p:spPr>
          <a:xfrm>
            <a:off x="16304700" y="245669"/>
            <a:ext cx="1916625" cy="628725"/>
          </a:xfrm>
          <a:prstGeom prst="rect">
            <a:avLst/>
          </a:prstGeom>
          <a:noFill/>
          <a:ln>
            <a:noFill/>
          </a:ln>
        </p:spPr>
      </p:pic>
      <p:grpSp>
        <p:nvGrpSpPr>
          <p:cNvPr id="270" name="Google Shape;270;p47"/>
          <p:cNvGrpSpPr/>
          <p:nvPr/>
        </p:nvGrpSpPr>
        <p:grpSpPr>
          <a:xfrm>
            <a:off x="0" y="198074"/>
            <a:ext cx="1923749" cy="1495147"/>
            <a:chOff x="-151896" y="-128007"/>
            <a:chExt cx="1282499" cy="996765"/>
          </a:xfrm>
        </p:grpSpPr>
        <p:sp>
          <p:nvSpPr>
            <p:cNvPr id="271" name="Google Shape;271;p47"/>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272" name="Google Shape;272;p47"/>
            <p:cNvGrpSpPr/>
            <p:nvPr/>
          </p:nvGrpSpPr>
          <p:grpSpPr>
            <a:xfrm>
              <a:off x="-151896" y="-128007"/>
              <a:ext cx="1282499" cy="996765"/>
              <a:chOff x="5908291" y="1447244"/>
              <a:chExt cx="4033016" cy="3338127"/>
            </a:xfrm>
          </p:grpSpPr>
          <p:pic>
            <p:nvPicPr>
              <p:cNvPr id="273" name="Google Shape;273;p47"/>
              <p:cNvPicPr preferRelativeResize="0"/>
              <p:nvPr/>
            </p:nvPicPr>
            <p:blipFill rotWithShape="1">
              <a:blip r:embed="rId5">
                <a:alphaModFix/>
              </a:blip>
              <a:srcRect/>
              <a:stretch/>
            </p:blipFill>
            <p:spPr>
              <a:xfrm>
                <a:off x="5908291" y="1447244"/>
                <a:ext cx="4033016" cy="3338127"/>
              </a:xfrm>
              <a:prstGeom prst="rect">
                <a:avLst/>
              </a:prstGeom>
              <a:noFill/>
              <a:ln>
                <a:noFill/>
              </a:ln>
            </p:spPr>
          </p:pic>
          <p:pic>
            <p:nvPicPr>
              <p:cNvPr id="274" name="Google Shape;274;p47"/>
              <p:cNvPicPr preferRelativeResize="0"/>
              <p:nvPr/>
            </p:nvPicPr>
            <p:blipFill rotWithShape="1">
              <a:blip r:embed="rId6">
                <a:alphaModFix/>
              </a:blip>
              <a:srcRect l="25903" t="42301" r="62505" b="55210"/>
              <a:stretch/>
            </p:blipFill>
            <p:spPr>
              <a:xfrm>
                <a:off x="6945284" y="2784764"/>
                <a:ext cx="486200" cy="120538"/>
              </a:xfrm>
              <a:prstGeom prst="rect">
                <a:avLst/>
              </a:prstGeom>
              <a:noFill/>
              <a:ln>
                <a:noFill/>
              </a:ln>
            </p:spPr>
          </p:pic>
        </p:grpSp>
        <p:pic>
          <p:nvPicPr>
            <p:cNvPr id="275" name="Google Shape;275;p47"/>
            <p:cNvPicPr preferRelativeResize="0"/>
            <p:nvPr/>
          </p:nvPicPr>
          <p:blipFill rotWithShape="1">
            <a:blip r:embed="rId7">
              <a:alphaModFix/>
            </a:blip>
            <a:srcRect/>
            <a:stretch/>
          </p:blipFill>
          <p:spPr>
            <a:xfrm>
              <a:off x="350001" y="64715"/>
              <a:ext cx="620819" cy="263808"/>
            </a:xfrm>
            <a:prstGeom prst="rect">
              <a:avLst/>
            </a:prstGeom>
            <a:noFill/>
            <a:ln>
              <a:noFill/>
            </a:ln>
          </p:spPr>
        </p:pic>
      </p:grpSp>
      <p:grpSp>
        <p:nvGrpSpPr>
          <p:cNvPr id="276" name="Google Shape;276;p47"/>
          <p:cNvGrpSpPr/>
          <p:nvPr/>
        </p:nvGrpSpPr>
        <p:grpSpPr>
          <a:xfrm>
            <a:off x="916400" y="3589926"/>
            <a:ext cx="16323300" cy="762000"/>
            <a:chOff x="916400" y="2057100"/>
            <a:chExt cx="16323300" cy="762000"/>
          </a:xfrm>
        </p:grpSpPr>
        <p:sp>
          <p:nvSpPr>
            <p:cNvPr id="277" name="Google Shape;277;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914400" marR="0" lvl="0" indent="0" algn="l" rtl="0">
                <a:lnSpc>
                  <a:spcPct val="100000"/>
                </a:lnSpc>
                <a:spcBef>
                  <a:spcPts val="0"/>
                </a:spcBef>
                <a:spcAft>
                  <a:spcPts val="0"/>
                </a:spcAft>
                <a:buClr>
                  <a:schemeClr val="dk1"/>
                </a:buClr>
                <a:buSzPts val="2200"/>
                <a:buFont typeface="Arial"/>
                <a:buNone/>
              </a:pPr>
              <a:r>
                <a:rPr lang="en-US" sz="2400" b="1">
                  <a:solidFill>
                    <a:srgbClr val="002060"/>
                  </a:solidFill>
                  <a:latin typeface="Plus Jakarta Sans"/>
                  <a:ea typeface="Plus Jakarta Sans"/>
                  <a:cs typeface="Plus Jakarta Sans"/>
                  <a:sym typeface="Plus Jakarta Sans"/>
                </a:rPr>
                <a:t>Praktik di Kelas untuk Menumbuhkan Growth Mindset</a:t>
              </a:r>
              <a:endParaRPr sz="2400" b="1" i="0" u="none" strike="noStrike" cap="none">
                <a:solidFill>
                  <a:srgbClr val="002060"/>
                </a:solidFill>
                <a:latin typeface="Plus Jakarta Sans"/>
                <a:ea typeface="Plus Jakarta Sans"/>
                <a:cs typeface="Plus Jakarta Sans"/>
                <a:sym typeface="Plus Jakarta Sans"/>
              </a:endParaRPr>
            </a:p>
          </p:txBody>
        </p:sp>
        <p:sp>
          <p:nvSpPr>
            <p:cNvPr id="278" name="Google Shape;278;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3</a:t>
              </a:r>
              <a:endParaRPr sz="2800" b="1" i="0" u="none" strike="noStrike" cap="none">
                <a:solidFill>
                  <a:srgbClr val="FFFFFF"/>
                </a:solidFill>
                <a:latin typeface="Lato"/>
                <a:ea typeface="Lato"/>
                <a:cs typeface="Lato"/>
                <a:sym typeface="Lato"/>
              </a:endParaRPr>
            </a:p>
          </p:txBody>
        </p:sp>
      </p:grpSp>
      <p:grpSp>
        <p:nvGrpSpPr>
          <p:cNvPr id="279" name="Google Shape;279;p47"/>
          <p:cNvGrpSpPr/>
          <p:nvPr/>
        </p:nvGrpSpPr>
        <p:grpSpPr>
          <a:xfrm>
            <a:off x="916400" y="4479771"/>
            <a:ext cx="16323300" cy="838200"/>
            <a:chOff x="916400" y="2931298"/>
            <a:chExt cx="16323300" cy="838200"/>
          </a:xfrm>
        </p:grpSpPr>
        <p:sp>
          <p:nvSpPr>
            <p:cNvPr id="280" name="Google Shape;280;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Penilaian dan Target Pembelajaran</a:t>
              </a:r>
              <a:endParaRPr sz="2600" b="1" i="0" u="none" strike="noStrike" cap="none">
                <a:solidFill>
                  <a:srgbClr val="002060"/>
                </a:solidFill>
                <a:latin typeface="Plus Jakarta Sans"/>
                <a:ea typeface="Plus Jakarta Sans"/>
                <a:cs typeface="Plus Jakarta Sans"/>
                <a:sym typeface="Plus Jakarta Sans"/>
              </a:endParaRPr>
            </a:p>
          </p:txBody>
        </p:sp>
        <p:sp>
          <p:nvSpPr>
            <p:cNvPr id="281" name="Google Shape;281;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4</a:t>
              </a:r>
              <a:endParaRPr sz="2800" b="1" i="0" u="none" strike="noStrike" cap="none">
                <a:solidFill>
                  <a:srgbClr val="FFFFFF"/>
                </a:solidFill>
                <a:latin typeface="Lato"/>
                <a:ea typeface="Lato"/>
                <a:cs typeface="Lato"/>
                <a:sym typeface="Lato"/>
              </a:endParaRPr>
            </a:p>
          </p:txBody>
        </p:sp>
      </p:grpSp>
      <p:grpSp>
        <p:nvGrpSpPr>
          <p:cNvPr id="282" name="Google Shape;282;p47"/>
          <p:cNvGrpSpPr/>
          <p:nvPr/>
        </p:nvGrpSpPr>
        <p:grpSpPr>
          <a:xfrm>
            <a:off x="916400" y="5317976"/>
            <a:ext cx="16323300" cy="762000"/>
            <a:chOff x="916400" y="2057100"/>
            <a:chExt cx="16323300" cy="762000"/>
          </a:xfrm>
        </p:grpSpPr>
        <p:sp>
          <p:nvSpPr>
            <p:cNvPr id="283" name="Google Shape;283;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Menata Kelas untuk Menumbuhkan Pola Pikir Bertumbuh</a:t>
              </a:r>
              <a:endParaRPr sz="2600" b="1" i="0" u="none" strike="noStrike" cap="none">
                <a:solidFill>
                  <a:srgbClr val="002060"/>
                </a:solidFill>
                <a:latin typeface="Plus Jakarta Sans"/>
                <a:ea typeface="Plus Jakarta Sans"/>
                <a:cs typeface="Plus Jakarta Sans"/>
                <a:sym typeface="Plus Jakarta Sans"/>
              </a:endParaRPr>
            </a:p>
          </p:txBody>
        </p:sp>
        <p:sp>
          <p:nvSpPr>
            <p:cNvPr id="284" name="Google Shape;284;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5</a:t>
              </a:r>
              <a:endParaRPr sz="2800" b="1" i="0" u="none" strike="noStrike" cap="none">
                <a:solidFill>
                  <a:srgbClr val="FFFFFF"/>
                </a:solidFill>
                <a:latin typeface="Lato"/>
                <a:ea typeface="Lato"/>
                <a:cs typeface="Lato"/>
                <a:sym typeface="Lato"/>
              </a:endParaRPr>
            </a:p>
          </p:txBody>
        </p:sp>
      </p:grpSp>
      <p:grpSp>
        <p:nvGrpSpPr>
          <p:cNvPr id="285" name="Google Shape;285;p47"/>
          <p:cNvGrpSpPr/>
          <p:nvPr/>
        </p:nvGrpSpPr>
        <p:grpSpPr>
          <a:xfrm>
            <a:off x="916400" y="6194271"/>
            <a:ext cx="16323300" cy="838200"/>
            <a:chOff x="916400" y="2931298"/>
            <a:chExt cx="16323300" cy="838200"/>
          </a:xfrm>
        </p:grpSpPr>
        <p:sp>
          <p:nvSpPr>
            <p:cNvPr id="286" name="Google Shape;286;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lvl="0" indent="914400" algn="l" rtl="0">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Strategi Afirmasi Pola Pikir Bertumbuh</a:t>
              </a:r>
              <a:endParaRPr sz="2600" b="1" i="0" u="none" strike="noStrike" cap="none">
                <a:solidFill>
                  <a:srgbClr val="002060"/>
                </a:solidFill>
                <a:latin typeface="Plus Jakarta Sans"/>
                <a:ea typeface="Plus Jakarta Sans"/>
                <a:cs typeface="Plus Jakarta Sans"/>
                <a:sym typeface="Plus Jakarta Sans"/>
              </a:endParaRPr>
            </a:p>
          </p:txBody>
        </p:sp>
        <p:sp>
          <p:nvSpPr>
            <p:cNvPr id="287" name="Google Shape;287;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6</a:t>
              </a:r>
              <a:endParaRPr sz="2800" b="1" i="0" u="none" strike="noStrike" cap="none">
                <a:solidFill>
                  <a:srgbClr val="FFFFFF"/>
                </a:solidFill>
                <a:latin typeface="Lato"/>
                <a:ea typeface="Lato"/>
                <a:cs typeface="Lato"/>
                <a:sym typeface="Lato"/>
              </a:endParaRPr>
            </a:p>
          </p:txBody>
        </p:sp>
      </p:grpSp>
      <p:grpSp>
        <p:nvGrpSpPr>
          <p:cNvPr id="288" name="Google Shape;288;p47"/>
          <p:cNvGrpSpPr/>
          <p:nvPr/>
        </p:nvGrpSpPr>
        <p:grpSpPr>
          <a:xfrm>
            <a:off x="916400" y="7046026"/>
            <a:ext cx="16323300" cy="762000"/>
            <a:chOff x="916400" y="2057100"/>
            <a:chExt cx="16323300" cy="762000"/>
          </a:xfrm>
        </p:grpSpPr>
        <p:sp>
          <p:nvSpPr>
            <p:cNvPr id="289" name="Google Shape;289;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Hubungan Guru dan Murid dalam Pola Pikir Bertumbuh</a:t>
              </a:r>
              <a:endParaRPr sz="2600" b="1" i="0" u="none" strike="noStrike" cap="none">
                <a:solidFill>
                  <a:srgbClr val="002060"/>
                </a:solidFill>
                <a:latin typeface="Plus Jakarta Sans"/>
                <a:ea typeface="Plus Jakarta Sans"/>
                <a:cs typeface="Plus Jakarta Sans"/>
                <a:sym typeface="Plus Jakarta Sans"/>
              </a:endParaRPr>
            </a:p>
          </p:txBody>
        </p:sp>
        <p:sp>
          <p:nvSpPr>
            <p:cNvPr id="290" name="Google Shape;290;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7</a:t>
              </a:r>
              <a:endParaRPr sz="2800" b="1" i="0" u="none" strike="noStrike" cap="none">
                <a:solidFill>
                  <a:srgbClr val="FFFFFF"/>
                </a:solidFill>
                <a:latin typeface="Lato"/>
                <a:ea typeface="Lato"/>
                <a:cs typeface="Lato"/>
                <a:sym typeface="Lato"/>
              </a:endParaRPr>
            </a:p>
          </p:txBody>
        </p:sp>
      </p:grpSp>
      <p:grpSp>
        <p:nvGrpSpPr>
          <p:cNvPr id="291" name="Google Shape;291;p47"/>
          <p:cNvGrpSpPr/>
          <p:nvPr/>
        </p:nvGrpSpPr>
        <p:grpSpPr>
          <a:xfrm>
            <a:off x="916400" y="7908771"/>
            <a:ext cx="16323300" cy="838200"/>
            <a:chOff x="916400" y="2931298"/>
            <a:chExt cx="16323300" cy="838200"/>
          </a:xfrm>
        </p:grpSpPr>
        <p:sp>
          <p:nvSpPr>
            <p:cNvPr id="292" name="Google Shape;292;p47"/>
            <p:cNvSpPr/>
            <p:nvPr/>
          </p:nvSpPr>
          <p:spPr>
            <a:xfrm>
              <a:off x="916400" y="2931298"/>
              <a:ext cx="16323300" cy="838200"/>
            </a:xfrm>
            <a:prstGeom prst="roundRect">
              <a:avLst>
                <a:gd name="adj" fmla="val 16667"/>
              </a:avLst>
            </a:prstGeom>
            <a:solidFill>
              <a:srgbClr val="EEFB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Empat Strategi Pola Pikir Bertumbuh di Kelas</a:t>
              </a:r>
              <a:endParaRPr sz="2600" b="1" i="0" u="none" strike="noStrike" cap="none">
                <a:solidFill>
                  <a:srgbClr val="002060"/>
                </a:solidFill>
                <a:latin typeface="Plus Jakarta Sans"/>
                <a:ea typeface="Plus Jakarta Sans"/>
                <a:cs typeface="Plus Jakarta Sans"/>
                <a:sym typeface="Plus Jakarta Sans"/>
              </a:endParaRPr>
            </a:p>
          </p:txBody>
        </p:sp>
        <p:sp>
          <p:nvSpPr>
            <p:cNvPr id="293" name="Google Shape;293;p47"/>
            <p:cNvSpPr/>
            <p:nvPr/>
          </p:nvSpPr>
          <p:spPr>
            <a:xfrm>
              <a:off x="1124966" y="3090774"/>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8</a:t>
              </a:r>
              <a:endParaRPr sz="2800" b="1" i="0" u="none" strike="noStrike" cap="none">
                <a:solidFill>
                  <a:srgbClr val="FFFFFF"/>
                </a:solidFill>
                <a:latin typeface="Lato"/>
                <a:ea typeface="Lato"/>
                <a:cs typeface="Lato"/>
                <a:sym typeface="Lato"/>
              </a:endParaRPr>
            </a:p>
          </p:txBody>
        </p:sp>
      </p:grpSp>
      <p:grpSp>
        <p:nvGrpSpPr>
          <p:cNvPr id="294" name="Google Shape;294;p47"/>
          <p:cNvGrpSpPr/>
          <p:nvPr/>
        </p:nvGrpSpPr>
        <p:grpSpPr>
          <a:xfrm>
            <a:off x="916400" y="8847726"/>
            <a:ext cx="16323300" cy="762000"/>
            <a:chOff x="916400" y="2057100"/>
            <a:chExt cx="16323300" cy="762000"/>
          </a:xfrm>
        </p:grpSpPr>
        <p:sp>
          <p:nvSpPr>
            <p:cNvPr id="295" name="Google Shape;295;p47"/>
            <p:cNvSpPr/>
            <p:nvPr/>
          </p:nvSpPr>
          <p:spPr>
            <a:xfrm>
              <a:off x="916400" y="2057100"/>
              <a:ext cx="16323300" cy="762000"/>
            </a:xfrm>
            <a:prstGeom prst="roundRect">
              <a:avLst>
                <a:gd name="adj" fmla="val 16667"/>
              </a:avLst>
            </a:prstGeom>
            <a:solidFill>
              <a:srgbClr val="79CEFF"/>
            </a:solidFill>
            <a:ln>
              <a:noFill/>
            </a:ln>
          </p:spPr>
          <p:txBody>
            <a:bodyPr spcFirstLastPara="1" wrap="square" lIns="182850" tIns="91400" rIns="182850" bIns="91400" anchor="ctr" anchorCtr="0">
              <a:noAutofit/>
            </a:bodyPr>
            <a:lstStyle/>
            <a:p>
              <a:pPr marL="0" marR="0" lvl="0" indent="914400" algn="l" rtl="0">
                <a:lnSpc>
                  <a:spcPct val="100000"/>
                </a:lnSpc>
                <a:spcBef>
                  <a:spcPts val="0"/>
                </a:spcBef>
                <a:spcAft>
                  <a:spcPts val="0"/>
                </a:spcAft>
                <a:buClr>
                  <a:schemeClr val="dk1"/>
                </a:buClr>
                <a:buSzPts val="2200"/>
                <a:buFont typeface="Arial"/>
                <a:buNone/>
              </a:pPr>
              <a:r>
                <a:rPr lang="en-US" sz="2600" b="1">
                  <a:solidFill>
                    <a:srgbClr val="002060"/>
                  </a:solidFill>
                  <a:latin typeface="Plus Jakarta Sans"/>
                  <a:ea typeface="Plus Jakarta Sans"/>
                  <a:cs typeface="Plus Jakarta Sans"/>
                  <a:sym typeface="Plus Jakarta Sans"/>
                </a:rPr>
                <a:t>Refleksi : Mempraktikan Pola Pikir Bertumbuh di Kelas</a:t>
              </a:r>
              <a:endParaRPr sz="2600" b="1" i="0" u="none" strike="noStrike" cap="none">
                <a:solidFill>
                  <a:srgbClr val="002060"/>
                </a:solidFill>
                <a:latin typeface="Plus Jakarta Sans"/>
                <a:ea typeface="Plus Jakarta Sans"/>
                <a:cs typeface="Plus Jakarta Sans"/>
                <a:sym typeface="Plus Jakarta Sans"/>
              </a:endParaRPr>
            </a:p>
          </p:txBody>
        </p:sp>
        <p:sp>
          <p:nvSpPr>
            <p:cNvPr id="296" name="Google Shape;296;p47"/>
            <p:cNvSpPr/>
            <p:nvPr/>
          </p:nvSpPr>
          <p:spPr>
            <a:xfrm>
              <a:off x="1124966" y="2207955"/>
              <a:ext cx="525000" cy="516600"/>
            </a:xfrm>
            <a:prstGeom prst="ellipse">
              <a:avLst/>
            </a:prstGeom>
            <a:solidFill>
              <a:srgbClr val="002060"/>
            </a:solidFill>
            <a:ln w="19050" cap="flat" cmpd="sng">
              <a:solidFill>
                <a:srgbClr val="FFFFF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n-US" sz="2800" b="1">
                  <a:solidFill>
                    <a:srgbClr val="FFFFFF"/>
                  </a:solidFill>
                  <a:latin typeface="Lato"/>
                  <a:ea typeface="Lato"/>
                  <a:cs typeface="Lato"/>
                  <a:sym typeface="Lato"/>
                </a:rPr>
                <a:t>9</a:t>
              </a:r>
              <a:endParaRPr sz="2800" b="1" i="0" u="none" strike="noStrike" cap="none">
                <a:solidFill>
                  <a:srgbClr val="FFFFFF"/>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8"/>
          <p:cNvSpPr txBox="1"/>
          <p:nvPr/>
        </p:nvSpPr>
        <p:spPr>
          <a:xfrm>
            <a:off x="1803000" y="218350"/>
            <a:ext cx="131901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700">
                <a:solidFill>
                  <a:srgbClr val="002060"/>
                </a:solidFill>
                <a:latin typeface="Open Sans ExtraBold"/>
                <a:ea typeface="Open Sans ExtraBold"/>
                <a:cs typeface="Open Sans ExtraBold"/>
                <a:sym typeface="Open Sans ExtraBold"/>
              </a:rPr>
              <a:t>Mendorong Pola Pikir Bertumbuh di Kelas</a:t>
            </a:r>
            <a:endParaRPr sz="3700" b="0" i="0" u="none" strike="noStrike" cap="none">
              <a:solidFill>
                <a:srgbClr val="000000"/>
              </a:solidFill>
              <a:latin typeface="Open Sans"/>
              <a:ea typeface="Open Sans"/>
              <a:cs typeface="Open Sans"/>
              <a:sym typeface="Open Sans"/>
            </a:endParaRPr>
          </a:p>
        </p:txBody>
      </p:sp>
      <p:grpSp>
        <p:nvGrpSpPr>
          <p:cNvPr id="302" name="Google Shape;302;p48"/>
          <p:cNvGrpSpPr/>
          <p:nvPr/>
        </p:nvGrpSpPr>
        <p:grpSpPr>
          <a:xfrm>
            <a:off x="0" y="45674"/>
            <a:ext cx="1923749" cy="1495147"/>
            <a:chOff x="-151896" y="-128007"/>
            <a:chExt cx="1282499" cy="996765"/>
          </a:xfrm>
        </p:grpSpPr>
        <p:sp>
          <p:nvSpPr>
            <p:cNvPr id="303" name="Google Shape;303;p48"/>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04" name="Google Shape;304;p48"/>
            <p:cNvGrpSpPr/>
            <p:nvPr/>
          </p:nvGrpSpPr>
          <p:grpSpPr>
            <a:xfrm>
              <a:off x="-151896" y="-128007"/>
              <a:ext cx="1282499" cy="996765"/>
              <a:chOff x="5908291" y="1447244"/>
              <a:chExt cx="4033016" cy="3338127"/>
            </a:xfrm>
          </p:grpSpPr>
          <p:pic>
            <p:nvPicPr>
              <p:cNvPr id="305" name="Google Shape;305;p48"/>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06" name="Google Shape;306;p48"/>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07" name="Google Shape;307;p48"/>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08" name="Google Shape;308;p48"/>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09" name="Google Shape;309;p48"/>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10" name="Google Shape;310;p48"/>
          <p:cNvSpPr/>
          <p:nvPr/>
        </p:nvSpPr>
        <p:spPr>
          <a:xfrm>
            <a:off x="378375" y="1895550"/>
            <a:ext cx="17357700" cy="76584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a:latin typeface="Proxima Nova"/>
                <a:ea typeface="Proxima Nova"/>
                <a:cs typeface="Proxima Nova"/>
                <a:sym typeface="Proxima Nova"/>
              </a:rPr>
              <a:t>Guru perlu menumbuhkan kesadaran bahwa pendidikan bukan hanya soal hasil, tetapi tentang proses belajar yang mendorong perkembangan murid secara utuh.</a:t>
            </a:r>
            <a:endParaRPr sz="3000">
              <a:latin typeface="Proxima Nova"/>
              <a:ea typeface="Proxima Nova"/>
              <a:cs typeface="Proxima Nova"/>
              <a:sym typeface="Proxima Nova"/>
            </a:endParaRPr>
          </a:p>
          <a:p>
            <a:pPr marL="0" lvl="0" indent="0" algn="l" rtl="0">
              <a:spcBef>
                <a:spcPts val="0"/>
              </a:spcBef>
              <a:spcAft>
                <a:spcPts val="0"/>
              </a:spcAft>
              <a:buNone/>
            </a:pPr>
            <a:endParaRPr sz="3000">
              <a:latin typeface="Proxima Nova"/>
              <a:ea typeface="Proxima Nova"/>
              <a:cs typeface="Proxima Nova"/>
              <a:sym typeface="Proxima Nova"/>
            </a:endParaRPr>
          </a:p>
          <a:p>
            <a:pPr marL="0" lvl="0" indent="0" algn="l" rtl="0">
              <a:spcBef>
                <a:spcPts val="0"/>
              </a:spcBef>
              <a:spcAft>
                <a:spcPts val="0"/>
              </a:spcAft>
              <a:buNone/>
            </a:pPr>
            <a:r>
              <a:rPr lang="en-US" sz="3000">
                <a:latin typeface="Proxima Nova"/>
                <a:ea typeface="Proxima Nova"/>
                <a:cs typeface="Proxima Nova"/>
                <a:sym typeface="Proxima Nova"/>
              </a:rPr>
              <a:t>Guru perlu memiliki peran strategis dalam menumbuhkan pola pikir bertumbuh melalui desain pengalaman belajar yang tepat karena pola pikir bertumbuh membantu murid:</a:t>
            </a:r>
            <a:endParaRPr sz="3000">
              <a:latin typeface="Proxima Nova"/>
              <a:ea typeface="Proxima Nova"/>
              <a:cs typeface="Proxima Nova"/>
              <a:sym typeface="Proxima Nova"/>
            </a:endParaRPr>
          </a:p>
          <a:p>
            <a:pPr marL="457200" lvl="0" indent="-419100" algn="l" rtl="0">
              <a:spcBef>
                <a:spcPts val="0"/>
              </a:spcBef>
              <a:spcAft>
                <a:spcPts val="0"/>
              </a:spcAft>
              <a:buSzPts val="3000"/>
              <a:buFont typeface="Proxima Nova"/>
              <a:buChar char="●"/>
            </a:pPr>
            <a:r>
              <a:rPr lang="en-US" sz="3000">
                <a:latin typeface="Proxima Nova"/>
                <a:ea typeface="Proxima Nova"/>
                <a:cs typeface="Proxima Nova"/>
                <a:sym typeface="Proxima Nova"/>
              </a:rPr>
              <a:t>Melihat tantangan sebagai kesempatan</a:t>
            </a:r>
            <a:endParaRPr sz="3000">
              <a:latin typeface="Proxima Nova"/>
              <a:ea typeface="Proxima Nova"/>
              <a:cs typeface="Proxima Nova"/>
              <a:sym typeface="Proxima Nova"/>
            </a:endParaRPr>
          </a:p>
          <a:p>
            <a:pPr marL="457200" lvl="0" indent="-419100" algn="l" rtl="0">
              <a:spcBef>
                <a:spcPts val="0"/>
              </a:spcBef>
              <a:spcAft>
                <a:spcPts val="0"/>
              </a:spcAft>
              <a:buSzPts val="3000"/>
              <a:buFont typeface="Proxima Nova"/>
              <a:buChar char="●"/>
            </a:pPr>
            <a:r>
              <a:rPr lang="en-US" sz="3000">
                <a:latin typeface="Proxima Nova"/>
                <a:ea typeface="Proxima Nova"/>
                <a:cs typeface="Proxima Nova"/>
                <a:sym typeface="Proxima Nova"/>
              </a:rPr>
              <a:t>Belajar dari kesalahan</a:t>
            </a:r>
            <a:endParaRPr sz="3000">
              <a:latin typeface="Proxima Nova"/>
              <a:ea typeface="Proxima Nova"/>
              <a:cs typeface="Proxima Nova"/>
              <a:sym typeface="Proxima Nova"/>
            </a:endParaRPr>
          </a:p>
          <a:p>
            <a:pPr marL="457200" lvl="0" indent="-419100" algn="l" rtl="0">
              <a:spcBef>
                <a:spcPts val="0"/>
              </a:spcBef>
              <a:spcAft>
                <a:spcPts val="0"/>
              </a:spcAft>
              <a:buSzPts val="3000"/>
              <a:buFont typeface="Proxima Nova"/>
              <a:buChar char="●"/>
            </a:pPr>
            <a:r>
              <a:rPr lang="en-US" sz="3000">
                <a:latin typeface="Proxima Nova"/>
                <a:ea typeface="Proxima Nova"/>
                <a:cs typeface="Proxima Nova"/>
                <a:sym typeface="Proxima Nova"/>
              </a:rPr>
              <a:t>Mengembangkan strategi baru saat menghadapi kesulitan</a:t>
            </a:r>
            <a:endParaRPr sz="3000">
              <a:latin typeface="Proxima Nova"/>
              <a:ea typeface="Proxima Nova"/>
              <a:cs typeface="Proxima Nova"/>
              <a:sym typeface="Proxima Nova"/>
            </a:endParaRPr>
          </a:p>
          <a:p>
            <a:pPr marL="0" lvl="0" indent="0" algn="l" rtl="0">
              <a:spcBef>
                <a:spcPts val="0"/>
              </a:spcBef>
              <a:spcAft>
                <a:spcPts val="0"/>
              </a:spcAft>
              <a:buNone/>
            </a:pPr>
            <a:endParaRPr sz="3000">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9"/>
          <p:cNvSpPr txBox="1"/>
          <p:nvPr/>
        </p:nvSpPr>
        <p:spPr>
          <a:xfrm>
            <a:off x="1923750" y="45625"/>
            <a:ext cx="12878100" cy="14952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Perbedaan Pola Pikir Guru</a:t>
            </a:r>
            <a:endParaRPr sz="4000" b="0" i="0" u="none" strike="noStrike" cap="none">
              <a:solidFill>
                <a:srgbClr val="000000"/>
              </a:solidFill>
              <a:latin typeface="Open Sans"/>
              <a:ea typeface="Open Sans"/>
              <a:cs typeface="Open Sans"/>
              <a:sym typeface="Open Sans"/>
            </a:endParaRPr>
          </a:p>
        </p:txBody>
      </p:sp>
      <p:grpSp>
        <p:nvGrpSpPr>
          <p:cNvPr id="316" name="Google Shape;316;p49"/>
          <p:cNvGrpSpPr/>
          <p:nvPr/>
        </p:nvGrpSpPr>
        <p:grpSpPr>
          <a:xfrm>
            <a:off x="0" y="45674"/>
            <a:ext cx="1923749" cy="1495147"/>
            <a:chOff x="-151896" y="-128007"/>
            <a:chExt cx="1282499" cy="996765"/>
          </a:xfrm>
        </p:grpSpPr>
        <p:sp>
          <p:nvSpPr>
            <p:cNvPr id="317" name="Google Shape;317;p49"/>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18" name="Google Shape;318;p49"/>
            <p:cNvGrpSpPr/>
            <p:nvPr/>
          </p:nvGrpSpPr>
          <p:grpSpPr>
            <a:xfrm>
              <a:off x="-151896" y="-128007"/>
              <a:ext cx="1282499" cy="996765"/>
              <a:chOff x="5908291" y="1447244"/>
              <a:chExt cx="4033016" cy="3338127"/>
            </a:xfrm>
          </p:grpSpPr>
          <p:pic>
            <p:nvPicPr>
              <p:cNvPr id="319" name="Google Shape;319;p49"/>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20" name="Google Shape;320;p49"/>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21" name="Google Shape;321;p49"/>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22" name="Google Shape;322;p49"/>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23" name="Google Shape;323;p49"/>
          <p:cNvPicPr preferRelativeResize="0"/>
          <p:nvPr/>
        </p:nvPicPr>
        <p:blipFill rotWithShape="1">
          <a:blip r:embed="rId7">
            <a:alphaModFix/>
          </a:blip>
          <a:srcRect l="4970"/>
          <a:stretch/>
        </p:blipFill>
        <p:spPr>
          <a:xfrm>
            <a:off x="16304700" y="245669"/>
            <a:ext cx="1916625" cy="628725"/>
          </a:xfrm>
          <a:prstGeom prst="rect">
            <a:avLst/>
          </a:prstGeom>
          <a:noFill/>
          <a:ln>
            <a:noFill/>
          </a:ln>
        </p:spPr>
      </p:pic>
      <p:graphicFrame>
        <p:nvGraphicFramePr>
          <p:cNvPr id="324" name="Google Shape;324;p49"/>
          <p:cNvGraphicFramePr/>
          <p:nvPr/>
        </p:nvGraphicFramePr>
        <p:xfrm>
          <a:off x="928025" y="2302263"/>
          <a:ext cx="3000000" cy="3000000"/>
        </p:xfrm>
        <a:graphic>
          <a:graphicData uri="http://schemas.openxmlformats.org/drawingml/2006/table">
            <a:tbl>
              <a:tblPr>
                <a:noFill/>
                <a:tableStyleId>{F394CBD2-88F1-45E5-8712-BB8CF13EEFA4}</a:tableStyleId>
              </a:tblPr>
              <a:tblGrid>
                <a:gridCol w="8017425">
                  <a:extLst>
                    <a:ext uri="{9D8B030D-6E8A-4147-A177-3AD203B41FA5}">
                      <a16:colId xmlns:a16="http://schemas.microsoft.com/office/drawing/2014/main" val="20000"/>
                    </a:ext>
                  </a:extLst>
                </a:gridCol>
                <a:gridCol w="8012175">
                  <a:extLst>
                    <a:ext uri="{9D8B030D-6E8A-4147-A177-3AD203B41FA5}">
                      <a16:colId xmlns:a16="http://schemas.microsoft.com/office/drawing/2014/main" val="20001"/>
                    </a:ext>
                  </a:extLst>
                </a:gridCol>
              </a:tblGrid>
              <a:tr h="738675">
                <a:tc>
                  <a:txBody>
                    <a:bodyPr/>
                    <a:lstStyle/>
                    <a:p>
                      <a:pPr marL="0" lvl="0" indent="0" algn="ctr" rtl="0">
                        <a:lnSpc>
                          <a:spcPct val="115000"/>
                        </a:lnSpc>
                        <a:spcBef>
                          <a:spcPts val="0"/>
                        </a:spcBef>
                        <a:spcAft>
                          <a:spcPts val="0"/>
                        </a:spcAft>
                        <a:buNone/>
                      </a:pPr>
                      <a:r>
                        <a:rPr lang="en-US" sz="2800" b="1">
                          <a:solidFill>
                            <a:schemeClr val="dk1"/>
                          </a:solidFill>
                          <a:latin typeface="Proxima Nova"/>
                          <a:ea typeface="Proxima Nova"/>
                          <a:cs typeface="Proxima Nova"/>
                          <a:sym typeface="Proxima Nova"/>
                        </a:rPr>
                        <a:t>Pola Pikir Tetap</a:t>
                      </a:r>
                      <a:endParaRPr sz="2800" b="1">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4E5F5"/>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US" sz="2800" b="1">
                          <a:solidFill>
                            <a:schemeClr val="dk1"/>
                          </a:solidFill>
                          <a:latin typeface="Proxima Nova"/>
                          <a:ea typeface="Proxima Nova"/>
                          <a:cs typeface="Proxima Nova"/>
                          <a:sym typeface="Proxima Nova"/>
                        </a:rPr>
                        <a:t>Pola Pikir Bertumbuh</a:t>
                      </a:r>
                      <a:endParaRPr sz="2800" b="1">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4E5F5"/>
                    </a:solidFill>
                  </a:tcPr>
                </a:tc>
                <a:extLst>
                  <a:ext uri="{0D108BD9-81ED-4DB2-BD59-A6C34878D82A}">
                    <a16:rowId xmlns:a16="http://schemas.microsoft.com/office/drawing/2014/main" val="10000"/>
                  </a:ext>
                </a:extLst>
              </a:tr>
              <a:tr h="738675">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“Murid ini tidak bisa.”</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“Bagaimana saya bantu dia mengerti?”</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1"/>
                  </a:ext>
                </a:extLst>
              </a:tr>
              <a:tr h="738675">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“Pelatihan ini membosankan.”</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“Saya cari ide baru dari pelatihan ini.”</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2"/>
                  </a:ext>
                </a:extLst>
              </a:tr>
              <a:tr h="738675">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“Orang tua ini merepotkan.”</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2800">
                          <a:latin typeface="Proxima Nova"/>
                          <a:ea typeface="Proxima Nova"/>
                          <a:cs typeface="Proxima Nova"/>
                          <a:sym typeface="Proxima Nova"/>
                        </a:rPr>
                        <a:t>“Orang tua ini peduli.”</a:t>
                      </a:r>
                      <a:endParaRPr sz="28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3"/>
                  </a:ext>
                </a:extLst>
              </a:tr>
            </a:tbl>
          </a:graphicData>
        </a:graphic>
      </p:graphicFrame>
      <p:sp>
        <p:nvSpPr>
          <p:cNvPr id="325" name="Google Shape;325;p49"/>
          <p:cNvSpPr txBox="1"/>
          <p:nvPr/>
        </p:nvSpPr>
        <p:spPr>
          <a:xfrm>
            <a:off x="928025" y="6124900"/>
            <a:ext cx="16029600" cy="22320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0"/>
              </a:spcBef>
              <a:spcAft>
                <a:spcPts val="0"/>
              </a:spcAft>
              <a:buNone/>
            </a:pPr>
            <a:r>
              <a:rPr lang="en-US" sz="2800" b="1">
                <a:solidFill>
                  <a:schemeClr val="dk1"/>
                </a:solidFill>
                <a:latin typeface="Proxima Nova"/>
                <a:ea typeface="Proxima Nova"/>
                <a:cs typeface="Proxima Nova"/>
                <a:sym typeface="Proxima Nova"/>
              </a:rPr>
              <a:t>Dampaknya pada Murid</a:t>
            </a:r>
            <a:endParaRPr sz="2800" b="1">
              <a:solidFill>
                <a:schemeClr val="dk1"/>
              </a:solidFill>
              <a:latin typeface="Proxima Nova"/>
              <a:ea typeface="Proxima Nova"/>
              <a:cs typeface="Proxima Nova"/>
              <a:sym typeface="Proxima Nova"/>
            </a:endParaRPr>
          </a:p>
          <a:p>
            <a:pPr marL="457200" lvl="0" indent="-406400" algn="l" rtl="0">
              <a:lnSpc>
                <a:spcPct val="125000"/>
              </a:lnSpc>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Pola pikir guru memengaruhi strategi mengajar dan motivasi murid.</a:t>
            </a:r>
            <a:endParaRPr sz="2800">
              <a:solidFill>
                <a:schemeClr val="dk1"/>
              </a:solidFill>
              <a:latin typeface="Proxima Nova"/>
              <a:ea typeface="Proxima Nova"/>
              <a:cs typeface="Proxima Nova"/>
              <a:sym typeface="Proxima Nova"/>
            </a:endParaRPr>
          </a:p>
          <a:p>
            <a:pPr marL="457200" lvl="0" indent="-406400" algn="l" rtl="0">
              <a:lnSpc>
                <a:spcPct val="125000"/>
              </a:lnSpc>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Guru dengan pola pikir bertumbuh mendorong usaha dan ketahanan belajar murid.</a:t>
            </a:r>
            <a:endParaRPr sz="2800">
              <a:solidFill>
                <a:schemeClr val="dk1"/>
              </a:solidFill>
              <a:latin typeface="Proxima Nova"/>
              <a:ea typeface="Proxima Nova"/>
              <a:cs typeface="Proxima Nova"/>
              <a:sym typeface="Proxima Nova"/>
            </a:endParaRPr>
          </a:p>
          <a:p>
            <a:pPr marL="457200" lvl="0" indent="-406400" algn="l" rtl="0">
              <a:lnSpc>
                <a:spcPct val="125000"/>
              </a:lnSpc>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Pola pikir tetap mendorong murid menghindari tantangan dan takut gagal.</a:t>
            </a:r>
            <a:endParaRPr sz="2800">
              <a:solidFill>
                <a:schemeClr val="dk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0"/>
          <p:cNvSpPr txBox="1"/>
          <p:nvPr/>
        </p:nvSpPr>
        <p:spPr>
          <a:xfrm>
            <a:off x="1923750" y="218350"/>
            <a:ext cx="128778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400">
                <a:solidFill>
                  <a:srgbClr val="002060"/>
                </a:solidFill>
                <a:latin typeface="Open Sans ExtraBold"/>
                <a:ea typeface="Open Sans ExtraBold"/>
                <a:cs typeface="Open Sans ExtraBold"/>
                <a:sym typeface="Open Sans ExtraBold"/>
              </a:rPr>
              <a:t>Praktik di Kelas untuk Menumbuhkan Growth Mindset</a:t>
            </a:r>
            <a:endParaRPr sz="3400" b="0" i="0" u="none" strike="noStrike" cap="none">
              <a:solidFill>
                <a:srgbClr val="000000"/>
              </a:solidFill>
              <a:latin typeface="Open Sans"/>
              <a:ea typeface="Open Sans"/>
              <a:cs typeface="Open Sans"/>
              <a:sym typeface="Open Sans"/>
            </a:endParaRPr>
          </a:p>
        </p:txBody>
      </p:sp>
      <p:grpSp>
        <p:nvGrpSpPr>
          <p:cNvPr id="331" name="Google Shape;331;p50"/>
          <p:cNvGrpSpPr/>
          <p:nvPr/>
        </p:nvGrpSpPr>
        <p:grpSpPr>
          <a:xfrm>
            <a:off x="0" y="45674"/>
            <a:ext cx="1923749" cy="1495147"/>
            <a:chOff x="-151896" y="-128007"/>
            <a:chExt cx="1282499" cy="996765"/>
          </a:xfrm>
        </p:grpSpPr>
        <p:sp>
          <p:nvSpPr>
            <p:cNvPr id="332" name="Google Shape;332;p50"/>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33" name="Google Shape;333;p50"/>
            <p:cNvGrpSpPr/>
            <p:nvPr/>
          </p:nvGrpSpPr>
          <p:grpSpPr>
            <a:xfrm>
              <a:off x="-151896" y="-128007"/>
              <a:ext cx="1282499" cy="996765"/>
              <a:chOff x="5908291" y="1447244"/>
              <a:chExt cx="4033016" cy="3338127"/>
            </a:xfrm>
          </p:grpSpPr>
          <p:pic>
            <p:nvPicPr>
              <p:cNvPr id="334" name="Google Shape;334;p50"/>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35" name="Google Shape;335;p50"/>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36" name="Google Shape;336;p50"/>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37" name="Google Shape;337;p50"/>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38" name="Google Shape;338;p50"/>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39" name="Google Shape;339;p50"/>
          <p:cNvSpPr/>
          <p:nvPr/>
        </p:nvSpPr>
        <p:spPr>
          <a:xfrm>
            <a:off x="378375" y="2104700"/>
            <a:ext cx="17357700" cy="75201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None/>
            </a:pPr>
            <a:r>
              <a:rPr lang="en-US" sz="3000" b="1">
                <a:latin typeface="Proxima Nova"/>
                <a:ea typeface="Proxima Nova"/>
                <a:cs typeface="Proxima Nova"/>
                <a:sym typeface="Proxima Nova"/>
              </a:rPr>
              <a:t>Pujian &amp; Kritik yang Efektif</a:t>
            </a:r>
            <a:endParaRPr sz="3000" b="1">
              <a:latin typeface="Proxima Nova"/>
              <a:ea typeface="Proxima Nova"/>
              <a:cs typeface="Proxima Nova"/>
              <a:sym typeface="Proxima Nova"/>
            </a:endParaRPr>
          </a:p>
          <a:p>
            <a:pPr marL="457200" lvl="0" indent="-419100" algn="l" rtl="0">
              <a:lnSpc>
                <a:spcPct val="125000"/>
              </a:lnSpc>
              <a:spcBef>
                <a:spcPts val="0"/>
              </a:spcBef>
              <a:spcAft>
                <a:spcPts val="0"/>
              </a:spcAft>
              <a:buSzPts val="3000"/>
              <a:buFont typeface="Proxima Nova"/>
              <a:buChar char="●"/>
            </a:pPr>
            <a:r>
              <a:rPr lang="en-US" sz="3000">
                <a:latin typeface="Proxima Nova"/>
                <a:ea typeface="Proxima Nova"/>
                <a:cs typeface="Proxima Nova"/>
                <a:sym typeface="Proxima Nova"/>
              </a:rPr>
              <a:t>Pujian Proses → “Kamu berusaha keras!”</a:t>
            </a:r>
            <a:endParaRPr sz="3000">
              <a:latin typeface="Proxima Nova"/>
              <a:ea typeface="Proxima Nova"/>
              <a:cs typeface="Proxima Nova"/>
              <a:sym typeface="Proxima Nova"/>
            </a:endParaRPr>
          </a:p>
          <a:p>
            <a:pPr marL="457200" lvl="0" indent="-419100" algn="l" rtl="0">
              <a:lnSpc>
                <a:spcPct val="125000"/>
              </a:lnSpc>
              <a:spcBef>
                <a:spcPts val="0"/>
              </a:spcBef>
              <a:spcAft>
                <a:spcPts val="0"/>
              </a:spcAft>
              <a:buSzPts val="3000"/>
              <a:buFont typeface="Proxima Nova"/>
              <a:buChar char="●"/>
            </a:pPr>
            <a:r>
              <a:rPr lang="en-US" sz="3000">
                <a:latin typeface="Proxima Nova"/>
                <a:ea typeface="Proxima Nova"/>
                <a:cs typeface="Proxima Nova"/>
                <a:sym typeface="Proxima Nova"/>
              </a:rPr>
              <a:t>Pujian Pribadi → “Kamu memang pintar.” </a:t>
            </a:r>
            <a:endParaRPr sz="3000">
              <a:latin typeface="Proxima Nova"/>
              <a:ea typeface="Proxima Nova"/>
              <a:cs typeface="Proxima Nova"/>
              <a:sym typeface="Proxima Nova"/>
            </a:endParaRPr>
          </a:p>
          <a:p>
            <a:pPr marL="457200" lvl="0" indent="-419100" algn="l" rtl="0">
              <a:lnSpc>
                <a:spcPct val="125000"/>
              </a:lnSpc>
              <a:spcBef>
                <a:spcPts val="0"/>
              </a:spcBef>
              <a:spcAft>
                <a:spcPts val="0"/>
              </a:spcAft>
              <a:buSzPts val="3000"/>
              <a:buFont typeface="Proxima Nova"/>
              <a:buChar char="●"/>
            </a:pPr>
            <a:r>
              <a:rPr lang="en-US" sz="3000">
                <a:latin typeface="Proxima Nova"/>
                <a:ea typeface="Proxima Nova"/>
                <a:cs typeface="Proxima Nova"/>
                <a:sym typeface="Proxima Nova"/>
              </a:rPr>
              <a:t>Kritik Proses → Fokus pada strategi dan perbaikan</a:t>
            </a:r>
            <a:endParaRPr sz="3000">
              <a:latin typeface="Proxima Nova"/>
              <a:ea typeface="Proxima Nova"/>
              <a:cs typeface="Proxima Nova"/>
              <a:sym typeface="Proxima Nova"/>
            </a:endParaRPr>
          </a:p>
          <a:p>
            <a:pPr marL="457200" lvl="0" indent="-419100" algn="l" rtl="0">
              <a:lnSpc>
                <a:spcPct val="125000"/>
              </a:lnSpc>
              <a:spcBef>
                <a:spcPts val="0"/>
              </a:spcBef>
              <a:spcAft>
                <a:spcPts val="0"/>
              </a:spcAft>
              <a:buSzPts val="3000"/>
              <a:buFont typeface="Proxima Nova"/>
              <a:buChar char="●"/>
            </a:pPr>
            <a:r>
              <a:rPr lang="en-US" sz="3000">
                <a:latin typeface="Proxima Nova"/>
                <a:ea typeface="Proxima Nova"/>
                <a:cs typeface="Proxima Nova"/>
                <a:sym typeface="Proxima Nova"/>
              </a:rPr>
              <a:t>Kritik Pribadi → Melemahkan kepercayaan diri</a:t>
            </a:r>
            <a:endParaRPr sz="3000">
              <a:latin typeface="Proxima Nova"/>
              <a:ea typeface="Proxima Nova"/>
              <a:cs typeface="Proxima Nova"/>
              <a:sym typeface="Proxima Nova"/>
            </a:endParaRPr>
          </a:p>
          <a:p>
            <a:pPr marL="0" lvl="0" indent="0" algn="l" rtl="0">
              <a:lnSpc>
                <a:spcPct val="125000"/>
              </a:lnSpc>
              <a:spcBef>
                <a:spcPts val="0"/>
              </a:spcBef>
              <a:spcAft>
                <a:spcPts val="0"/>
              </a:spcAft>
              <a:buClr>
                <a:schemeClr val="dk1"/>
              </a:buClr>
              <a:buSzPts val="1100"/>
              <a:buFont typeface="Arial"/>
              <a:buNone/>
            </a:pPr>
            <a:endParaRPr sz="3000">
              <a:latin typeface="Proxima Nova"/>
              <a:ea typeface="Proxima Nova"/>
              <a:cs typeface="Proxima Nova"/>
              <a:sym typeface="Proxima Nova"/>
            </a:endParaRPr>
          </a:p>
          <a:p>
            <a:pPr marL="0" lvl="0" indent="0" algn="l" rtl="0">
              <a:lnSpc>
                <a:spcPct val="125000"/>
              </a:lnSpc>
              <a:spcBef>
                <a:spcPts val="0"/>
              </a:spcBef>
              <a:spcAft>
                <a:spcPts val="0"/>
              </a:spcAft>
              <a:buClr>
                <a:schemeClr val="dk1"/>
              </a:buClr>
              <a:buSzPts val="1100"/>
              <a:buFont typeface="Arial"/>
              <a:buNone/>
            </a:pPr>
            <a:r>
              <a:rPr lang="en-US" sz="3000" b="1">
                <a:latin typeface="Proxima Nova"/>
                <a:ea typeface="Proxima Nova"/>
                <a:cs typeface="Proxima Nova"/>
                <a:sym typeface="Proxima Nova"/>
              </a:rPr>
              <a:t>Power of Yet</a:t>
            </a:r>
            <a:endParaRPr sz="3000" b="1">
              <a:latin typeface="Proxima Nova"/>
              <a:ea typeface="Proxima Nova"/>
              <a:cs typeface="Proxima Nova"/>
              <a:sym typeface="Proxima Nova"/>
            </a:endParaRPr>
          </a:p>
          <a:p>
            <a:pPr marL="0" lvl="0" indent="0" algn="l" rtl="0">
              <a:lnSpc>
                <a:spcPct val="125000"/>
              </a:lnSpc>
              <a:spcBef>
                <a:spcPts val="0"/>
              </a:spcBef>
              <a:spcAft>
                <a:spcPts val="0"/>
              </a:spcAft>
              <a:buClr>
                <a:schemeClr val="dk1"/>
              </a:buClr>
              <a:buSzPts val="1100"/>
              <a:buFont typeface="Arial"/>
              <a:buNone/>
            </a:pPr>
            <a:r>
              <a:rPr lang="en-US" sz="3000">
                <a:latin typeface="Proxima Nova"/>
                <a:ea typeface="Proxima Nova"/>
                <a:cs typeface="Proxima Nova"/>
                <a:sym typeface="Proxima Nova"/>
              </a:rPr>
              <a:t>Ubah: “Tidak lulus” Jadi “Belum lulus”</a:t>
            </a:r>
            <a:endParaRPr sz="3000">
              <a:latin typeface="Proxima Nova"/>
              <a:ea typeface="Proxima Nova"/>
              <a:cs typeface="Proxima Nova"/>
              <a:sym typeface="Proxima Nova"/>
            </a:endParaRPr>
          </a:p>
          <a:p>
            <a:pPr marL="0" lvl="0" indent="0" algn="l" rtl="0">
              <a:lnSpc>
                <a:spcPct val="125000"/>
              </a:lnSpc>
              <a:spcBef>
                <a:spcPts val="0"/>
              </a:spcBef>
              <a:spcAft>
                <a:spcPts val="0"/>
              </a:spcAft>
              <a:buNone/>
            </a:pPr>
            <a:r>
              <a:rPr lang="en-US" sz="3000">
                <a:latin typeface="Proxima Nova"/>
                <a:ea typeface="Proxima Nova"/>
                <a:cs typeface="Proxima Nova"/>
                <a:sym typeface="Proxima Nova"/>
              </a:rPr>
              <a:t>Fokus pada proses dan peluang memperbaiki</a:t>
            </a:r>
            <a:endParaRPr sz="30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1"/>
          <p:cNvSpPr txBox="1"/>
          <p:nvPr/>
        </p:nvSpPr>
        <p:spPr>
          <a:xfrm>
            <a:off x="1923750" y="45625"/>
            <a:ext cx="12878100" cy="14952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Penilaian dan Target Pembelajaran</a:t>
            </a:r>
            <a:endParaRPr sz="4000" b="0" i="0" u="none" strike="noStrike" cap="none">
              <a:solidFill>
                <a:srgbClr val="000000"/>
              </a:solidFill>
              <a:latin typeface="Open Sans"/>
              <a:ea typeface="Open Sans"/>
              <a:cs typeface="Open Sans"/>
              <a:sym typeface="Open Sans"/>
            </a:endParaRPr>
          </a:p>
        </p:txBody>
      </p:sp>
      <p:grpSp>
        <p:nvGrpSpPr>
          <p:cNvPr id="345" name="Google Shape;345;p51"/>
          <p:cNvGrpSpPr/>
          <p:nvPr/>
        </p:nvGrpSpPr>
        <p:grpSpPr>
          <a:xfrm>
            <a:off x="0" y="45674"/>
            <a:ext cx="1923749" cy="1495147"/>
            <a:chOff x="-151896" y="-128007"/>
            <a:chExt cx="1282499" cy="996765"/>
          </a:xfrm>
        </p:grpSpPr>
        <p:sp>
          <p:nvSpPr>
            <p:cNvPr id="346" name="Google Shape;346;p51"/>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47" name="Google Shape;347;p51"/>
            <p:cNvGrpSpPr/>
            <p:nvPr/>
          </p:nvGrpSpPr>
          <p:grpSpPr>
            <a:xfrm>
              <a:off x="-151896" y="-128007"/>
              <a:ext cx="1282499" cy="996765"/>
              <a:chOff x="5908291" y="1447244"/>
              <a:chExt cx="4033016" cy="3338127"/>
            </a:xfrm>
          </p:grpSpPr>
          <p:pic>
            <p:nvPicPr>
              <p:cNvPr id="348" name="Google Shape;348;p51"/>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49" name="Google Shape;349;p51"/>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50" name="Google Shape;350;p51"/>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51" name="Google Shape;351;p51"/>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52" name="Google Shape;352;p51"/>
          <p:cNvPicPr preferRelativeResize="0"/>
          <p:nvPr/>
        </p:nvPicPr>
        <p:blipFill rotWithShape="1">
          <a:blip r:embed="rId7">
            <a:alphaModFix/>
          </a:blip>
          <a:srcRect l="4970"/>
          <a:stretch/>
        </p:blipFill>
        <p:spPr>
          <a:xfrm>
            <a:off x="16304700" y="245669"/>
            <a:ext cx="1916625" cy="628725"/>
          </a:xfrm>
          <a:prstGeom prst="rect">
            <a:avLst/>
          </a:prstGeom>
          <a:noFill/>
          <a:ln>
            <a:noFill/>
          </a:ln>
        </p:spPr>
      </p:pic>
      <p:graphicFrame>
        <p:nvGraphicFramePr>
          <p:cNvPr id="353" name="Google Shape;353;p51"/>
          <p:cNvGraphicFramePr/>
          <p:nvPr/>
        </p:nvGraphicFramePr>
        <p:xfrm>
          <a:off x="928025" y="2302263"/>
          <a:ext cx="3000000" cy="3000000"/>
        </p:xfrm>
        <a:graphic>
          <a:graphicData uri="http://schemas.openxmlformats.org/drawingml/2006/table">
            <a:tbl>
              <a:tblPr>
                <a:noFill/>
                <a:tableStyleId>{F394CBD2-88F1-45E5-8712-BB8CF13EEFA4}</a:tableStyleId>
              </a:tblPr>
              <a:tblGrid>
                <a:gridCol w="8017425">
                  <a:extLst>
                    <a:ext uri="{9D8B030D-6E8A-4147-A177-3AD203B41FA5}">
                      <a16:colId xmlns:a16="http://schemas.microsoft.com/office/drawing/2014/main" val="20000"/>
                    </a:ext>
                  </a:extLst>
                </a:gridCol>
                <a:gridCol w="8012175">
                  <a:extLst>
                    <a:ext uri="{9D8B030D-6E8A-4147-A177-3AD203B41FA5}">
                      <a16:colId xmlns:a16="http://schemas.microsoft.com/office/drawing/2014/main" val="20001"/>
                    </a:ext>
                  </a:extLst>
                </a:gridCol>
              </a:tblGrid>
              <a:tr h="738675">
                <a:tc>
                  <a:txBody>
                    <a:bodyPr/>
                    <a:lstStyle/>
                    <a:p>
                      <a:pPr marL="0" lvl="0" indent="0" algn="ctr" rtl="0">
                        <a:lnSpc>
                          <a:spcPct val="115000"/>
                        </a:lnSpc>
                        <a:spcBef>
                          <a:spcPts val="0"/>
                        </a:spcBef>
                        <a:spcAft>
                          <a:spcPts val="0"/>
                        </a:spcAft>
                        <a:buNone/>
                      </a:pPr>
                      <a:r>
                        <a:rPr lang="en-US" sz="3000" b="1">
                          <a:solidFill>
                            <a:schemeClr val="dk1"/>
                          </a:solidFill>
                          <a:latin typeface="Proxima Nova"/>
                          <a:ea typeface="Proxima Nova"/>
                          <a:cs typeface="Proxima Nova"/>
                          <a:sym typeface="Proxima Nova"/>
                        </a:rPr>
                        <a:t>Target Performa</a:t>
                      </a:r>
                      <a:endParaRPr sz="3000" b="1">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4E5F5"/>
                    </a:solidFill>
                  </a:tcPr>
                </a:tc>
                <a:tc>
                  <a:txBody>
                    <a:bodyPr/>
                    <a:lstStyle/>
                    <a:p>
                      <a:pPr marL="0" lvl="0" indent="0" algn="ctr" rtl="0">
                        <a:lnSpc>
                          <a:spcPct val="115000"/>
                        </a:lnSpc>
                        <a:spcBef>
                          <a:spcPts val="0"/>
                        </a:spcBef>
                        <a:spcAft>
                          <a:spcPts val="0"/>
                        </a:spcAft>
                        <a:buNone/>
                      </a:pPr>
                      <a:r>
                        <a:rPr lang="en-US" sz="3000" b="1">
                          <a:solidFill>
                            <a:schemeClr val="dk1"/>
                          </a:solidFill>
                          <a:latin typeface="Proxima Nova"/>
                          <a:ea typeface="Proxima Nova"/>
                          <a:cs typeface="Proxima Nova"/>
                          <a:sym typeface="Proxima Nova"/>
                        </a:rPr>
                        <a:t>Target Pembelajaran</a:t>
                      </a:r>
                      <a:endParaRPr sz="3000" b="1">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4E5F5"/>
                    </a:solidFill>
                  </a:tcPr>
                </a:tc>
                <a:extLst>
                  <a:ext uri="{0D108BD9-81ED-4DB2-BD59-A6C34878D82A}">
                    <a16:rowId xmlns:a16="http://schemas.microsoft.com/office/drawing/2014/main" val="10000"/>
                  </a:ext>
                </a:extLst>
              </a:tr>
              <a:tr h="738675">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Ingin terlihat pintar</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Ingin belajar sungguh-sungguh</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1"/>
                  </a:ext>
                </a:extLst>
              </a:tr>
              <a:tr h="738675">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Fokus hasil akhir</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Fokus proses dan usaha</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2"/>
                  </a:ext>
                </a:extLst>
              </a:tr>
              <a:tr h="738675">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Cenderung membandingkan murid</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tc>
                  <a:txBody>
                    <a:bodyPr/>
                    <a:lstStyle/>
                    <a:p>
                      <a:pPr marL="0" lvl="0" indent="0" algn="l" rtl="0">
                        <a:lnSpc>
                          <a:spcPct val="115000"/>
                        </a:lnSpc>
                        <a:spcBef>
                          <a:spcPts val="0"/>
                        </a:spcBef>
                        <a:spcAft>
                          <a:spcPts val="0"/>
                        </a:spcAft>
                        <a:buNone/>
                      </a:pPr>
                      <a:r>
                        <a:rPr lang="en-US" sz="3000">
                          <a:latin typeface="Proxima Nova"/>
                          <a:ea typeface="Proxima Nova"/>
                          <a:cs typeface="Proxima Nova"/>
                          <a:sym typeface="Proxima Nova"/>
                        </a:rPr>
                        <a:t>Personalisasi tugas dan gaya belajar</a:t>
                      </a:r>
                      <a:endParaRPr sz="3000">
                        <a:latin typeface="Proxima Nova"/>
                        <a:ea typeface="Proxima Nova"/>
                        <a:cs typeface="Proxima Nova"/>
                        <a:sym typeface="Proxima Nov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EEEEE"/>
                    </a:solidFill>
                  </a:tcPr>
                </a:tc>
                <a:extLst>
                  <a:ext uri="{0D108BD9-81ED-4DB2-BD59-A6C34878D82A}">
                    <a16:rowId xmlns:a16="http://schemas.microsoft.com/office/drawing/2014/main" val="10003"/>
                  </a:ext>
                </a:extLst>
              </a:tr>
            </a:tbl>
          </a:graphicData>
        </a:graphic>
      </p:graphicFrame>
      <p:sp>
        <p:nvSpPr>
          <p:cNvPr id="354" name="Google Shape;354;p51"/>
          <p:cNvSpPr txBox="1"/>
          <p:nvPr/>
        </p:nvSpPr>
        <p:spPr>
          <a:xfrm>
            <a:off x="928025" y="6124900"/>
            <a:ext cx="16029600" cy="18009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0"/>
              </a:spcBef>
              <a:spcAft>
                <a:spcPts val="0"/>
              </a:spcAft>
              <a:buNone/>
            </a:pPr>
            <a:r>
              <a:rPr lang="en-US" sz="3000" b="1">
                <a:solidFill>
                  <a:schemeClr val="dk1"/>
                </a:solidFill>
                <a:latin typeface="Proxima Nova"/>
                <a:ea typeface="Proxima Nova"/>
                <a:cs typeface="Proxima Nova"/>
                <a:sym typeface="Proxima Nova"/>
              </a:rPr>
              <a:t>Implikasi Penilaian</a:t>
            </a:r>
            <a:endParaRPr sz="3000" b="1">
              <a:solidFill>
                <a:schemeClr val="dk1"/>
              </a:solidFill>
              <a:latin typeface="Proxima Nova"/>
              <a:ea typeface="Proxima Nova"/>
              <a:cs typeface="Proxima Nova"/>
              <a:sym typeface="Proxima Nova"/>
            </a:endParaRPr>
          </a:p>
          <a:p>
            <a:pPr marL="457200" lvl="0" indent="-419100" algn="l" rtl="0">
              <a:lnSpc>
                <a:spcPct val="125000"/>
              </a:lnSpc>
              <a:spcBef>
                <a:spcPts val="0"/>
              </a:spcBef>
              <a:spcAft>
                <a:spcPts val="0"/>
              </a:spcAft>
              <a:buClr>
                <a:schemeClr val="dk1"/>
              </a:buClr>
              <a:buSzPts val="3000"/>
              <a:buFont typeface="Proxima Nova"/>
              <a:buChar char="●"/>
            </a:pPr>
            <a:r>
              <a:rPr lang="en-US" sz="3000">
                <a:solidFill>
                  <a:schemeClr val="dk1"/>
                </a:solidFill>
                <a:latin typeface="Proxima Nova"/>
                <a:ea typeface="Proxima Nova"/>
                <a:cs typeface="Proxima Nova"/>
                <a:sym typeface="Proxima Nova"/>
              </a:rPr>
              <a:t>Hindari penilaian sebagai hasil akhir tanpa refleksi proses.</a:t>
            </a:r>
            <a:endParaRPr sz="3000">
              <a:solidFill>
                <a:schemeClr val="dk1"/>
              </a:solidFill>
              <a:latin typeface="Proxima Nova"/>
              <a:ea typeface="Proxima Nova"/>
              <a:cs typeface="Proxima Nova"/>
              <a:sym typeface="Proxima Nova"/>
            </a:endParaRPr>
          </a:p>
          <a:p>
            <a:pPr marL="457200" lvl="0" indent="-419100" algn="l" rtl="0">
              <a:lnSpc>
                <a:spcPct val="125000"/>
              </a:lnSpc>
              <a:spcBef>
                <a:spcPts val="0"/>
              </a:spcBef>
              <a:spcAft>
                <a:spcPts val="0"/>
              </a:spcAft>
              <a:buClr>
                <a:schemeClr val="dk1"/>
              </a:buClr>
              <a:buSzPts val="3000"/>
              <a:buFont typeface="Proxima Nova"/>
              <a:buChar char="●"/>
            </a:pPr>
            <a:r>
              <a:rPr lang="en-US" sz="3000">
                <a:solidFill>
                  <a:schemeClr val="dk1"/>
                </a:solidFill>
                <a:latin typeface="Proxima Nova"/>
                <a:ea typeface="Proxima Nova"/>
                <a:cs typeface="Proxima Nova"/>
                <a:sym typeface="Proxima Nova"/>
              </a:rPr>
              <a:t>Gunakan penilaian untuk mendorong proses belajar, bukan hanya pencapaian.</a:t>
            </a:r>
            <a:endParaRPr sz="3000">
              <a:solidFill>
                <a:schemeClr val="dk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2"/>
          <p:cNvSpPr txBox="1"/>
          <p:nvPr/>
        </p:nvSpPr>
        <p:spPr>
          <a:xfrm>
            <a:off x="1923750" y="218350"/>
            <a:ext cx="128778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200">
                <a:solidFill>
                  <a:srgbClr val="002060"/>
                </a:solidFill>
                <a:latin typeface="Open Sans ExtraBold"/>
                <a:ea typeface="Open Sans ExtraBold"/>
                <a:cs typeface="Open Sans ExtraBold"/>
                <a:sym typeface="Open Sans ExtraBold"/>
              </a:rPr>
              <a:t>Menata Kelas untuk Menumbuhkan Pola Pikir Bertumbuh</a:t>
            </a:r>
            <a:endParaRPr sz="3200" b="0" i="0" u="none" strike="noStrike" cap="none">
              <a:solidFill>
                <a:srgbClr val="000000"/>
              </a:solidFill>
              <a:latin typeface="Open Sans"/>
              <a:ea typeface="Open Sans"/>
              <a:cs typeface="Open Sans"/>
              <a:sym typeface="Open Sans"/>
            </a:endParaRPr>
          </a:p>
        </p:txBody>
      </p:sp>
      <p:grpSp>
        <p:nvGrpSpPr>
          <p:cNvPr id="360" name="Google Shape;360;p52"/>
          <p:cNvGrpSpPr/>
          <p:nvPr/>
        </p:nvGrpSpPr>
        <p:grpSpPr>
          <a:xfrm>
            <a:off x="0" y="45674"/>
            <a:ext cx="1923749" cy="1495147"/>
            <a:chOff x="-151896" y="-128007"/>
            <a:chExt cx="1282499" cy="996765"/>
          </a:xfrm>
        </p:grpSpPr>
        <p:sp>
          <p:nvSpPr>
            <p:cNvPr id="361" name="Google Shape;361;p52"/>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62" name="Google Shape;362;p52"/>
            <p:cNvGrpSpPr/>
            <p:nvPr/>
          </p:nvGrpSpPr>
          <p:grpSpPr>
            <a:xfrm>
              <a:off x="-151896" y="-128007"/>
              <a:ext cx="1282499" cy="996765"/>
              <a:chOff x="5908291" y="1447244"/>
              <a:chExt cx="4033016" cy="3338127"/>
            </a:xfrm>
          </p:grpSpPr>
          <p:pic>
            <p:nvPicPr>
              <p:cNvPr id="363" name="Google Shape;363;p52"/>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64" name="Google Shape;364;p52"/>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65" name="Google Shape;365;p52"/>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66" name="Google Shape;366;p52"/>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67" name="Google Shape;367;p52"/>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68" name="Google Shape;368;p52"/>
          <p:cNvSpPr/>
          <p:nvPr/>
        </p:nvSpPr>
        <p:spPr>
          <a:xfrm>
            <a:off x="378375" y="2104700"/>
            <a:ext cx="9672300" cy="79932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500">
                <a:solidFill>
                  <a:schemeClr val="dk1"/>
                </a:solidFill>
                <a:latin typeface="Proxima Nova"/>
                <a:ea typeface="Proxima Nova"/>
                <a:cs typeface="Proxima Nova"/>
                <a:sym typeface="Proxima Nova"/>
              </a:rPr>
              <a:t>Penataan kelas akan mewujudkan kelas yang aman, nyaman, dan mendukung keberanian mengambil risiko serta belajar dari kesalahan.</a:t>
            </a:r>
            <a:endParaRPr sz="2500">
              <a:solidFill>
                <a:schemeClr val="dk1"/>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500">
              <a:latin typeface="Proxima Nova"/>
              <a:ea typeface="Proxima Nova"/>
              <a:cs typeface="Proxima Nova"/>
              <a:sym typeface="Proxima Nova"/>
            </a:endParaRPr>
          </a:p>
          <a:p>
            <a:pPr marL="0" lvl="0" indent="0" algn="l" rtl="0">
              <a:lnSpc>
                <a:spcPct val="115000"/>
              </a:lnSpc>
              <a:spcBef>
                <a:spcPts val="0"/>
              </a:spcBef>
              <a:spcAft>
                <a:spcPts val="0"/>
              </a:spcAft>
              <a:buClr>
                <a:schemeClr val="dk1"/>
              </a:buClr>
              <a:buSzPts val="1100"/>
              <a:buFont typeface="Arial"/>
              <a:buNone/>
            </a:pPr>
            <a:r>
              <a:rPr lang="en-US" sz="2500" b="1">
                <a:latin typeface="Proxima Nova"/>
                <a:ea typeface="Proxima Nova"/>
                <a:cs typeface="Proxima Nova"/>
                <a:sym typeface="Proxima Nova"/>
              </a:rPr>
              <a:t>Lingkungan kelas harus:</a:t>
            </a:r>
            <a:endParaRPr sz="2500" b="1">
              <a:latin typeface="Proxima Nova"/>
              <a:ea typeface="Proxima Nova"/>
              <a:cs typeface="Proxima Nova"/>
              <a:sym typeface="Proxima Nova"/>
            </a:endParaRPr>
          </a:p>
          <a:p>
            <a:pPr marL="457200" lvl="0" indent="-387350" algn="l" rtl="0">
              <a:lnSpc>
                <a:spcPct val="115000"/>
              </a:lnSpc>
              <a:spcBef>
                <a:spcPts val="0"/>
              </a:spcBef>
              <a:spcAft>
                <a:spcPts val="0"/>
              </a:spcAft>
              <a:buSzPts val="2500"/>
              <a:buFont typeface="Proxima Nova"/>
              <a:buChar char="●"/>
            </a:pPr>
            <a:r>
              <a:rPr lang="en-US" sz="2500">
                <a:latin typeface="Proxima Nova"/>
                <a:ea typeface="Proxima Nova"/>
                <a:cs typeface="Proxima Nova"/>
                <a:sym typeface="Proxima Nova"/>
              </a:rPr>
              <a:t>Menunjukkan keteladanan pola pikir bertumbuh oleh guru setiap hari.</a:t>
            </a:r>
            <a:endParaRPr sz="2500">
              <a:latin typeface="Proxima Nova"/>
              <a:ea typeface="Proxima Nova"/>
              <a:cs typeface="Proxima Nova"/>
              <a:sym typeface="Proxima Nova"/>
            </a:endParaRPr>
          </a:p>
          <a:p>
            <a:pPr marL="457200" lvl="0" indent="-387350" algn="l" rtl="0">
              <a:lnSpc>
                <a:spcPct val="115000"/>
              </a:lnSpc>
              <a:spcBef>
                <a:spcPts val="0"/>
              </a:spcBef>
              <a:spcAft>
                <a:spcPts val="0"/>
              </a:spcAft>
              <a:buSzPts val="2500"/>
              <a:buFont typeface="Proxima Nova"/>
              <a:buChar char="●"/>
            </a:pPr>
            <a:r>
              <a:rPr lang="en-US" sz="2500">
                <a:latin typeface="Proxima Nova"/>
                <a:ea typeface="Proxima Nova"/>
                <a:cs typeface="Proxima Nova"/>
                <a:sym typeface="Proxima Nova"/>
              </a:rPr>
              <a:t>Didukung oleh pengaturan ruang kelas yang mendukung dan memperkuat pesan pola pikir bertumbuh.</a:t>
            </a:r>
            <a:endParaRPr sz="2500">
              <a:latin typeface="Proxima Nova"/>
              <a:ea typeface="Proxima Nova"/>
              <a:cs typeface="Proxima Nova"/>
              <a:sym typeface="Proxima Nova"/>
            </a:endParaRPr>
          </a:p>
          <a:p>
            <a:pPr marL="0" lvl="0" indent="0" algn="l" rtl="0">
              <a:lnSpc>
                <a:spcPct val="115000"/>
              </a:lnSpc>
              <a:spcBef>
                <a:spcPts val="0"/>
              </a:spcBef>
              <a:spcAft>
                <a:spcPts val="0"/>
              </a:spcAft>
              <a:buClr>
                <a:schemeClr val="dk1"/>
              </a:buClr>
              <a:buSzPts val="1100"/>
              <a:buFont typeface="Arial"/>
              <a:buNone/>
            </a:pPr>
            <a:endParaRPr sz="2500">
              <a:latin typeface="Proxima Nova"/>
              <a:ea typeface="Proxima Nova"/>
              <a:cs typeface="Proxima Nova"/>
              <a:sym typeface="Proxima Nova"/>
            </a:endParaRPr>
          </a:p>
          <a:p>
            <a:pPr marL="0" lvl="0" indent="0" algn="l" rtl="0">
              <a:lnSpc>
                <a:spcPct val="115000"/>
              </a:lnSpc>
              <a:spcBef>
                <a:spcPts val="0"/>
              </a:spcBef>
              <a:spcAft>
                <a:spcPts val="0"/>
              </a:spcAft>
              <a:buClr>
                <a:schemeClr val="dk1"/>
              </a:buClr>
              <a:buSzPts val="1100"/>
              <a:buFont typeface="Arial"/>
              <a:buNone/>
            </a:pPr>
            <a:r>
              <a:rPr lang="en-US" sz="2500" b="1">
                <a:latin typeface="Proxima Nova"/>
                <a:ea typeface="Proxima Nova"/>
                <a:cs typeface="Proxima Nova"/>
                <a:sym typeface="Proxima Nova"/>
              </a:rPr>
              <a:t>Praktik nyata di kelas:</a:t>
            </a:r>
            <a:endParaRPr sz="2500" b="1">
              <a:latin typeface="Proxima Nova"/>
              <a:ea typeface="Proxima Nova"/>
              <a:cs typeface="Proxima Nova"/>
              <a:sym typeface="Proxima Nova"/>
            </a:endParaRPr>
          </a:p>
          <a:p>
            <a:pPr marL="457200" lvl="0" indent="-387350" algn="l" rtl="0">
              <a:lnSpc>
                <a:spcPct val="115000"/>
              </a:lnSpc>
              <a:spcBef>
                <a:spcPts val="0"/>
              </a:spcBef>
              <a:spcAft>
                <a:spcPts val="0"/>
              </a:spcAft>
              <a:buSzPts val="2500"/>
              <a:buFont typeface="Proxima Nova"/>
              <a:buChar char="●"/>
            </a:pPr>
            <a:r>
              <a:rPr lang="en-US" sz="2500">
                <a:latin typeface="Proxima Nova"/>
                <a:ea typeface="Proxima Nova"/>
                <a:cs typeface="Proxima Nova"/>
                <a:sym typeface="Proxima Nova"/>
              </a:rPr>
              <a:t>Pajangan hasil karya murid: Tampilkan karya yang menunjukkan proses belajar, bukan hanya yang sempurna.</a:t>
            </a:r>
            <a:endParaRPr sz="2500">
              <a:latin typeface="Proxima Nova"/>
              <a:ea typeface="Proxima Nova"/>
              <a:cs typeface="Proxima Nova"/>
              <a:sym typeface="Proxima Nova"/>
            </a:endParaRPr>
          </a:p>
          <a:p>
            <a:pPr marL="457200" lvl="0" indent="-387350" algn="l" rtl="0">
              <a:lnSpc>
                <a:spcPct val="115000"/>
              </a:lnSpc>
              <a:spcBef>
                <a:spcPts val="0"/>
              </a:spcBef>
              <a:spcAft>
                <a:spcPts val="0"/>
              </a:spcAft>
              <a:buSzPts val="2500"/>
              <a:buFont typeface="Proxima Nova"/>
              <a:buChar char="●"/>
            </a:pPr>
            <a:r>
              <a:rPr lang="en-US" sz="2500">
                <a:latin typeface="Proxima Nova"/>
                <a:ea typeface="Proxima Nova"/>
                <a:cs typeface="Proxima Nova"/>
                <a:sym typeface="Proxima Nova"/>
              </a:rPr>
              <a:t>Peraturan kelas: Fokus pada etos positif, bukan larangan.</a:t>
            </a:r>
            <a:endParaRPr sz="2500">
              <a:latin typeface="Proxima Nova"/>
              <a:ea typeface="Proxima Nova"/>
              <a:cs typeface="Proxima Nova"/>
              <a:sym typeface="Proxima Nova"/>
            </a:endParaRPr>
          </a:p>
          <a:p>
            <a:pPr marL="457200" lvl="0" indent="-387350" algn="l" rtl="0">
              <a:lnSpc>
                <a:spcPct val="115000"/>
              </a:lnSpc>
              <a:spcBef>
                <a:spcPts val="0"/>
              </a:spcBef>
              <a:spcAft>
                <a:spcPts val="0"/>
              </a:spcAft>
              <a:buSzPts val="2500"/>
              <a:buFont typeface="Proxima Nova"/>
              <a:buChar char="●"/>
            </a:pPr>
            <a:r>
              <a:rPr lang="en-US" sz="2500">
                <a:latin typeface="Proxima Nova"/>
                <a:ea typeface="Proxima Nova"/>
                <a:cs typeface="Proxima Nova"/>
                <a:sym typeface="Proxima Nova"/>
              </a:rPr>
              <a:t>Pengaturan meja: Kelompok kolaboratif lebih baik dari barisan ke depan.</a:t>
            </a:r>
            <a:endParaRPr sz="2500">
              <a:latin typeface="Proxima Nova"/>
              <a:ea typeface="Proxima Nova"/>
              <a:cs typeface="Proxima Nova"/>
              <a:sym typeface="Proxima Nova"/>
            </a:endParaRPr>
          </a:p>
        </p:txBody>
      </p:sp>
      <p:sp>
        <p:nvSpPr>
          <p:cNvPr id="369" name="Google Shape;369;p52"/>
          <p:cNvSpPr/>
          <p:nvPr/>
        </p:nvSpPr>
        <p:spPr>
          <a:xfrm>
            <a:off x="10405250" y="2104700"/>
            <a:ext cx="7436100" cy="7520100"/>
          </a:xfrm>
          <a:prstGeom prst="roundRect">
            <a:avLst>
              <a:gd name="adj" fmla="val 16667"/>
            </a:avLst>
          </a:prstGeom>
          <a:solidFill>
            <a:srgbClr val="FFF2CC"/>
          </a:solidFill>
          <a:ln>
            <a:noFill/>
          </a:ln>
        </p:spPr>
        <p:txBody>
          <a:bodyPr spcFirstLastPara="1" wrap="square" lIns="91425" tIns="91425" rIns="91425" bIns="91425" anchor="t" anchorCtr="0">
            <a:noAutofit/>
          </a:bodyPr>
          <a:lstStyle/>
          <a:p>
            <a:pPr marL="457200" lvl="0"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Dekorasi dinding: Gunakan afirmasi seperti:</a:t>
            </a:r>
            <a:endParaRPr sz="2500">
              <a:latin typeface="Proxima Nova"/>
              <a:ea typeface="Proxima Nova"/>
              <a:cs typeface="Proxima Nova"/>
              <a:sym typeface="Proxima Nova"/>
            </a:endParaRPr>
          </a:p>
          <a:p>
            <a:pPr marL="914400" lvl="1"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“Ubah Kata-Katamu, Ubah Mindsetmu”</a:t>
            </a:r>
            <a:endParaRPr sz="2500">
              <a:latin typeface="Proxima Nova"/>
              <a:ea typeface="Proxima Nova"/>
              <a:cs typeface="Proxima Nova"/>
              <a:sym typeface="Proxima Nova"/>
            </a:endParaRPr>
          </a:p>
          <a:p>
            <a:pPr marL="914400" lvl="1"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“Jangan takut salah!”</a:t>
            </a:r>
            <a:endParaRPr sz="2500">
              <a:latin typeface="Proxima Nova"/>
              <a:ea typeface="Proxima Nova"/>
              <a:cs typeface="Proxima Nova"/>
              <a:sym typeface="Proxima Nova"/>
            </a:endParaRPr>
          </a:p>
          <a:p>
            <a:pPr marL="457200" lvl="0"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Hindari pujian yang tidak kontekstual seperti “Kamu Hebat!”</a:t>
            </a:r>
            <a:endParaRPr sz="2500">
              <a:latin typeface="Proxima Nova"/>
              <a:ea typeface="Proxima Nova"/>
              <a:cs typeface="Proxima Nova"/>
              <a:sym typeface="Proxima Nova"/>
            </a:endParaRPr>
          </a:p>
          <a:p>
            <a:pPr marL="457200" lvl="0"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Meja guru: Posisi terbuka dan mudah diakses, bahkan tanpa meja.</a:t>
            </a:r>
            <a:endParaRPr sz="2500">
              <a:latin typeface="Proxima Nova"/>
              <a:ea typeface="Proxima Nova"/>
              <a:cs typeface="Proxima Nova"/>
              <a:sym typeface="Proxima Nova"/>
            </a:endParaRPr>
          </a:p>
          <a:p>
            <a:pPr marL="457200" lvl="0"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Sarana tambahan: Sofa, bantal besar, area sunyi untuk gaya belajar berbeda.</a:t>
            </a:r>
            <a:endParaRPr sz="2500">
              <a:latin typeface="Proxima Nova"/>
              <a:ea typeface="Proxima Nova"/>
              <a:cs typeface="Proxima Nova"/>
              <a:sym typeface="Proxima Nova"/>
            </a:endParaRPr>
          </a:p>
          <a:p>
            <a:pPr marL="457200" lvl="0" indent="-387350" algn="l" rtl="0">
              <a:lnSpc>
                <a:spcPct val="125000"/>
              </a:lnSpc>
              <a:spcBef>
                <a:spcPts val="0"/>
              </a:spcBef>
              <a:spcAft>
                <a:spcPts val="0"/>
              </a:spcAft>
              <a:buSzPts val="2500"/>
              <a:buFont typeface="Proxima Nova"/>
              <a:buChar char="●"/>
            </a:pPr>
            <a:r>
              <a:rPr lang="en-US" sz="2500">
                <a:latin typeface="Proxima Nova"/>
                <a:ea typeface="Proxima Nova"/>
                <a:cs typeface="Proxima Nova"/>
                <a:sym typeface="Proxima Nova"/>
              </a:rPr>
              <a:t>Manajemen kelas: Hindari label negatif, gunakan pendekatan membina dan tidak mempermalukan.</a:t>
            </a:r>
            <a:endParaRPr sz="2500">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3"/>
          <p:cNvSpPr txBox="1"/>
          <p:nvPr/>
        </p:nvSpPr>
        <p:spPr>
          <a:xfrm>
            <a:off x="1923750" y="218350"/>
            <a:ext cx="128781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Strategi Afirmasi Pola Pikir Bertumbuh</a:t>
            </a:r>
            <a:endParaRPr sz="4000" b="0" i="0" u="none" strike="noStrike" cap="none">
              <a:solidFill>
                <a:srgbClr val="000000"/>
              </a:solidFill>
              <a:latin typeface="Open Sans"/>
              <a:ea typeface="Open Sans"/>
              <a:cs typeface="Open Sans"/>
              <a:sym typeface="Open Sans"/>
            </a:endParaRPr>
          </a:p>
        </p:txBody>
      </p:sp>
      <p:grpSp>
        <p:nvGrpSpPr>
          <p:cNvPr id="375" name="Google Shape;375;p53"/>
          <p:cNvGrpSpPr/>
          <p:nvPr/>
        </p:nvGrpSpPr>
        <p:grpSpPr>
          <a:xfrm>
            <a:off x="0" y="45674"/>
            <a:ext cx="1923749" cy="1495147"/>
            <a:chOff x="-151896" y="-128007"/>
            <a:chExt cx="1282499" cy="996765"/>
          </a:xfrm>
        </p:grpSpPr>
        <p:sp>
          <p:nvSpPr>
            <p:cNvPr id="376" name="Google Shape;376;p53"/>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77" name="Google Shape;377;p53"/>
            <p:cNvGrpSpPr/>
            <p:nvPr/>
          </p:nvGrpSpPr>
          <p:grpSpPr>
            <a:xfrm>
              <a:off x="-151896" y="-128007"/>
              <a:ext cx="1282499" cy="996765"/>
              <a:chOff x="5908291" y="1447244"/>
              <a:chExt cx="4033016" cy="3338127"/>
            </a:xfrm>
          </p:grpSpPr>
          <p:pic>
            <p:nvPicPr>
              <p:cNvPr id="378" name="Google Shape;378;p53"/>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79" name="Google Shape;379;p53"/>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80" name="Google Shape;380;p53"/>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81" name="Google Shape;381;p53"/>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82" name="Google Shape;382;p53"/>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83" name="Google Shape;383;p53"/>
          <p:cNvSpPr/>
          <p:nvPr/>
        </p:nvSpPr>
        <p:spPr>
          <a:xfrm>
            <a:off x="378375" y="1726325"/>
            <a:ext cx="17452500" cy="78276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FFD966"/>
                </a:solidFill>
                <a:highlight>
                  <a:srgbClr val="263474"/>
                </a:highlight>
                <a:latin typeface="Proxima Nova"/>
                <a:ea typeface="Proxima Nova"/>
                <a:cs typeface="Proxima Nova"/>
                <a:sym typeface="Proxima Nova"/>
              </a:rPr>
              <a:t>Afirmasi untuk Mengawali Hari:</a:t>
            </a:r>
            <a:endParaRPr sz="2800" b="1">
              <a:solidFill>
                <a:srgbClr val="FFD966"/>
              </a:solidFill>
              <a:highlight>
                <a:srgbClr val="263474"/>
              </a:highlight>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“Saya akan belajar dari orang lain hari ini.”</a:t>
            </a:r>
            <a:endParaRPr sz="2800">
              <a:solidFill>
                <a:schemeClr val="dk1"/>
              </a:solidFill>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“Masukan adalah hadiah yang membantu saya berkembang.”</a:t>
            </a:r>
            <a:endParaRPr sz="2800">
              <a:solidFill>
                <a:schemeClr val="dk1"/>
              </a:solidFill>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“Kesalahan hari ini jadi pelajaran berharga.”</a:t>
            </a:r>
            <a:endParaRPr sz="2800">
              <a:solidFill>
                <a:schemeClr val="dk1"/>
              </a:solidFill>
              <a:latin typeface="Proxima Nova"/>
              <a:ea typeface="Proxima Nova"/>
              <a:cs typeface="Proxima Nova"/>
              <a:sym typeface="Proxima Nova"/>
            </a:endParaRPr>
          </a:p>
          <a:p>
            <a:pPr marL="457200" lvl="0" indent="0" algn="l" rtl="0">
              <a:spcBef>
                <a:spcPts val="0"/>
              </a:spcBef>
              <a:spcAft>
                <a:spcPts val="0"/>
              </a:spcAft>
              <a:buNone/>
            </a:pPr>
            <a:endParaRPr sz="2800" b="1">
              <a:solidFill>
                <a:srgbClr val="FFD966"/>
              </a:solidFill>
              <a:highlight>
                <a:srgbClr val="263474"/>
              </a:highlight>
              <a:latin typeface="Proxima Nova"/>
              <a:ea typeface="Proxima Nova"/>
              <a:cs typeface="Proxima Nova"/>
              <a:sym typeface="Proxima Nova"/>
            </a:endParaRPr>
          </a:p>
          <a:p>
            <a:pPr marL="0" lvl="0" indent="0" algn="l" rtl="0">
              <a:spcBef>
                <a:spcPts val="0"/>
              </a:spcBef>
              <a:spcAft>
                <a:spcPts val="0"/>
              </a:spcAft>
              <a:buNone/>
            </a:pPr>
            <a:r>
              <a:rPr lang="en-US" sz="2800" b="1">
                <a:solidFill>
                  <a:srgbClr val="FFD966"/>
                </a:solidFill>
                <a:highlight>
                  <a:srgbClr val="263474"/>
                </a:highlight>
                <a:latin typeface="Proxima Nova"/>
                <a:ea typeface="Proxima Nova"/>
                <a:cs typeface="Proxima Nova"/>
                <a:sym typeface="Proxima Nova"/>
              </a:rPr>
              <a:t>Afirmasi untuk Mengakhiri Hari:</a:t>
            </a:r>
            <a:endParaRPr sz="2800" b="1">
              <a:solidFill>
                <a:srgbClr val="FFD966"/>
              </a:solidFill>
              <a:highlight>
                <a:srgbClr val="263474"/>
              </a:highlight>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“Hari ini saya menerima masukan dan belajar dari tantangan.”</a:t>
            </a:r>
            <a:endParaRPr sz="2800">
              <a:solidFill>
                <a:schemeClr val="dk1"/>
              </a:solidFill>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“Saya sudah berusaha dan besok akan lebih baik.”</a:t>
            </a:r>
            <a:endParaRPr sz="2800">
              <a:solidFill>
                <a:schemeClr val="dk1"/>
              </a:solidFill>
              <a:latin typeface="Proxima Nova"/>
              <a:ea typeface="Proxima Nova"/>
              <a:cs typeface="Proxima Nova"/>
              <a:sym typeface="Proxima Nova"/>
            </a:endParaRPr>
          </a:p>
          <a:p>
            <a:pPr marL="457200" lvl="0" indent="0" algn="l" rtl="0">
              <a:spcBef>
                <a:spcPts val="0"/>
              </a:spcBef>
              <a:spcAft>
                <a:spcPts val="0"/>
              </a:spcAft>
              <a:buNone/>
            </a:pPr>
            <a:endParaRPr sz="2800" b="1">
              <a:solidFill>
                <a:srgbClr val="FFD966"/>
              </a:solidFill>
              <a:highlight>
                <a:srgbClr val="263474"/>
              </a:highlight>
              <a:latin typeface="Proxima Nova"/>
              <a:ea typeface="Proxima Nova"/>
              <a:cs typeface="Proxima Nova"/>
              <a:sym typeface="Proxima Nova"/>
            </a:endParaRPr>
          </a:p>
          <a:p>
            <a:pPr marL="0" lvl="0" indent="0" algn="l" rtl="0">
              <a:spcBef>
                <a:spcPts val="0"/>
              </a:spcBef>
              <a:spcAft>
                <a:spcPts val="0"/>
              </a:spcAft>
              <a:buNone/>
            </a:pPr>
            <a:r>
              <a:rPr lang="en-US" sz="2800" b="1">
                <a:solidFill>
                  <a:srgbClr val="FFD966"/>
                </a:solidFill>
                <a:highlight>
                  <a:srgbClr val="263474"/>
                </a:highlight>
                <a:latin typeface="Proxima Nova"/>
                <a:ea typeface="Proxima Nova"/>
                <a:cs typeface="Proxima Nova"/>
                <a:sym typeface="Proxima Nova"/>
              </a:rPr>
              <a:t>Afirmasi saat Menghadapi Kesulitan:</a:t>
            </a:r>
            <a:endParaRPr sz="2800" b="1">
              <a:solidFill>
                <a:srgbClr val="FFD966"/>
              </a:solidFill>
              <a:highlight>
                <a:srgbClr val="263474"/>
              </a:highlight>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“Saya problem solver, saya pantang menyerah.”</a:t>
            </a:r>
            <a:endParaRPr sz="2800">
              <a:solidFill>
                <a:schemeClr val="dk1"/>
              </a:solidFill>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“Saya belum bisa, bukan tidak bisa.”</a:t>
            </a:r>
            <a:endParaRPr sz="2800">
              <a:solidFill>
                <a:schemeClr val="dk1"/>
              </a:solidFill>
              <a:latin typeface="Proxima Nova"/>
              <a:ea typeface="Proxima Nova"/>
              <a:cs typeface="Proxima Nova"/>
              <a:sym typeface="Proxima Nova"/>
            </a:endParaRPr>
          </a:p>
          <a:p>
            <a:pPr marL="457200" lvl="0" indent="-406400" algn="l" rtl="0">
              <a:spcBef>
                <a:spcPts val="0"/>
              </a:spcBef>
              <a:spcAft>
                <a:spcPts val="0"/>
              </a:spcAft>
              <a:buClr>
                <a:schemeClr val="dk1"/>
              </a:buClr>
              <a:buSzPts val="2800"/>
              <a:buFont typeface="Proxima Nova"/>
              <a:buChar char="●"/>
            </a:pPr>
            <a:r>
              <a:rPr lang="en-US" sz="2800">
                <a:solidFill>
                  <a:schemeClr val="dk1"/>
                </a:solidFill>
                <a:latin typeface="Proxima Nova"/>
                <a:ea typeface="Proxima Nova"/>
                <a:cs typeface="Proxima Nova"/>
                <a:sym typeface="Proxima Nova"/>
              </a:rPr>
              <a:t>“Kritik membangun adalah informasi penting.”</a:t>
            </a:r>
            <a:endParaRPr sz="2800">
              <a:solidFill>
                <a:schemeClr val="dk1"/>
              </a:solidFill>
              <a:latin typeface="Proxima Nova"/>
              <a:ea typeface="Proxima Nova"/>
              <a:cs typeface="Proxima Nova"/>
              <a:sym typeface="Proxima Nova"/>
            </a:endParaRPr>
          </a:p>
          <a:p>
            <a:pPr marL="0" lvl="0" indent="0" algn="l" rtl="0">
              <a:spcBef>
                <a:spcPts val="0"/>
              </a:spcBef>
              <a:spcAft>
                <a:spcPts val="0"/>
              </a:spcAft>
              <a:buNone/>
            </a:pPr>
            <a:endParaRPr sz="2800" b="1">
              <a:solidFill>
                <a:srgbClr val="FFD966"/>
              </a:solidFill>
              <a:highlight>
                <a:srgbClr val="263474"/>
              </a:highlight>
              <a:latin typeface="Proxima Nova"/>
              <a:ea typeface="Proxima Nova"/>
              <a:cs typeface="Proxima Nova"/>
              <a:sym typeface="Proxima Nova"/>
            </a:endParaRPr>
          </a:p>
          <a:p>
            <a:pPr marL="0" lvl="0" indent="0" algn="l" rtl="0">
              <a:spcBef>
                <a:spcPts val="0"/>
              </a:spcBef>
              <a:spcAft>
                <a:spcPts val="0"/>
              </a:spcAft>
              <a:buNone/>
            </a:pPr>
            <a:r>
              <a:rPr lang="en-US" sz="2800" b="1">
                <a:solidFill>
                  <a:srgbClr val="FFD966"/>
                </a:solidFill>
                <a:highlight>
                  <a:srgbClr val="263474"/>
                </a:highlight>
                <a:latin typeface="Proxima Nova"/>
                <a:ea typeface="Proxima Nova"/>
                <a:cs typeface="Proxima Nova"/>
                <a:sym typeface="Proxima Nova"/>
              </a:rPr>
              <a:t>Catatan:</a:t>
            </a:r>
            <a:r>
              <a:rPr lang="en-US" sz="2800" b="1">
                <a:solidFill>
                  <a:srgbClr val="FFD966"/>
                </a:solidFill>
                <a:latin typeface="Proxima Nova"/>
                <a:ea typeface="Proxima Nova"/>
                <a:cs typeface="Proxima Nova"/>
                <a:sym typeface="Proxima Nova"/>
              </a:rPr>
              <a:t> </a:t>
            </a:r>
            <a:r>
              <a:rPr lang="en-US" sz="2800" b="1">
                <a:solidFill>
                  <a:schemeClr val="dk1"/>
                </a:solidFill>
                <a:latin typeface="Proxima Nova"/>
                <a:ea typeface="Proxima Nova"/>
                <a:cs typeface="Proxima Nova"/>
                <a:sym typeface="Proxima Nova"/>
              </a:rPr>
              <a:t>Afirmasi bisa dibacakan oleh guru atau bersama murid secara rutin untuk membangun atmosfer positif di kelas.</a:t>
            </a:r>
            <a:endParaRPr sz="2800" b="1">
              <a:solidFill>
                <a:schemeClr val="dk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4"/>
          <p:cNvSpPr txBox="1"/>
          <p:nvPr/>
        </p:nvSpPr>
        <p:spPr>
          <a:xfrm>
            <a:off x="1923750" y="218350"/>
            <a:ext cx="128778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4000">
                <a:solidFill>
                  <a:srgbClr val="002060"/>
                </a:solidFill>
                <a:latin typeface="Open Sans ExtraBold"/>
                <a:ea typeface="Open Sans ExtraBold"/>
                <a:cs typeface="Open Sans ExtraBold"/>
                <a:sym typeface="Open Sans ExtraBold"/>
              </a:rPr>
              <a:t>Hubungan Guru dan Murid dalam Pola Pikir Bertumbuh</a:t>
            </a:r>
            <a:endParaRPr sz="4000" b="0" i="0" u="none" strike="noStrike" cap="none">
              <a:solidFill>
                <a:srgbClr val="000000"/>
              </a:solidFill>
              <a:latin typeface="Open Sans"/>
              <a:ea typeface="Open Sans"/>
              <a:cs typeface="Open Sans"/>
              <a:sym typeface="Open Sans"/>
            </a:endParaRPr>
          </a:p>
        </p:txBody>
      </p:sp>
      <p:grpSp>
        <p:nvGrpSpPr>
          <p:cNvPr id="389" name="Google Shape;389;p54"/>
          <p:cNvGrpSpPr/>
          <p:nvPr/>
        </p:nvGrpSpPr>
        <p:grpSpPr>
          <a:xfrm>
            <a:off x="0" y="45674"/>
            <a:ext cx="1923749" cy="1495147"/>
            <a:chOff x="-151896" y="-128007"/>
            <a:chExt cx="1282499" cy="996765"/>
          </a:xfrm>
        </p:grpSpPr>
        <p:sp>
          <p:nvSpPr>
            <p:cNvPr id="390" name="Google Shape;390;p54"/>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391" name="Google Shape;391;p54"/>
            <p:cNvGrpSpPr/>
            <p:nvPr/>
          </p:nvGrpSpPr>
          <p:grpSpPr>
            <a:xfrm>
              <a:off x="-151896" y="-128007"/>
              <a:ext cx="1282499" cy="996765"/>
              <a:chOff x="5908291" y="1447244"/>
              <a:chExt cx="4033016" cy="3338127"/>
            </a:xfrm>
          </p:grpSpPr>
          <p:pic>
            <p:nvPicPr>
              <p:cNvPr id="392" name="Google Shape;392;p54"/>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393" name="Google Shape;393;p54"/>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394" name="Google Shape;394;p54"/>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395" name="Google Shape;395;p54"/>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396" name="Google Shape;396;p54"/>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397" name="Google Shape;397;p54"/>
          <p:cNvSpPr/>
          <p:nvPr/>
        </p:nvSpPr>
        <p:spPr>
          <a:xfrm>
            <a:off x="465150" y="1939175"/>
            <a:ext cx="17357700" cy="71892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700" b="1">
                <a:latin typeface="Proxima Nova"/>
                <a:ea typeface="Proxima Nova"/>
                <a:cs typeface="Proxima Nova"/>
                <a:sym typeface="Proxima Nova"/>
              </a:rPr>
              <a:t>5 Komponen Hubungan Efektif:</a:t>
            </a:r>
            <a:endParaRPr sz="2700" b="1">
              <a:latin typeface="Proxima Nova"/>
              <a:ea typeface="Proxima Nova"/>
              <a:cs typeface="Proxima Nova"/>
              <a:sym typeface="Proxima Nova"/>
            </a:endParaRPr>
          </a:p>
          <a:p>
            <a:pPr marL="0" lvl="0" indent="0" algn="l" rtl="0">
              <a:lnSpc>
                <a:spcPct val="115000"/>
              </a:lnSpc>
              <a:spcBef>
                <a:spcPts val="0"/>
              </a:spcBef>
              <a:spcAft>
                <a:spcPts val="0"/>
              </a:spcAft>
              <a:buClr>
                <a:schemeClr val="dk1"/>
              </a:buClr>
              <a:buSzPts val="1100"/>
              <a:buFont typeface="Arial"/>
              <a:buNone/>
            </a:pPr>
            <a:endParaRPr sz="2700" b="1">
              <a:latin typeface="Proxima Nova"/>
              <a:ea typeface="Proxima Nova"/>
              <a:cs typeface="Proxima Nova"/>
              <a:sym typeface="Proxima Nova"/>
            </a:endParaRPr>
          </a:p>
          <a:p>
            <a:pPr marL="457200" lvl="0" indent="-393700" algn="l" rtl="0">
              <a:lnSpc>
                <a:spcPct val="115000"/>
              </a:lnSpc>
              <a:spcBef>
                <a:spcPts val="0"/>
              </a:spcBef>
              <a:spcAft>
                <a:spcPts val="0"/>
              </a:spcAft>
              <a:buSzPts val="2600"/>
              <a:buFont typeface="Proxima Nova"/>
              <a:buAutoNum type="arabicPeriod"/>
            </a:pPr>
            <a:r>
              <a:rPr lang="en-US" sz="2600" b="1" i="1">
                <a:latin typeface="Proxima Nova"/>
                <a:ea typeface="Proxima Nova"/>
                <a:cs typeface="Proxima Nova"/>
                <a:sym typeface="Proxima Nova"/>
              </a:rPr>
              <a:t>Kepercayaan Guru kepada Murid</a:t>
            </a:r>
            <a:endParaRPr sz="2600" b="1" i="1">
              <a:latin typeface="Proxima Nova"/>
              <a:ea typeface="Proxima Nova"/>
              <a:cs typeface="Proxima Nova"/>
              <a:sym typeface="Proxima Nova"/>
            </a:endParaRPr>
          </a:p>
          <a:p>
            <a:pPr marL="457200" lvl="0" indent="0" algn="l" rtl="0">
              <a:lnSpc>
                <a:spcPct val="115000"/>
              </a:lnSpc>
              <a:spcBef>
                <a:spcPts val="0"/>
              </a:spcBef>
              <a:spcAft>
                <a:spcPts val="0"/>
              </a:spcAft>
              <a:buNone/>
            </a:pPr>
            <a:r>
              <a:rPr lang="en-US" sz="2600">
                <a:latin typeface="Proxima Nova"/>
                <a:ea typeface="Proxima Nova"/>
                <a:cs typeface="Proxima Nova"/>
                <a:sym typeface="Proxima Nova"/>
              </a:rPr>
              <a:t>Guru harus percaya dan menunjukkan keyakinannya bahwa murid bisa berkembang melalui usaha.</a:t>
            </a:r>
            <a:endParaRPr sz="2600">
              <a:latin typeface="Proxima Nova"/>
              <a:ea typeface="Proxima Nova"/>
              <a:cs typeface="Proxima Nova"/>
              <a:sym typeface="Proxima Nova"/>
            </a:endParaRPr>
          </a:p>
          <a:p>
            <a:pPr marL="457200" lvl="0" indent="-393700" algn="l" rtl="0">
              <a:lnSpc>
                <a:spcPct val="115000"/>
              </a:lnSpc>
              <a:spcBef>
                <a:spcPts val="0"/>
              </a:spcBef>
              <a:spcAft>
                <a:spcPts val="0"/>
              </a:spcAft>
              <a:buSzPts val="2600"/>
              <a:buFont typeface="Proxima Nova"/>
              <a:buAutoNum type="arabicPeriod"/>
            </a:pPr>
            <a:r>
              <a:rPr lang="en-US" sz="2600" b="1" i="1">
                <a:latin typeface="Proxima Nova"/>
                <a:ea typeface="Proxima Nova"/>
                <a:cs typeface="Proxima Nova"/>
                <a:sym typeface="Proxima Nova"/>
              </a:rPr>
              <a:t>Kedekatan Personal</a:t>
            </a:r>
            <a:endParaRPr sz="2600" b="1" i="1">
              <a:latin typeface="Proxima Nova"/>
              <a:ea typeface="Proxima Nova"/>
              <a:cs typeface="Proxima Nova"/>
              <a:sym typeface="Proxima Nova"/>
            </a:endParaRPr>
          </a:p>
          <a:p>
            <a:pPr marL="457200" lvl="0" indent="0" algn="l" rtl="0">
              <a:lnSpc>
                <a:spcPct val="115000"/>
              </a:lnSpc>
              <a:spcBef>
                <a:spcPts val="0"/>
              </a:spcBef>
              <a:spcAft>
                <a:spcPts val="0"/>
              </a:spcAft>
              <a:buNone/>
            </a:pPr>
            <a:r>
              <a:rPr lang="en-US" sz="2600">
                <a:latin typeface="Proxima Nova"/>
                <a:ea typeface="Proxima Nova"/>
                <a:cs typeface="Proxima Nova"/>
                <a:sym typeface="Proxima Nova"/>
              </a:rPr>
              <a:t>Ketahui latar belakang, minat, dan kehidupan murid untuk membangun kedekatan yang bermakna.</a:t>
            </a:r>
            <a:endParaRPr sz="2600">
              <a:latin typeface="Proxima Nova"/>
              <a:ea typeface="Proxima Nova"/>
              <a:cs typeface="Proxima Nova"/>
              <a:sym typeface="Proxima Nova"/>
            </a:endParaRPr>
          </a:p>
          <a:p>
            <a:pPr marL="457200" lvl="0" indent="-393700" algn="l" rtl="0">
              <a:lnSpc>
                <a:spcPct val="115000"/>
              </a:lnSpc>
              <a:spcBef>
                <a:spcPts val="0"/>
              </a:spcBef>
              <a:spcAft>
                <a:spcPts val="0"/>
              </a:spcAft>
              <a:buSzPts val="2600"/>
              <a:buFont typeface="Proxima Nova"/>
              <a:buAutoNum type="arabicPeriod"/>
            </a:pPr>
            <a:r>
              <a:rPr lang="en-US" sz="2600" b="1" i="1">
                <a:latin typeface="Proxima Nova"/>
                <a:ea typeface="Proxima Nova"/>
                <a:cs typeface="Proxima Nova"/>
                <a:sym typeface="Proxima Nova"/>
              </a:rPr>
              <a:t>Penerimaan terhadap Masukan</a:t>
            </a:r>
            <a:endParaRPr sz="2600" b="1" i="1">
              <a:latin typeface="Proxima Nova"/>
              <a:ea typeface="Proxima Nova"/>
              <a:cs typeface="Proxima Nova"/>
              <a:sym typeface="Proxima Nova"/>
            </a:endParaRPr>
          </a:p>
          <a:p>
            <a:pPr marL="457200" lvl="0" indent="0" algn="l" rtl="0">
              <a:lnSpc>
                <a:spcPct val="115000"/>
              </a:lnSpc>
              <a:spcBef>
                <a:spcPts val="0"/>
              </a:spcBef>
              <a:spcAft>
                <a:spcPts val="0"/>
              </a:spcAft>
              <a:buNone/>
            </a:pPr>
            <a:r>
              <a:rPr lang="en-US" sz="2600">
                <a:latin typeface="Proxima Nova"/>
                <a:ea typeface="Proxima Nova"/>
                <a:cs typeface="Proxima Nova"/>
                <a:sym typeface="Proxima Nova"/>
              </a:rPr>
              <a:t>Murid lebih terbuka terhadap kritik jika merasa didukung dan dihargai.</a:t>
            </a:r>
            <a:endParaRPr sz="2600">
              <a:latin typeface="Proxima Nova"/>
              <a:ea typeface="Proxima Nova"/>
              <a:cs typeface="Proxima Nova"/>
              <a:sym typeface="Proxima Nova"/>
            </a:endParaRPr>
          </a:p>
          <a:p>
            <a:pPr marL="457200" lvl="0" indent="-393700" algn="l" rtl="0">
              <a:lnSpc>
                <a:spcPct val="115000"/>
              </a:lnSpc>
              <a:spcBef>
                <a:spcPts val="0"/>
              </a:spcBef>
              <a:spcAft>
                <a:spcPts val="0"/>
              </a:spcAft>
              <a:buSzPts val="2600"/>
              <a:buFont typeface="Proxima Nova"/>
              <a:buAutoNum type="arabicPeriod"/>
            </a:pPr>
            <a:r>
              <a:rPr lang="en-US" sz="2600" b="1" i="1">
                <a:latin typeface="Proxima Nova"/>
                <a:ea typeface="Proxima Nova"/>
                <a:cs typeface="Proxima Nova"/>
                <a:sym typeface="Proxima Nova"/>
              </a:rPr>
              <a:t>Fokus pada Proses, Bukan Nilai</a:t>
            </a:r>
            <a:endParaRPr sz="2600" b="1" i="1">
              <a:latin typeface="Proxima Nova"/>
              <a:ea typeface="Proxima Nova"/>
              <a:cs typeface="Proxima Nova"/>
              <a:sym typeface="Proxima Nova"/>
            </a:endParaRPr>
          </a:p>
          <a:p>
            <a:pPr marL="457200" lvl="0" indent="0" algn="l" rtl="0">
              <a:lnSpc>
                <a:spcPct val="115000"/>
              </a:lnSpc>
              <a:spcBef>
                <a:spcPts val="0"/>
              </a:spcBef>
              <a:spcAft>
                <a:spcPts val="0"/>
              </a:spcAft>
              <a:buNone/>
            </a:pPr>
            <a:r>
              <a:rPr lang="en-US" sz="2600">
                <a:latin typeface="Proxima Nova"/>
                <a:ea typeface="Proxima Nova"/>
                <a:cs typeface="Proxima Nova"/>
                <a:sym typeface="Proxima Nova"/>
              </a:rPr>
              <a:t>Nilai bukan segalanya: kemajuan dan usaha murid jauh lebih penting.</a:t>
            </a:r>
            <a:endParaRPr sz="2600">
              <a:latin typeface="Proxima Nova"/>
              <a:ea typeface="Proxima Nova"/>
              <a:cs typeface="Proxima Nova"/>
              <a:sym typeface="Proxima Nova"/>
            </a:endParaRPr>
          </a:p>
          <a:p>
            <a:pPr marL="457200" lvl="0" indent="-393700" algn="l" rtl="0">
              <a:lnSpc>
                <a:spcPct val="115000"/>
              </a:lnSpc>
              <a:spcBef>
                <a:spcPts val="0"/>
              </a:spcBef>
              <a:spcAft>
                <a:spcPts val="0"/>
              </a:spcAft>
              <a:buSzPts val="2600"/>
              <a:buFont typeface="Proxima Nova"/>
              <a:buAutoNum type="arabicPeriod"/>
            </a:pPr>
            <a:r>
              <a:rPr lang="en-US" sz="2600" b="1" i="1">
                <a:latin typeface="Proxima Nova"/>
                <a:ea typeface="Proxima Nova"/>
                <a:cs typeface="Proxima Nova"/>
                <a:sym typeface="Proxima Nova"/>
              </a:rPr>
              <a:t>Rasa Aman secara Emosional</a:t>
            </a:r>
            <a:endParaRPr sz="2600" b="1" i="1">
              <a:latin typeface="Proxima Nova"/>
              <a:ea typeface="Proxima Nova"/>
              <a:cs typeface="Proxima Nova"/>
              <a:sym typeface="Proxima Nova"/>
            </a:endParaRPr>
          </a:p>
          <a:p>
            <a:pPr marL="457200" lvl="0" indent="0" algn="l" rtl="0">
              <a:lnSpc>
                <a:spcPct val="115000"/>
              </a:lnSpc>
              <a:spcBef>
                <a:spcPts val="0"/>
              </a:spcBef>
              <a:spcAft>
                <a:spcPts val="0"/>
              </a:spcAft>
              <a:buNone/>
            </a:pPr>
            <a:r>
              <a:rPr lang="en-US" sz="2600">
                <a:latin typeface="Proxima Nova"/>
                <a:ea typeface="Proxima Nova"/>
                <a:cs typeface="Proxima Nova"/>
                <a:sym typeface="Proxima Nova"/>
              </a:rPr>
              <a:t>Guru sebagai pelindung, bukan sumber ketakutan. Kesalahan murid ditanggapi dengan empati dan profesionalisme.</a:t>
            </a:r>
            <a:endParaRPr sz="2600">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p:nvPr/>
        </p:nvSpPr>
        <p:spPr>
          <a:xfrm>
            <a:off x="1923750" y="218350"/>
            <a:ext cx="13069500" cy="1322400"/>
          </a:xfrm>
          <a:prstGeom prst="rect">
            <a:avLst/>
          </a:prstGeom>
          <a:noFill/>
          <a:ln>
            <a:noFill/>
          </a:ln>
        </p:spPr>
        <p:txBody>
          <a:bodyPr spcFirstLastPara="1" wrap="square" lIns="182850" tIns="182850" rIns="182850" bIns="182850" anchor="ctr" anchorCtr="0">
            <a:noAutofit/>
          </a:bodyPr>
          <a:lstStyle/>
          <a:p>
            <a:pPr marL="0" lvl="0" indent="0" algn="l" rtl="0">
              <a:spcBef>
                <a:spcPts val="0"/>
              </a:spcBef>
              <a:spcAft>
                <a:spcPts val="0"/>
              </a:spcAft>
              <a:buClr>
                <a:srgbClr val="002060"/>
              </a:buClr>
              <a:buSzPts val="5400"/>
              <a:buFont typeface="Open Sans ExtraBold"/>
              <a:buNone/>
            </a:pPr>
            <a:r>
              <a:rPr lang="en-US" sz="3800">
                <a:solidFill>
                  <a:srgbClr val="002060"/>
                </a:solidFill>
                <a:latin typeface="Open Sans ExtraBold"/>
                <a:ea typeface="Open Sans ExtraBold"/>
                <a:cs typeface="Open Sans ExtraBold"/>
                <a:sym typeface="Open Sans ExtraBold"/>
              </a:rPr>
              <a:t>Empat Strategi Pola Pikir Bertumbuh di Kelas</a:t>
            </a:r>
            <a:endParaRPr sz="3800">
              <a:solidFill>
                <a:srgbClr val="002060"/>
              </a:solidFill>
              <a:latin typeface="Open Sans ExtraBold"/>
              <a:ea typeface="Open Sans ExtraBold"/>
              <a:cs typeface="Open Sans ExtraBold"/>
              <a:sym typeface="Open Sans ExtraBold"/>
            </a:endParaRPr>
          </a:p>
        </p:txBody>
      </p:sp>
      <p:grpSp>
        <p:nvGrpSpPr>
          <p:cNvPr id="403" name="Google Shape;403;p55"/>
          <p:cNvGrpSpPr/>
          <p:nvPr/>
        </p:nvGrpSpPr>
        <p:grpSpPr>
          <a:xfrm>
            <a:off x="0" y="45674"/>
            <a:ext cx="1923749" cy="1495147"/>
            <a:chOff x="-151896" y="-128007"/>
            <a:chExt cx="1282499" cy="996765"/>
          </a:xfrm>
        </p:grpSpPr>
        <p:sp>
          <p:nvSpPr>
            <p:cNvPr id="404" name="Google Shape;404;p55"/>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405" name="Google Shape;405;p55"/>
            <p:cNvGrpSpPr/>
            <p:nvPr/>
          </p:nvGrpSpPr>
          <p:grpSpPr>
            <a:xfrm>
              <a:off x="-151896" y="-128007"/>
              <a:ext cx="1282499" cy="996765"/>
              <a:chOff x="5908291" y="1447244"/>
              <a:chExt cx="4033016" cy="3338127"/>
            </a:xfrm>
          </p:grpSpPr>
          <p:pic>
            <p:nvPicPr>
              <p:cNvPr id="406" name="Google Shape;406;p55"/>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407" name="Google Shape;407;p55"/>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408" name="Google Shape;408;p55"/>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409" name="Google Shape;409;p55"/>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410" name="Google Shape;410;p55"/>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411" name="Google Shape;411;p55"/>
          <p:cNvSpPr/>
          <p:nvPr/>
        </p:nvSpPr>
        <p:spPr>
          <a:xfrm>
            <a:off x="378375" y="1895550"/>
            <a:ext cx="17357700" cy="29760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600" b="1">
                <a:latin typeface="Proxima Nova"/>
                <a:ea typeface="Proxima Nova"/>
                <a:cs typeface="Proxima Nova"/>
                <a:sym typeface="Proxima Nova"/>
              </a:rPr>
              <a:t>Strategi Guru Membangun Growth Mindset di Kelas</a:t>
            </a:r>
            <a:endParaRPr sz="2600" b="1">
              <a:latin typeface="Proxima Nova"/>
              <a:ea typeface="Proxima Nova"/>
              <a:cs typeface="Proxima Nova"/>
              <a:sym typeface="Proxima Nova"/>
            </a:endParaRPr>
          </a:p>
          <a:p>
            <a:pPr marL="0" lvl="0" indent="0" algn="l" rtl="0">
              <a:spcBef>
                <a:spcPts val="0"/>
              </a:spcBef>
              <a:spcAft>
                <a:spcPts val="0"/>
              </a:spcAft>
              <a:buNone/>
            </a:pPr>
            <a:endParaRPr sz="2600" b="1">
              <a:latin typeface="Proxima Nova"/>
              <a:ea typeface="Proxima Nova"/>
              <a:cs typeface="Proxima Nova"/>
              <a:sym typeface="Proxima Nova"/>
            </a:endParaRPr>
          </a:p>
          <a:p>
            <a:pPr marL="0" lvl="0" indent="0" algn="l" rtl="0">
              <a:spcBef>
                <a:spcPts val="0"/>
              </a:spcBef>
              <a:spcAft>
                <a:spcPts val="0"/>
              </a:spcAft>
              <a:buNone/>
            </a:pPr>
            <a:r>
              <a:rPr lang="en-US" sz="2600">
                <a:latin typeface="Proxima Nova"/>
                <a:ea typeface="Proxima Nova"/>
                <a:cs typeface="Proxima Nova"/>
                <a:sym typeface="Proxima Nova"/>
              </a:rPr>
              <a:t>Pola pikir murid tidak tumbuh begitu saja, tetapi dibentuk melalui pengalaman belajar sehari-hari. Cara guru memberi instruksi, menanggapi kesalahan, dan mengelola proses pembelajaran sangat menentukan apakah murid akan melihat belajar sebagai peluang berkembang atau sebagai sesuatu yang menakutkan. Topik ini merangkum strategi praktis yang dapat digunakan guru untuk menumbuhkan Pola Pikir Bertumbuh di kelas.</a:t>
            </a:r>
            <a:endParaRPr sz="2600">
              <a:latin typeface="Proxima Nova"/>
              <a:ea typeface="Proxima Nova"/>
              <a:cs typeface="Proxima Nova"/>
              <a:sym typeface="Proxima Nova"/>
            </a:endParaRPr>
          </a:p>
        </p:txBody>
      </p:sp>
      <p:grpSp>
        <p:nvGrpSpPr>
          <p:cNvPr id="412" name="Google Shape;412;p55"/>
          <p:cNvGrpSpPr/>
          <p:nvPr/>
        </p:nvGrpSpPr>
        <p:grpSpPr>
          <a:xfrm>
            <a:off x="496625" y="5084451"/>
            <a:ext cx="4075472" cy="4658574"/>
            <a:chOff x="236445" y="1388799"/>
            <a:chExt cx="3509405" cy="8460904"/>
          </a:xfrm>
        </p:grpSpPr>
        <p:sp>
          <p:nvSpPr>
            <p:cNvPr id="413" name="Google Shape;413;p55"/>
            <p:cNvSpPr txBox="1"/>
            <p:nvPr/>
          </p:nvSpPr>
          <p:spPr>
            <a:xfrm>
              <a:off x="236450" y="1388799"/>
              <a:ext cx="3509400" cy="1545900"/>
            </a:xfrm>
            <a:prstGeom prst="rect">
              <a:avLst/>
            </a:prstGeom>
            <a:solidFill>
              <a:srgbClr val="17406D"/>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1">
                  <a:solidFill>
                    <a:schemeClr val="lt1"/>
                  </a:solidFill>
                  <a:latin typeface="Plus Jakarta Sans"/>
                  <a:ea typeface="Plus Jakarta Sans"/>
                  <a:cs typeface="Plus Jakarta Sans"/>
                  <a:sym typeface="Plus Jakarta Sans"/>
                </a:rPr>
                <a:t>Cognitive Framing (Pembingkaian Kognitif)</a:t>
              </a:r>
              <a:endParaRPr sz="2200" b="0" i="0" u="none" strike="noStrike" cap="none">
                <a:solidFill>
                  <a:schemeClr val="lt1"/>
                </a:solidFill>
                <a:latin typeface="Plus Jakarta Sans"/>
                <a:ea typeface="Plus Jakarta Sans"/>
                <a:cs typeface="Plus Jakarta Sans"/>
                <a:sym typeface="Plus Jakarta Sans"/>
              </a:endParaRPr>
            </a:p>
          </p:txBody>
        </p:sp>
        <p:sp>
          <p:nvSpPr>
            <p:cNvPr id="414" name="Google Shape;414;p55"/>
            <p:cNvSpPr txBox="1"/>
            <p:nvPr/>
          </p:nvSpPr>
          <p:spPr>
            <a:xfrm>
              <a:off x="236445" y="2934703"/>
              <a:ext cx="3509400" cy="6915000"/>
            </a:xfrm>
            <a:prstGeom prst="rect">
              <a:avLst/>
            </a:prstGeom>
            <a:solidFill>
              <a:srgbClr val="DAF7FF"/>
            </a:solidFill>
            <a:ln>
              <a:noFill/>
            </a:ln>
          </p:spPr>
          <p:txBody>
            <a:bodyPr spcFirstLastPara="1" wrap="square" lIns="137150" tIns="274300" rIns="137150" bIns="68550" anchor="t" anchorCtr="0">
              <a:noAutofit/>
            </a:bodyPr>
            <a:lstStyle/>
            <a:p>
              <a:pPr marL="0" lvl="0" indent="0" algn="l" rtl="0">
                <a:spcBef>
                  <a:spcPts val="0"/>
                </a:spcBef>
                <a:spcAft>
                  <a:spcPts val="0"/>
                </a:spcAft>
                <a:buClr>
                  <a:schemeClr val="dk1"/>
                </a:buClr>
                <a:buSzPts val="1100"/>
                <a:buFont typeface="Arial"/>
                <a:buNone/>
              </a:pPr>
              <a:r>
                <a:rPr lang="en-US" sz="1700">
                  <a:solidFill>
                    <a:schemeClr val="dk1"/>
                  </a:solidFill>
                  <a:latin typeface="Proxima Nova"/>
                  <a:ea typeface="Proxima Nova"/>
                  <a:cs typeface="Proxima Nova"/>
                  <a:sym typeface="Proxima Nova"/>
                </a:rPr>
                <a:t>Cara guru membingkai tugas dan tantangan memengaruhi cara murid memaknainya.</a:t>
              </a:r>
              <a:endParaRPr sz="1700">
                <a:solidFill>
                  <a:schemeClr val="dk1"/>
                </a:solidFill>
                <a:latin typeface="Proxima Nova"/>
                <a:ea typeface="Proxima Nova"/>
                <a:cs typeface="Proxima Nova"/>
                <a:sym typeface="Proxima Nova"/>
              </a:endParaRPr>
            </a:p>
            <a:p>
              <a:pPr marL="0" lvl="0" indent="0" algn="l" rtl="0">
                <a:spcBef>
                  <a:spcPts val="1000"/>
                </a:spcBef>
                <a:spcAft>
                  <a:spcPts val="0"/>
                </a:spcAft>
                <a:buClr>
                  <a:schemeClr val="dk1"/>
                </a:buClr>
                <a:buSzPts val="1100"/>
                <a:buFont typeface="Arial"/>
                <a:buNone/>
              </a:pPr>
              <a:r>
                <a:rPr lang="en-US" sz="1700">
                  <a:solidFill>
                    <a:schemeClr val="dk1"/>
                  </a:solidFill>
                  <a:latin typeface="Proxima Nova"/>
                  <a:ea typeface="Proxima Nova"/>
                  <a:cs typeface="Proxima Nova"/>
                  <a:sym typeface="Proxima Nova"/>
                </a:rPr>
                <a:t>Inti Strateginya:</a:t>
              </a:r>
              <a:endParaRPr sz="1700">
                <a:solidFill>
                  <a:schemeClr val="dk1"/>
                </a:solidFill>
                <a:latin typeface="Proxima Nova"/>
                <a:ea typeface="Proxima Nova"/>
                <a:cs typeface="Proxima Nova"/>
                <a:sym typeface="Proxima Nova"/>
              </a:endParaRPr>
            </a:p>
            <a:p>
              <a:pPr marL="457200" lvl="0" indent="-336550" algn="l" rtl="0">
                <a:spcBef>
                  <a:spcPts val="100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membuka pelajaran dengan konteks yang membuat murid siap menghadapi hal sulit</a:t>
              </a:r>
              <a:endParaRPr sz="1700">
                <a:solidFill>
                  <a:schemeClr val="dk1"/>
                </a:solidFill>
                <a:latin typeface="Proxima Nova"/>
                <a:ea typeface="Proxima Nova"/>
                <a:cs typeface="Proxima Nova"/>
                <a:sym typeface="Proxima Nova"/>
              </a:endParaRPr>
            </a:p>
            <a:p>
              <a:pPr marL="457200" lvl="0" indent="-336550" algn="l" rtl="0">
                <a:spcBef>
                  <a:spcPts val="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mengubah “tugas sulit” menjadi “latihan berkembang”</a:t>
              </a:r>
              <a:endParaRPr sz="1700">
                <a:solidFill>
                  <a:schemeClr val="dk1"/>
                </a:solidFill>
                <a:latin typeface="Proxima Nova"/>
                <a:ea typeface="Proxima Nova"/>
                <a:cs typeface="Proxima Nova"/>
                <a:sym typeface="Proxima Nova"/>
              </a:endParaRPr>
            </a:p>
            <a:p>
              <a:pPr marL="457200" lvl="0" indent="-336550" algn="l" rtl="0">
                <a:spcBef>
                  <a:spcPts val="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menekankan bahwa kesalahan adalah bagian dari proses belajar</a:t>
              </a:r>
              <a:endParaRPr sz="1700">
                <a:solidFill>
                  <a:schemeClr val="dk1"/>
                </a:solidFill>
                <a:latin typeface="Proxima Nova"/>
                <a:ea typeface="Proxima Nova"/>
                <a:cs typeface="Proxima Nova"/>
                <a:sym typeface="Proxima Nova"/>
              </a:endParaRPr>
            </a:p>
          </p:txBody>
        </p:sp>
      </p:grpSp>
      <p:grpSp>
        <p:nvGrpSpPr>
          <p:cNvPr id="415" name="Google Shape;415;p55"/>
          <p:cNvGrpSpPr/>
          <p:nvPr/>
        </p:nvGrpSpPr>
        <p:grpSpPr>
          <a:xfrm>
            <a:off x="4824404" y="5084446"/>
            <a:ext cx="4052655" cy="4658570"/>
            <a:chOff x="2538250" y="4351334"/>
            <a:chExt cx="3509400" cy="6269103"/>
          </a:xfrm>
        </p:grpSpPr>
        <p:sp>
          <p:nvSpPr>
            <p:cNvPr id="416" name="Google Shape;416;p55"/>
            <p:cNvSpPr txBox="1"/>
            <p:nvPr/>
          </p:nvSpPr>
          <p:spPr>
            <a:xfrm>
              <a:off x="2538250" y="4351334"/>
              <a:ext cx="3509400" cy="1222200"/>
            </a:xfrm>
            <a:prstGeom prst="rect">
              <a:avLst/>
            </a:prstGeom>
            <a:solidFill>
              <a:srgbClr val="344EAC"/>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1">
                  <a:solidFill>
                    <a:schemeClr val="lt1"/>
                  </a:solidFill>
                  <a:latin typeface="Plus Jakarta Sans"/>
                  <a:ea typeface="Plus Jakarta Sans"/>
                  <a:cs typeface="Plus Jakarta Sans"/>
                  <a:sym typeface="Plus Jakarta Sans"/>
                </a:rPr>
                <a:t>Scaffolding</a:t>
              </a:r>
              <a:endParaRPr sz="2200" b="0" i="0" u="none" strike="noStrike" cap="none">
                <a:solidFill>
                  <a:schemeClr val="lt1"/>
                </a:solidFill>
                <a:latin typeface="Plus Jakarta Sans"/>
                <a:ea typeface="Plus Jakarta Sans"/>
                <a:cs typeface="Plus Jakarta Sans"/>
                <a:sym typeface="Plus Jakarta Sans"/>
              </a:endParaRPr>
            </a:p>
          </p:txBody>
        </p:sp>
        <p:sp>
          <p:nvSpPr>
            <p:cNvPr id="417" name="Google Shape;417;p55"/>
            <p:cNvSpPr txBox="1"/>
            <p:nvPr/>
          </p:nvSpPr>
          <p:spPr>
            <a:xfrm>
              <a:off x="2538250" y="5573537"/>
              <a:ext cx="3509400" cy="5046900"/>
            </a:xfrm>
            <a:prstGeom prst="rect">
              <a:avLst/>
            </a:prstGeom>
            <a:solidFill>
              <a:srgbClr val="EEFBFF"/>
            </a:solidFill>
            <a:ln>
              <a:noFill/>
            </a:ln>
          </p:spPr>
          <p:txBody>
            <a:bodyPr spcFirstLastPara="1" wrap="square" lIns="137150" tIns="274300" rIns="137150" bIns="68550" anchor="t" anchorCtr="0">
              <a:noAutofit/>
            </a:bodyPr>
            <a:lstStyle/>
            <a:p>
              <a:pPr marL="0" lvl="0" indent="0" algn="l" rtl="0">
                <a:spcBef>
                  <a:spcPts val="0"/>
                </a:spcBef>
                <a:spcAft>
                  <a:spcPts val="0"/>
                </a:spcAft>
                <a:buClr>
                  <a:schemeClr val="dk1"/>
                </a:buClr>
                <a:buSzPts val="1100"/>
                <a:buFont typeface="Arial"/>
                <a:buNone/>
              </a:pPr>
              <a:r>
                <a:rPr lang="en-US" sz="1700">
                  <a:solidFill>
                    <a:schemeClr val="dk1"/>
                  </a:solidFill>
                  <a:latin typeface="Proxima Nova"/>
                  <a:ea typeface="Proxima Nova"/>
                  <a:cs typeface="Proxima Nova"/>
                  <a:sym typeface="Proxima Nova"/>
                </a:rPr>
                <a:t>Dukungan bertahap yang dirancang agar murid merasa mampu memulai dan menyelesaikan tugas.</a:t>
              </a:r>
              <a:endParaRPr sz="1700">
                <a:solidFill>
                  <a:schemeClr val="dk1"/>
                </a:solidFill>
                <a:latin typeface="Proxima Nova"/>
                <a:ea typeface="Proxima Nova"/>
                <a:cs typeface="Proxima Nova"/>
                <a:sym typeface="Proxima Nova"/>
              </a:endParaRPr>
            </a:p>
            <a:p>
              <a:pPr marL="0" lvl="0" indent="0" algn="l" rtl="0">
                <a:spcBef>
                  <a:spcPts val="1000"/>
                </a:spcBef>
                <a:spcAft>
                  <a:spcPts val="0"/>
                </a:spcAft>
                <a:buClr>
                  <a:schemeClr val="dk1"/>
                </a:buClr>
                <a:buSzPts val="1100"/>
                <a:buFont typeface="Arial"/>
                <a:buNone/>
              </a:pPr>
              <a:r>
                <a:rPr lang="en-US" sz="1700">
                  <a:solidFill>
                    <a:schemeClr val="dk1"/>
                  </a:solidFill>
                  <a:latin typeface="Proxima Nova"/>
                  <a:ea typeface="Proxima Nova"/>
                  <a:cs typeface="Proxima Nova"/>
                  <a:sym typeface="Proxima Nova"/>
                </a:rPr>
                <a:t>Inti Strateginya:</a:t>
              </a:r>
              <a:endParaRPr sz="1700">
                <a:solidFill>
                  <a:schemeClr val="dk1"/>
                </a:solidFill>
                <a:latin typeface="Proxima Nova"/>
                <a:ea typeface="Proxima Nova"/>
                <a:cs typeface="Proxima Nova"/>
                <a:sym typeface="Proxima Nova"/>
              </a:endParaRPr>
            </a:p>
            <a:p>
              <a:pPr marL="457200" lvl="0" indent="-336550" algn="l" rtl="0">
                <a:spcBef>
                  <a:spcPts val="100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memecah tugas besar menjadi langkah-langkah kecil</a:t>
              </a:r>
              <a:endParaRPr sz="1700">
                <a:solidFill>
                  <a:schemeClr val="dk1"/>
                </a:solidFill>
                <a:latin typeface="Proxima Nova"/>
                <a:ea typeface="Proxima Nova"/>
                <a:cs typeface="Proxima Nova"/>
                <a:sym typeface="Proxima Nova"/>
              </a:endParaRPr>
            </a:p>
            <a:p>
              <a:pPr marL="457200" lvl="0" indent="-336550" algn="l" rtl="0">
                <a:spcBef>
                  <a:spcPts val="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memberi contoh dulu, lalu mengurangi bantuan seiring waktu</a:t>
              </a:r>
              <a:endParaRPr sz="1700">
                <a:solidFill>
                  <a:schemeClr val="dk1"/>
                </a:solidFill>
                <a:latin typeface="Proxima Nova"/>
                <a:ea typeface="Proxima Nova"/>
                <a:cs typeface="Proxima Nova"/>
                <a:sym typeface="Proxima Nova"/>
              </a:endParaRPr>
            </a:p>
            <a:p>
              <a:pPr marL="457200" lvl="0" indent="-336550" algn="l" rtl="0">
                <a:spcBef>
                  <a:spcPts val="0"/>
                </a:spcBef>
                <a:spcAft>
                  <a:spcPts val="0"/>
                </a:spcAft>
                <a:buClr>
                  <a:schemeClr val="dk1"/>
                </a:buClr>
                <a:buSzPts val="1700"/>
                <a:buFont typeface="Proxima Nova"/>
                <a:buChar char="●"/>
              </a:pPr>
              <a:r>
                <a:rPr lang="en-US" sz="1700">
                  <a:solidFill>
                    <a:schemeClr val="dk1"/>
                  </a:solidFill>
                  <a:latin typeface="Proxima Nova"/>
                  <a:ea typeface="Proxima Nova"/>
                  <a:cs typeface="Proxima Nova"/>
                  <a:sym typeface="Proxima Nova"/>
                </a:rPr>
                <a:t>menyediakan alat bantu seperti pertanyaan pemandu atau contoh kerja</a:t>
              </a:r>
              <a:endParaRPr sz="1700">
                <a:solidFill>
                  <a:schemeClr val="dk1"/>
                </a:solidFill>
                <a:latin typeface="Proxima Nova"/>
                <a:ea typeface="Proxima Nova"/>
                <a:cs typeface="Proxima Nova"/>
                <a:sym typeface="Proxima Nova"/>
              </a:endParaRPr>
            </a:p>
          </p:txBody>
        </p:sp>
      </p:grpSp>
      <p:grpSp>
        <p:nvGrpSpPr>
          <p:cNvPr id="418" name="Google Shape;418;p55"/>
          <p:cNvGrpSpPr/>
          <p:nvPr/>
        </p:nvGrpSpPr>
        <p:grpSpPr>
          <a:xfrm>
            <a:off x="9145750" y="5084481"/>
            <a:ext cx="4357271" cy="4658743"/>
            <a:chOff x="236450" y="1388799"/>
            <a:chExt cx="3509400" cy="7710597"/>
          </a:xfrm>
        </p:grpSpPr>
        <p:sp>
          <p:nvSpPr>
            <p:cNvPr id="419" name="Google Shape;419;p55"/>
            <p:cNvSpPr txBox="1"/>
            <p:nvPr/>
          </p:nvSpPr>
          <p:spPr>
            <a:xfrm>
              <a:off x="236450" y="1388799"/>
              <a:ext cx="3509400" cy="1545900"/>
            </a:xfrm>
            <a:prstGeom prst="rect">
              <a:avLst/>
            </a:prstGeom>
            <a:solidFill>
              <a:srgbClr val="17406D"/>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1">
                  <a:solidFill>
                    <a:schemeClr val="lt1"/>
                  </a:solidFill>
                  <a:latin typeface="Plus Jakarta Sans"/>
                  <a:ea typeface="Plus Jakarta Sans"/>
                  <a:cs typeface="Plus Jakarta Sans"/>
                  <a:sym typeface="Plus Jakarta Sans"/>
                </a:rPr>
                <a:t>Opportunity-Based Thinking dalam Praktik Mengajar</a:t>
              </a:r>
              <a:endParaRPr sz="2200" b="0" i="0" u="none" strike="noStrike" cap="none">
                <a:solidFill>
                  <a:schemeClr val="lt1"/>
                </a:solidFill>
                <a:latin typeface="Plus Jakarta Sans"/>
                <a:ea typeface="Plus Jakarta Sans"/>
                <a:cs typeface="Plus Jakarta Sans"/>
                <a:sym typeface="Plus Jakarta Sans"/>
              </a:endParaRPr>
            </a:p>
          </p:txBody>
        </p:sp>
        <p:sp>
          <p:nvSpPr>
            <p:cNvPr id="420" name="Google Shape;420;p55"/>
            <p:cNvSpPr txBox="1"/>
            <p:nvPr/>
          </p:nvSpPr>
          <p:spPr>
            <a:xfrm>
              <a:off x="236450" y="2934696"/>
              <a:ext cx="3509400" cy="6164700"/>
            </a:xfrm>
            <a:prstGeom prst="rect">
              <a:avLst/>
            </a:prstGeom>
            <a:solidFill>
              <a:srgbClr val="DAF7FF"/>
            </a:solidFill>
            <a:ln>
              <a:noFill/>
            </a:ln>
          </p:spPr>
          <p:txBody>
            <a:bodyPr spcFirstLastPara="1" wrap="square" lIns="137150" tIns="274300" rIns="137150" bIns="68550" anchor="t" anchorCtr="0">
              <a:noAutofit/>
            </a:bodyPr>
            <a:lstStyle/>
            <a:p>
              <a:pPr marL="0" lvl="0" indent="0" algn="l" rtl="0">
                <a:spcBef>
                  <a:spcPts val="0"/>
                </a:spcBef>
                <a:spcAft>
                  <a:spcPts val="0"/>
                </a:spcAft>
                <a:buClr>
                  <a:schemeClr val="dk1"/>
                </a:buClr>
                <a:buSzPts val="1100"/>
                <a:buFont typeface="Arial"/>
                <a:buNone/>
              </a:pPr>
              <a:r>
                <a:rPr lang="en-US" sz="1700">
                  <a:solidFill>
                    <a:srgbClr val="002060"/>
                  </a:solidFill>
                  <a:latin typeface="Proxima Nova"/>
                  <a:ea typeface="Proxima Nova"/>
                  <a:cs typeface="Proxima Nova"/>
                  <a:sym typeface="Proxima Nova"/>
                </a:rPr>
                <a:t>Guru membantu murid melihat alternatif ketika mereka terhenti.</a:t>
              </a:r>
              <a:endParaRPr sz="1700">
                <a:solidFill>
                  <a:srgbClr val="002060"/>
                </a:solidFill>
                <a:latin typeface="Proxima Nova"/>
                <a:ea typeface="Proxima Nova"/>
                <a:cs typeface="Proxima Nova"/>
                <a:sym typeface="Proxima Nova"/>
              </a:endParaRPr>
            </a:p>
            <a:p>
              <a:pPr marL="0" lvl="0" indent="0" algn="l" rtl="0">
                <a:spcBef>
                  <a:spcPts val="1000"/>
                </a:spcBef>
                <a:spcAft>
                  <a:spcPts val="0"/>
                </a:spcAft>
                <a:buClr>
                  <a:schemeClr val="dk1"/>
                </a:buClr>
                <a:buSzPts val="1100"/>
                <a:buFont typeface="Arial"/>
                <a:buNone/>
              </a:pPr>
              <a:r>
                <a:rPr lang="en-US" sz="1700">
                  <a:solidFill>
                    <a:srgbClr val="002060"/>
                  </a:solidFill>
                  <a:latin typeface="Proxima Nova"/>
                  <a:ea typeface="Proxima Nova"/>
                  <a:cs typeface="Proxima Nova"/>
                  <a:sym typeface="Proxima Nova"/>
                </a:rPr>
                <a:t>Inti Strateginya:</a:t>
              </a:r>
              <a:endParaRPr sz="1700">
                <a:solidFill>
                  <a:srgbClr val="002060"/>
                </a:solidFill>
                <a:latin typeface="Proxima Nova"/>
                <a:ea typeface="Proxima Nova"/>
                <a:cs typeface="Proxima Nova"/>
                <a:sym typeface="Proxima Nova"/>
              </a:endParaRPr>
            </a:p>
            <a:p>
              <a:pPr marL="457200" lvl="0" indent="-336550" algn="l" rtl="0">
                <a:spcBef>
                  <a:spcPts val="100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mengajukan pertanyaan seperti “apa strategi lain yang bisa kamu coba?”</a:t>
              </a:r>
              <a:endParaRPr sz="1700">
                <a:solidFill>
                  <a:srgbClr val="002060"/>
                </a:solidFill>
                <a:latin typeface="Proxima Nova"/>
                <a:ea typeface="Proxima Nova"/>
                <a:cs typeface="Proxima Nova"/>
                <a:sym typeface="Proxima Nova"/>
              </a:endParaRPr>
            </a:p>
            <a:p>
              <a:pPr marL="457200" lvl="0" indent="-336550" algn="l" rtl="0">
                <a:spcBef>
                  <a:spcPts val="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memberi waktu eksplorasi sebelum memberi jawaban</a:t>
              </a:r>
              <a:endParaRPr sz="1700">
                <a:solidFill>
                  <a:srgbClr val="002060"/>
                </a:solidFill>
                <a:latin typeface="Proxima Nova"/>
                <a:ea typeface="Proxima Nova"/>
                <a:cs typeface="Proxima Nova"/>
                <a:sym typeface="Proxima Nova"/>
              </a:endParaRPr>
            </a:p>
            <a:p>
              <a:pPr marL="457200" lvl="0" indent="-336550" algn="l" rtl="0">
                <a:spcBef>
                  <a:spcPts val="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mendorong murid untuk mencoba ulang dengan pendekatan berbeda</a:t>
              </a:r>
              <a:endParaRPr sz="1700">
                <a:solidFill>
                  <a:srgbClr val="002060"/>
                </a:solidFill>
                <a:latin typeface="Proxima Nova"/>
                <a:ea typeface="Proxima Nova"/>
                <a:cs typeface="Proxima Nova"/>
                <a:sym typeface="Proxima Nova"/>
              </a:endParaRPr>
            </a:p>
          </p:txBody>
        </p:sp>
      </p:grpSp>
      <p:grpSp>
        <p:nvGrpSpPr>
          <p:cNvPr id="421" name="Google Shape;421;p55"/>
          <p:cNvGrpSpPr/>
          <p:nvPr/>
        </p:nvGrpSpPr>
        <p:grpSpPr>
          <a:xfrm>
            <a:off x="13763087" y="5084448"/>
            <a:ext cx="3972992" cy="4658570"/>
            <a:chOff x="2538250" y="4351334"/>
            <a:chExt cx="3509400" cy="6269103"/>
          </a:xfrm>
        </p:grpSpPr>
        <p:sp>
          <p:nvSpPr>
            <p:cNvPr id="422" name="Google Shape;422;p55"/>
            <p:cNvSpPr txBox="1"/>
            <p:nvPr/>
          </p:nvSpPr>
          <p:spPr>
            <a:xfrm>
              <a:off x="2538250" y="4351334"/>
              <a:ext cx="3509400" cy="1222200"/>
            </a:xfrm>
            <a:prstGeom prst="rect">
              <a:avLst/>
            </a:prstGeom>
            <a:solidFill>
              <a:srgbClr val="344EAC"/>
            </a:solidFill>
            <a:ln w="9525" cap="flat" cmpd="sng">
              <a:solidFill>
                <a:srgbClr val="351C75"/>
              </a:solidFill>
              <a:prstDash val="solid"/>
              <a:round/>
              <a:headEnd type="none" w="sm" len="sm"/>
              <a:tailEnd type="none" w="sm" len="sm"/>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1900" b="1">
                  <a:solidFill>
                    <a:schemeClr val="lt1"/>
                  </a:solidFill>
                  <a:latin typeface="Plus Jakarta Sans"/>
                  <a:ea typeface="Plus Jakarta Sans"/>
                  <a:cs typeface="Plus Jakarta Sans"/>
                  <a:sym typeface="Plus Jakarta Sans"/>
                </a:rPr>
                <a:t>Formative Assessment (Penilaian untuk Pembelajaran)</a:t>
              </a:r>
              <a:endParaRPr sz="1900" b="0" i="0" u="none" strike="noStrike" cap="none">
                <a:solidFill>
                  <a:schemeClr val="lt1"/>
                </a:solidFill>
                <a:latin typeface="Plus Jakarta Sans"/>
                <a:ea typeface="Plus Jakarta Sans"/>
                <a:cs typeface="Plus Jakarta Sans"/>
                <a:sym typeface="Plus Jakarta Sans"/>
              </a:endParaRPr>
            </a:p>
          </p:txBody>
        </p:sp>
        <p:sp>
          <p:nvSpPr>
            <p:cNvPr id="423" name="Google Shape;423;p55"/>
            <p:cNvSpPr txBox="1"/>
            <p:nvPr/>
          </p:nvSpPr>
          <p:spPr>
            <a:xfrm>
              <a:off x="2538250" y="5573537"/>
              <a:ext cx="3509400" cy="5046900"/>
            </a:xfrm>
            <a:prstGeom prst="rect">
              <a:avLst/>
            </a:prstGeom>
            <a:solidFill>
              <a:srgbClr val="EEFBFF"/>
            </a:solidFill>
            <a:ln>
              <a:noFill/>
            </a:ln>
          </p:spPr>
          <p:txBody>
            <a:bodyPr spcFirstLastPara="1" wrap="square" lIns="137150" tIns="274300" rIns="137150" bIns="68550" anchor="t" anchorCtr="0">
              <a:noAutofit/>
            </a:bodyPr>
            <a:lstStyle/>
            <a:p>
              <a:pPr marL="0" lvl="0" indent="0" algn="l" rtl="0">
                <a:spcBef>
                  <a:spcPts val="0"/>
                </a:spcBef>
                <a:spcAft>
                  <a:spcPts val="0"/>
                </a:spcAft>
                <a:buNone/>
              </a:pPr>
              <a:r>
                <a:rPr lang="en-US" sz="1700">
                  <a:solidFill>
                    <a:srgbClr val="002060"/>
                  </a:solidFill>
                  <a:latin typeface="Proxima Nova"/>
                  <a:ea typeface="Proxima Nova"/>
                  <a:cs typeface="Proxima Nova"/>
                  <a:sym typeface="Proxima Nova"/>
                </a:rPr>
                <a:t>Umpan balik proses, bukan hanya angka akhir.</a:t>
              </a:r>
              <a:endParaRPr sz="1700">
                <a:solidFill>
                  <a:srgbClr val="002060"/>
                </a:solidFill>
                <a:latin typeface="Proxima Nova"/>
                <a:ea typeface="Proxima Nova"/>
                <a:cs typeface="Proxima Nova"/>
                <a:sym typeface="Proxima Nova"/>
              </a:endParaRPr>
            </a:p>
            <a:p>
              <a:pPr marL="0" lvl="0" indent="0" algn="l" rtl="0">
                <a:spcBef>
                  <a:spcPts val="1000"/>
                </a:spcBef>
                <a:spcAft>
                  <a:spcPts val="0"/>
                </a:spcAft>
                <a:buNone/>
              </a:pPr>
              <a:r>
                <a:rPr lang="en-US" sz="1700">
                  <a:solidFill>
                    <a:srgbClr val="002060"/>
                  </a:solidFill>
                  <a:latin typeface="Proxima Nova"/>
                  <a:ea typeface="Proxima Nova"/>
                  <a:cs typeface="Proxima Nova"/>
                  <a:sym typeface="Proxima Nova"/>
                </a:rPr>
                <a:t>Inti Strateginya:</a:t>
              </a:r>
              <a:endParaRPr sz="1700">
                <a:solidFill>
                  <a:srgbClr val="002060"/>
                </a:solidFill>
                <a:latin typeface="Proxima Nova"/>
                <a:ea typeface="Proxima Nova"/>
                <a:cs typeface="Proxima Nova"/>
                <a:sym typeface="Proxima Nova"/>
              </a:endParaRPr>
            </a:p>
            <a:p>
              <a:pPr marL="457200" lvl="0" indent="-336550" algn="l" rtl="0">
                <a:spcBef>
                  <a:spcPts val="100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memberi feedback spesifik pada usaha dan strategi</a:t>
              </a:r>
              <a:endParaRPr sz="1700">
                <a:solidFill>
                  <a:srgbClr val="002060"/>
                </a:solidFill>
                <a:latin typeface="Proxima Nova"/>
                <a:ea typeface="Proxima Nova"/>
                <a:cs typeface="Proxima Nova"/>
                <a:sym typeface="Proxima Nova"/>
              </a:endParaRPr>
            </a:p>
            <a:p>
              <a:pPr marL="457200" lvl="0" indent="-336550" algn="l" rtl="0">
                <a:spcBef>
                  <a:spcPts val="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menggunakan exit ticket, observasi proses, dan pertanyaan refleksi</a:t>
              </a:r>
              <a:endParaRPr sz="1700">
                <a:solidFill>
                  <a:srgbClr val="002060"/>
                </a:solidFill>
                <a:latin typeface="Proxima Nova"/>
                <a:ea typeface="Proxima Nova"/>
                <a:cs typeface="Proxima Nova"/>
                <a:sym typeface="Proxima Nova"/>
              </a:endParaRPr>
            </a:p>
            <a:p>
              <a:pPr marL="457200" lvl="0" indent="-336550" algn="l" rtl="0">
                <a:spcBef>
                  <a:spcPts val="0"/>
                </a:spcBef>
                <a:spcAft>
                  <a:spcPts val="0"/>
                </a:spcAft>
                <a:buClr>
                  <a:srgbClr val="002060"/>
                </a:buClr>
                <a:buSzPts val="1700"/>
                <a:buFont typeface="Proxima Nova"/>
                <a:buChar char="●"/>
              </a:pPr>
              <a:r>
                <a:rPr lang="en-US" sz="1700">
                  <a:solidFill>
                    <a:srgbClr val="002060"/>
                  </a:solidFill>
                  <a:latin typeface="Proxima Nova"/>
                  <a:ea typeface="Proxima Nova"/>
                  <a:cs typeface="Proxima Nova"/>
                  <a:sym typeface="Proxima Nova"/>
                </a:rPr>
                <a:t>memberi murid kesempatan memperbaiki pekerjaan</a:t>
              </a:r>
              <a:endParaRPr sz="1700">
                <a:solidFill>
                  <a:srgbClr val="002060"/>
                </a:solidFill>
                <a:latin typeface="Proxima Nova"/>
                <a:ea typeface="Proxima Nova"/>
                <a:cs typeface="Proxima Nova"/>
                <a:sym typeface="Proxima Nova"/>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6"/>
          <p:cNvSpPr txBox="1"/>
          <p:nvPr/>
        </p:nvSpPr>
        <p:spPr>
          <a:xfrm>
            <a:off x="1803000" y="218350"/>
            <a:ext cx="12998700" cy="13224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2060"/>
              </a:buClr>
              <a:buSzPts val="5400"/>
              <a:buFont typeface="Open Sans ExtraBold"/>
              <a:buNone/>
            </a:pPr>
            <a:r>
              <a:rPr lang="en-US" sz="3200">
                <a:solidFill>
                  <a:srgbClr val="002060"/>
                </a:solidFill>
                <a:latin typeface="Open Sans ExtraBold"/>
                <a:ea typeface="Open Sans ExtraBold"/>
                <a:cs typeface="Open Sans ExtraBold"/>
                <a:sym typeface="Open Sans ExtraBold"/>
              </a:rPr>
              <a:t>Refleksi : Mempraktikan Pola Pikir Bertumbuh di Kelas</a:t>
            </a:r>
            <a:endParaRPr sz="3200" b="0" i="0" u="none" strike="noStrike" cap="none">
              <a:solidFill>
                <a:srgbClr val="000000"/>
              </a:solidFill>
              <a:latin typeface="Open Sans"/>
              <a:ea typeface="Open Sans"/>
              <a:cs typeface="Open Sans"/>
              <a:sym typeface="Open Sans"/>
            </a:endParaRPr>
          </a:p>
        </p:txBody>
      </p:sp>
      <p:grpSp>
        <p:nvGrpSpPr>
          <p:cNvPr id="429" name="Google Shape;429;p56"/>
          <p:cNvGrpSpPr/>
          <p:nvPr/>
        </p:nvGrpSpPr>
        <p:grpSpPr>
          <a:xfrm>
            <a:off x="0" y="45674"/>
            <a:ext cx="1923749" cy="1495147"/>
            <a:chOff x="-151896" y="-128007"/>
            <a:chExt cx="1282499" cy="996765"/>
          </a:xfrm>
        </p:grpSpPr>
        <p:sp>
          <p:nvSpPr>
            <p:cNvPr id="430" name="Google Shape;430;p56"/>
            <p:cNvSpPr/>
            <p:nvPr/>
          </p:nvSpPr>
          <p:spPr>
            <a:xfrm>
              <a:off x="87168" y="64714"/>
              <a:ext cx="883656" cy="653616"/>
            </a:xfrm>
            <a:prstGeom prst="flowChartDocument">
              <a:avLst/>
            </a:prstGeom>
            <a:solidFill>
              <a:srgbClr val="083C92"/>
            </a:soli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FFFFFF"/>
                </a:solidFill>
                <a:latin typeface="Arial"/>
                <a:ea typeface="Arial"/>
                <a:cs typeface="Arial"/>
                <a:sym typeface="Arial"/>
              </a:endParaRPr>
            </a:p>
          </p:txBody>
        </p:sp>
        <p:grpSp>
          <p:nvGrpSpPr>
            <p:cNvPr id="431" name="Google Shape;431;p56"/>
            <p:cNvGrpSpPr/>
            <p:nvPr/>
          </p:nvGrpSpPr>
          <p:grpSpPr>
            <a:xfrm>
              <a:off x="-151896" y="-128007"/>
              <a:ext cx="1282499" cy="996765"/>
              <a:chOff x="5908291" y="1447244"/>
              <a:chExt cx="4033016" cy="3338127"/>
            </a:xfrm>
          </p:grpSpPr>
          <p:pic>
            <p:nvPicPr>
              <p:cNvPr id="432" name="Google Shape;432;p56"/>
              <p:cNvPicPr preferRelativeResize="0"/>
              <p:nvPr/>
            </p:nvPicPr>
            <p:blipFill rotWithShape="1">
              <a:blip r:embed="rId3">
                <a:alphaModFix/>
              </a:blip>
              <a:srcRect/>
              <a:stretch/>
            </p:blipFill>
            <p:spPr>
              <a:xfrm>
                <a:off x="5908291" y="1447244"/>
                <a:ext cx="4033016" cy="3338127"/>
              </a:xfrm>
              <a:prstGeom prst="rect">
                <a:avLst/>
              </a:prstGeom>
              <a:noFill/>
              <a:ln>
                <a:noFill/>
              </a:ln>
            </p:spPr>
          </p:pic>
          <p:pic>
            <p:nvPicPr>
              <p:cNvPr id="433" name="Google Shape;433;p56"/>
              <p:cNvPicPr preferRelativeResize="0"/>
              <p:nvPr/>
            </p:nvPicPr>
            <p:blipFill rotWithShape="1">
              <a:blip r:embed="rId4">
                <a:alphaModFix/>
              </a:blip>
              <a:srcRect l="25903" t="42301" r="62505" b="55210"/>
              <a:stretch/>
            </p:blipFill>
            <p:spPr>
              <a:xfrm>
                <a:off x="6945284" y="2784764"/>
                <a:ext cx="486200" cy="120538"/>
              </a:xfrm>
              <a:prstGeom prst="rect">
                <a:avLst/>
              </a:prstGeom>
              <a:noFill/>
              <a:ln>
                <a:noFill/>
              </a:ln>
            </p:spPr>
          </p:pic>
        </p:grpSp>
        <p:pic>
          <p:nvPicPr>
            <p:cNvPr id="434" name="Google Shape;434;p56"/>
            <p:cNvPicPr preferRelativeResize="0"/>
            <p:nvPr/>
          </p:nvPicPr>
          <p:blipFill rotWithShape="1">
            <a:blip r:embed="rId5">
              <a:alphaModFix/>
            </a:blip>
            <a:srcRect/>
            <a:stretch/>
          </p:blipFill>
          <p:spPr>
            <a:xfrm>
              <a:off x="350001" y="64715"/>
              <a:ext cx="620819" cy="263808"/>
            </a:xfrm>
            <a:prstGeom prst="rect">
              <a:avLst/>
            </a:prstGeom>
            <a:noFill/>
            <a:ln>
              <a:noFill/>
            </a:ln>
          </p:spPr>
        </p:pic>
      </p:grpSp>
      <p:pic>
        <p:nvPicPr>
          <p:cNvPr id="435" name="Google Shape;435;p56"/>
          <p:cNvPicPr preferRelativeResize="0"/>
          <p:nvPr/>
        </p:nvPicPr>
        <p:blipFill rotWithShape="1">
          <a:blip r:embed="rId6">
            <a:alphaModFix/>
          </a:blip>
          <a:srcRect/>
          <a:stretch/>
        </p:blipFill>
        <p:spPr>
          <a:xfrm>
            <a:off x="14801566" y="245678"/>
            <a:ext cx="1655537" cy="628725"/>
          </a:xfrm>
          <a:prstGeom prst="rect">
            <a:avLst/>
          </a:prstGeom>
          <a:noFill/>
          <a:ln>
            <a:noFill/>
          </a:ln>
        </p:spPr>
      </p:pic>
      <p:pic>
        <p:nvPicPr>
          <p:cNvPr id="436" name="Google Shape;436;p56"/>
          <p:cNvPicPr preferRelativeResize="0"/>
          <p:nvPr/>
        </p:nvPicPr>
        <p:blipFill rotWithShape="1">
          <a:blip r:embed="rId7">
            <a:alphaModFix/>
          </a:blip>
          <a:srcRect l="4970"/>
          <a:stretch/>
        </p:blipFill>
        <p:spPr>
          <a:xfrm>
            <a:off x="16304700" y="245669"/>
            <a:ext cx="1916625" cy="628725"/>
          </a:xfrm>
          <a:prstGeom prst="rect">
            <a:avLst/>
          </a:prstGeom>
          <a:noFill/>
          <a:ln>
            <a:noFill/>
          </a:ln>
        </p:spPr>
      </p:pic>
      <p:sp>
        <p:nvSpPr>
          <p:cNvPr id="437" name="Google Shape;437;p56"/>
          <p:cNvSpPr/>
          <p:nvPr/>
        </p:nvSpPr>
        <p:spPr>
          <a:xfrm>
            <a:off x="378375" y="1655375"/>
            <a:ext cx="17357700" cy="7969500"/>
          </a:xfrm>
          <a:prstGeom prst="roundRect">
            <a:avLst>
              <a:gd name="adj" fmla="val 16667"/>
            </a:avLst>
          </a:prstGeom>
          <a:solidFill>
            <a:srgbClr val="EEFBFF"/>
          </a:solid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2800" b="1">
                <a:latin typeface="Proxima Nova"/>
                <a:ea typeface="Proxima Nova"/>
                <a:cs typeface="Proxima Nova"/>
                <a:sym typeface="Proxima Nova"/>
              </a:rPr>
              <a:t>Refleksi Diri Guru: </a:t>
            </a:r>
            <a:endParaRPr sz="2800" b="1">
              <a:latin typeface="Proxima Nova"/>
              <a:ea typeface="Proxima Nova"/>
              <a:cs typeface="Proxima Nova"/>
              <a:sym typeface="Proxima Nova"/>
            </a:endParaRPr>
          </a:p>
          <a:p>
            <a:pPr marL="457200" lvl="0" indent="-406400" algn="l" rtl="0">
              <a:spcBef>
                <a:spcPts val="0"/>
              </a:spcBef>
              <a:spcAft>
                <a:spcPts val="0"/>
              </a:spcAft>
              <a:buSzPts val="2800"/>
              <a:buFont typeface="Proxima Nova"/>
              <a:buChar char="●"/>
            </a:pPr>
            <a:r>
              <a:rPr lang="en-US" sz="2800">
                <a:latin typeface="Proxima Nova"/>
                <a:ea typeface="Proxima Nova"/>
                <a:cs typeface="Proxima Nova"/>
                <a:sym typeface="Proxima Nova"/>
              </a:rPr>
              <a:t>Apakah saya sudah memberikan ruang bagi murid untuk belajar dari kesalahan mereka?</a:t>
            </a:r>
            <a:endParaRPr sz="2800">
              <a:latin typeface="Proxima Nova"/>
              <a:ea typeface="Proxima Nova"/>
              <a:cs typeface="Proxima Nova"/>
              <a:sym typeface="Proxima Nova"/>
            </a:endParaRPr>
          </a:p>
          <a:p>
            <a:pPr marL="457200" lvl="0" indent="-406400" algn="l" rtl="0">
              <a:spcBef>
                <a:spcPts val="0"/>
              </a:spcBef>
              <a:spcAft>
                <a:spcPts val="0"/>
              </a:spcAft>
              <a:buSzPts val="2800"/>
              <a:buFont typeface="Proxima Nova"/>
              <a:buChar char="●"/>
            </a:pPr>
            <a:r>
              <a:rPr lang="en-US" sz="2800">
                <a:latin typeface="Proxima Nova"/>
                <a:ea typeface="Proxima Nova"/>
                <a:cs typeface="Proxima Nova"/>
                <a:sym typeface="Proxima Nova"/>
              </a:rPr>
              <a:t>Apakah saya secara konsisten menunjukkan keyakinan bahwa kemampuan murid dapat berkembang melalui usaha dan strategi yang tepat?</a:t>
            </a:r>
            <a:endParaRPr sz="2800">
              <a:latin typeface="Proxima Nova"/>
              <a:ea typeface="Proxima Nova"/>
              <a:cs typeface="Proxima Nova"/>
              <a:sym typeface="Proxima Nova"/>
            </a:endParaRPr>
          </a:p>
          <a:p>
            <a:pPr marL="457200" lvl="0" indent="-406400" algn="l" rtl="0">
              <a:spcBef>
                <a:spcPts val="0"/>
              </a:spcBef>
              <a:spcAft>
                <a:spcPts val="0"/>
              </a:spcAft>
              <a:buSzPts val="2800"/>
              <a:buFont typeface="Proxima Nova"/>
              <a:buChar char="●"/>
            </a:pPr>
            <a:r>
              <a:rPr lang="en-US" sz="2800">
                <a:latin typeface="Proxima Nova"/>
                <a:ea typeface="Proxima Nova"/>
                <a:cs typeface="Proxima Nova"/>
                <a:sym typeface="Proxima Nova"/>
              </a:rPr>
              <a:t>Apakah saya memberi afirmasi yang memotivasi dan tidak hanya memuji hasil akhir?</a:t>
            </a:r>
            <a:endParaRPr sz="2800">
              <a:latin typeface="Proxima Nova"/>
              <a:ea typeface="Proxima Nova"/>
              <a:cs typeface="Proxima Nova"/>
              <a:sym typeface="Proxima Nova"/>
            </a:endParaRPr>
          </a:p>
          <a:p>
            <a:pPr marL="457200" lvl="0" indent="-406400" algn="l" rtl="0">
              <a:spcBef>
                <a:spcPts val="0"/>
              </a:spcBef>
              <a:spcAft>
                <a:spcPts val="0"/>
              </a:spcAft>
              <a:buSzPts val="2800"/>
              <a:buFont typeface="Proxima Nova"/>
              <a:buChar char="●"/>
            </a:pPr>
            <a:r>
              <a:rPr lang="en-US" sz="2800">
                <a:latin typeface="Proxima Nova"/>
                <a:ea typeface="Proxima Nova"/>
                <a:cs typeface="Proxima Nova"/>
                <a:sym typeface="Proxima Nova"/>
              </a:rPr>
              <a:t>Bagaimana saya membangun hubungan yang mendukung perkembangan pola pikir bertumbuh di kelas?</a:t>
            </a:r>
            <a:endParaRPr sz="2800">
              <a:latin typeface="Proxima Nova"/>
              <a:ea typeface="Proxima Nova"/>
              <a:cs typeface="Proxima Nova"/>
              <a:sym typeface="Proxima Nova"/>
            </a:endParaRPr>
          </a:p>
          <a:p>
            <a:pPr marL="0" lvl="0" indent="0" algn="l" rtl="0">
              <a:lnSpc>
                <a:spcPct val="100000"/>
              </a:lnSpc>
              <a:spcBef>
                <a:spcPts val="0"/>
              </a:spcBef>
              <a:spcAft>
                <a:spcPts val="0"/>
              </a:spcAft>
              <a:buClr>
                <a:schemeClr val="dk1"/>
              </a:buClr>
              <a:buSzPts val="1100"/>
              <a:buFont typeface="Arial"/>
              <a:buNone/>
            </a:pPr>
            <a:endParaRPr sz="2800">
              <a:latin typeface="Proxima Nova"/>
              <a:ea typeface="Proxima Nova"/>
              <a:cs typeface="Proxima Nova"/>
              <a:sym typeface="Proxima Nova"/>
            </a:endParaRPr>
          </a:p>
          <a:p>
            <a:pPr marL="0" lvl="0" indent="0" algn="l" rtl="0">
              <a:lnSpc>
                <a:spcPct val="100000"/>
              </a:lnSpc>
              <a:spcBef>
                <a:spcPts val="0"/>
              </a:spcBef>
              <a:spcAft>
                <a:spcPts val="0"/>
              </a:spcAft>
              <a:buNone/>
            </a:pPr>
            <a:endParaRPr sz="2800">
              <a:latin typeface="Proxima Nova"/>
              <a:ea typeface="Proxima Nova"/>
              <a:cs typeface="Proxima Nova"/>
              <a:sym typeface="Proxima Nova"/>
            </a:endParaRPr>
          </a:p>
        </p:txBody>
      </p:sp>
      <p:sp>
        <p:nvSpPr>
          <p:cNvPr id="438" name="Google Shape;438;p56"/>
          <p:cNvSpPr/>
          <p:nvPr/>
        </p:nvSpPr>
        <p:spPr>
          <a:xfrm>
            <a:off x="8347850" y="6053950"/>
            <a:ext cx="9388200" cy="3239700"/>
          </a:xfrm>
          <a:prstGeom prst="rect">
            <a:avLst/>
          </a:prstGeom>
          <a:solidFill>
            <a:srgbClr val="5390C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2400" b="1">
                <a:solidFill>
                  <a:schemeClr val="dk1"/>
                </a:solidFill>
                <a:latin typeface="Proxima Nova"/>
                <a:ea typeface="Proxima Nova"/>
                <a:cs typeface="Proxima Nova"/>
                <a:sym typeface="Proxima Nova"/>
              </a:rPr>
              <a:t>MARI LAKUKAN</a:t>
            </a:r>
            <a:endParaRPr sz="2400" b="1">
              <a:solidFill>
                <a:schemeClr val="dk1"/>
              </a:solidFill>
              <a:latin typeface="Proxima Nova"/>
              <a:ea typeface="Proxima Nova"/>
              <a:cs typeface="Proxima Nova"/>
              <a:sym typeface="Proxima Nova"/>
            </a:endParaRPr>
          </a:p>
          <a:p>
            <a:pPr marL="0" lvl="0" indent="0" algn="l" rtl="0">
              <a:lnSpc>
                <a:spcPct val="115000"/>
              </a:lnSpc>
              <a:spcBef>
                <a:spcPts val="1200"/>
              </a:spcBef>
              <a:spcAft>
                <a:spcPts val="1200"/>
              </a:spcAft>
              <a:buNone/>
            </a:pPr>
            <a:r>
              <a:rPr lang="en-US" sz="2400">
                <a:solidFill>
                  <a:schemeClr val="dk1"/>
                </a:solidFill>
                <a:latin typeface="Proxima Nova"/>
                <a:ea typeface="Proxima Nova"/>
                <a:cs typeface="Proxima Nova"/>
                <a:sym typeface="Proxima Nova"/>
              </a:rPr>
              <a:t>Silakan kerjakan bagian </a:t>
            </a:r>
            <a:r>
              <a:rPr lang="en-US" sz="2400" b="1">
                <a:solidFill>
                  <a:schemeClr val="dk1"/>
                </a:solidFill>
                <a:latin typeface="Proxima Nova"/>
                <a:ea typeface="Proxima Nova"/>
                <a:cs typeface="Proxima Nova"/>
                <a:sym typeface="Proxima Nova"/>
              </a:rPr>
              <a:t>Kegiatan Pembelajaran</a:t>
            </a:r>
            <a:r>
              <a:rPr lang="en-US" sz="2400">
                <a:solidFill>
                  <a:schemeClr val="dk1"/>
                </a:solidFill>
                <a:latin typeface="Proxima Nova"/>
                <a:ea typeface="Proxima Nova"/>
                <a:cs typeface="Proxima Nova"/>
                <a:sym typeface="Proxima Nova"/>
              </a:rPr>
              <a:t> dan </a:t>
            </a:r>
            <a:r>
              <a:rPr lang="en-US" sz="2400" b="1">
                <a:solidFill>
                  <a:schemeClr val="dk1"/>
                </a:solidFill>
                <a:latin typeface="Proxima Nova"/>
                <a:ea typeface="Proxima Nova"/>
                <a:cs typeface="Proxima Nova"/>
                <a:sym typeface="Proxima Nova"/>
              </a:rPr>
              <a:t>Lembar Kerja</a:t>
            </a:r>
            <a:r>
              <a:rPr lang="en-US" sz="2400">
                <a:solidFill>
                  <a:schemeClr val="dk1"/>
                </a:solidFill>
                <a:latin typeface="Proxima Nova"/>
                <a:ea typeface="Proxima Nova"/>
                <a:cs typeface="Proxima Nova"/>
                <a:sym typeface="Proxima Nova"/>
              </a:rPr>
              <a:t> yang tersedia dalam Modul Topik 4. Gunakan pengalaman pribadi Anda sebagai calon guru untuk menjawab dengan reflektif Kegiatan ini akan membantu Anda menerapkan konsep Growth Mindset dalam praktik pembelajaran.</a:t>
            </a:r>
            <a:endParaRPr sz="2400">
              <a:latin typeface="Proxima Nova"/>
              <a:ea typeface="Proxima Nova"/>
              <a:cs typeface="Proxima Nova"/>
              <a:sym typeface="Proxima Nova"/>
            </a:endParaRPr>
          </a:p>
        </p:txBody>
      </p:sp>
      <p:sp>
        <p:nvSpPr>
          <p:cNvPr id="439" name="Google Shape;439;p56"/>
          <p:cNvSpPr/>
          <p:nvPr/>
        </p:nvSpPr>
        <p:spPr>
          <a:xfrm>
            <a:off x="378375" y="6053950"/>
            <a:ext cx="7662000" cy="3239700"/>
          </a:xfrm>
          <a:prstGeom prst="roundRect">
            <a:avLst>
              <a:gd name="adj" fmla="val 16667"/>
            </a:avLst>
          </a:prstGeom>
          <a:solidFill>
            <a:srgbClr val="FFD966"/>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600" b="1">
                <a:solidFill>
                  <a:schemeClr val="dk1"/>
                </a:solidFill>
                <a:latin typeface="Proxima Nova"/>
                <a:ea typeface="Proxima Nova"/>
                <a:cs typeface="Proxima Nova"/>
                <a:sym typeface="Proxima Nova"/>
              </a:rPr>
              <a:t>Aksi Kecil untuk dilakukan hari Ini:</a:t>
            </a:r>
            <a:endParaRPr sz="2600" b="1">
              <a:solidFill>
                <a:schemeClr val="dk1"/>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endParaRPr sz="2600">
              <a:solidFill>
                <a:schemeClr val="dk1"/>
              </a:solidFill>
              <a:latin typeface="Proxima Nova"/>
              <a:ea typeface="Proxima Nova"/>
              <a:cs typeface="Proxima Nova"/>
              <a:sym typeface="Proxima Nova"/>
            </a:endParaRPr>
          </a:p>
          <a:p>
            <a:pPr marL="0" lvl="0" indent="0" algn="l" rtl="0">
              <a:spcBef>
                <a:spcPts val="0"/>
              </a:spcBef>
              <a:spcAft>
                <a:spcPts val="0"/>
              </a:spcAft>
              <a:buNone/>
            </a:pPr>
            <a:r>
              <a:rPr lang="en-US" sz="2600">
                <a:solidFill>
                  <a:schemeClr val="dk1"/>
                </a:solidFill>
                <a:latin typeface="Proxima Nova"/>
                <a:ea typeface="Proxima Nova"/>
                <a:cs typeface="Proxima Nova"/>
                <a:sym typeface="Proxima Nova"/>
              </a:rPr>
              <a:t>Langkah kecil apa yang bisa Anda lakukan mulai minggu ini untuk memperkuat pola pikir bertumbuh di kelas?</a:t>
            </a:r>
            <a:endParaRPr sz="2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7"/>
          <p:cNvSpPr txBox="1">
            <a:spLocks noGrp="1"/>
          </p:cNvSpPr>
          <p:nvPr>
            <p:ph type="ctrTitle" idx="4294967295"/>
          </p:nvPr>
        </p:nvSpPr>
        <p:spPr>
          <a:xfrm>
            <a:off x="1067950" y="3090900"/>
            <a:ext cx="7610400" cy="4105200"/>
          </a:xfrm>
          <a:prstGeom prst="rect">
            <a:avLst/>
          </a:prstGeom>
          <a:no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344EAC"/>
              </a:buClr>
              <a:buSzPts val="8000"/>
              <a:buFont typeface="Open Sans ExtraBold"/>
              <a:buNone/>
            </a:pPr>
            <a:r>
              <a:rPr lang="en-US" sz="12000" b="1" i="0" u="none" strike="noStrike" cap="none">
                <a:solidFill>
                  <a:srgbClr val="344EAC"/>
                </a:solidFill>
                <a:latin typeface="Open Sans ExtraBold"/>
                <a:ea typeface="Open Sans ExtraBold"/>
                <a:cs typeface="Open Sans ExtraBold"/>
                <a:sym typeface="Open Sans ExtraBold"/>
              </a:rPr>
              <a:t>Terima</a:t>
            </a:r>
            <a:endParaRPr sz="12000" b="1" i="0" u="none" strike="noStrike" cap="none">
              <a:solidFill>
                <a:srgbClr val="344EAC"/>
              </a:solidFill>
              <a:latin typeface="Open Sans ExtraBold"/>
              <a:ea typeface="Open Sans ExtraBold"/>
              <a:cs typeface="Open Sans ExtraBold"/>
              <a:sym typeface="Open Sans ExtraBold"/>
            </a:endParaRPr>
          </a:p>
          <a:p>
            <a:pPr marL="0" marR="0" lvl="0" indent="0" algn="l" rtl="0">
              <a:lnSpc>
                <a:spcPct val="100000"/>
              </a:lnSpc>
              <a:spcBef>
                <a:spcPts val="0"/>
              </a:spcBef>
              <a:spcAft>
                <a:spcPts val="0"/>
              </a:spcAft>
              <a:buClr>
                <a:srgbClr val="344EAC"/>
              </a:buClr>
              <a:buSzPts val="8000"/>
              <a:buFont typeface="Open Sans ExtraBold"/>
              <a:buNone/>
            </a:pPr>
            <a:r>
              <a:rPr lang="en-US" sz="12000" b="1" i="0" u="none" strike="noStrike" cap="none">
                <a:solidFill>
                  <a:srgbClr val="344EAC"/>
                </a:solidFill>
                <a:latin typeface="Open Sans ExtraBold"/>
                <a:ea typeface="Open Sans ExtraBold"/>
                <a:cs typeface="Open Sans ExtraBold"/>
                <a:sym typeface="Open Sans ExtraBold"/>
              </a:rPr>
              <a:t>Kasih</a:t>
            </a:r>
            <a:endParaRPr sz="12000" b="1" i="0" u="none" strike="noStrike" cap="none">
              <a:solidFill>
                <a:srgbClr val="344EAC"/>
              </a:solidFill>
              <a:latin typeface="Open Sans ExtraBold"/>
              <a:ea typeface="Open Sans ExtraBold"/>
              <a:cs typeface="Open Sans ExtraBold"/>
              <a:sym typeface="Open Sans ExtraBold"/>
            </a:endParaRPr>
          </a:p>
        </p:txBody>
      </p:sp>
      <p:sp>
        <p:nvSpPr>
          <p:cNvPr id="445" name="Google Shape;445;p57"/>
          <p:cNvSpPr/>
          <p:nvPr/>
        </p:nvSpPr>
        <p:spPr>
          <a:xfrm>
            <a:off x="18150" y="8608775"/>
            <a:ext cx="18288000" cy="1678200"/>
          </a:xfrm>
          <a:prstGeom prst="rect">
            <a:avLst/>
          </a:prstGeom>
          <a:solidFill>
            <a:srgbClr val="D4E5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57"/>
          <p:cNvSpPr txBox="1"/>
          <p:nvPr/>
        </p:nvSpPr>
        <p:spPr>
          <a:xfrm>
            <a:off x="1020900" y="31350"/>
            <a:ext cx="52170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83C92"/>
                </a:solidFill>
                <a:latin typeface="Lato Black"/>
                <a:ea typeface="Lato Black"/>
                <a:cs typeface="Lato Black"/>
                <a:sym typeface="Lato Black"/>
              </a:rPr>
              <a:t>Kementerian Pendidikan </a:t>
            </a:r>
            <a:br>
              <a:rPr lang="en-US" sz="2000" b="0" i="0" u="none" strike="noStrike" cap="none">
                <a:solidFill>
                  <a:srgbClr val="083C92"/>
                </a:solidFill>
                <a:latin typeface="Lato Black"/>
                <a:ea typeface="Lato Black"/>
                <a:cs typeface="Lato Black"/>
                <a:sym typeface="Lato Black"/>
              </a:rPr>
            </a:br>
            <a:r>
              <a:rPr lang="en-US" sz="2000" b="0" i="0" u="none" strike="noStrike" cap="none">
                <a:solidFill>
                  <a:srgbClr val="083C92"/>
                </a:solidFill>
                <a:latin typeface="Lato Black"/>
                <a:ea typeface="Lato Black"/>
                <a:cs typeface="Lato Black"/>
                <a:sym typeface="Lato Black"/>
              </a:rPr>
              <a:t>Dasar dan Menengah</a:t>
            </a:r>
            <a:endParaRPr sz="2000" b="0" i="0" u="none" strike="noStrike" cap="none">
              <a:solidFill>
                <a:srgbClr val="083C92"/>
              </a:solidFill>
              <a:latin typeface="Lato Black"/>
              <a:ea typeface="Lato Black"/>
              <a:cs typeface="Lato Black"/>
              <a:sym typeface="Lato Black"/>
            </a:endParaRPr>
          </a:p>
        </p:txBody>
      </p:sp>
      <p:pic>
        <p:nvPicPr>
          <p:cNvPr id="447" name="Google Shape;447;p57"/>
          <p:cNvPicPr preferRelativeResize="0"/>
          <p:nvPr/>
        </p:nvPicPr>
        <p:blipFill rotWithShape="1">
          <a:blip r:embed="rId3">
            <a:alphaModFix/>
          </a:blip>
          <a:srcRect/>
          <a:stretch/>
        </p:blipFill>
        <p:spPr>
          <a:xfrm>
            <a:off x="309248" y="163600"/>
            <a:ext cx="711647" cy="720648"/>
          </a:xfrm>
          <a:prstGeom prst="rect">
            <a:avLst/>
          </a:prstGeom>
          <a:noFill/>
          <a:ln>
            <a:noFill/>
          </a:ln>
        </p:spPr>
      </p:pic>
      <p:pic>
        <p:nvPicPr>
          <p:cNvPr id="448" name="Google Shape;448;p57"/>
          <p:cNvPicPr preferRelativeResize="0"/>
          <p:nvPr/>
        </p:nvPicPr>
        <p:blipFill rotWithShape="1">
          <a:blip r:embed="rId4">
            <a:alphaModFix/>
          </a:blip>
          <a:srcRect/>
          <a:stretch/>
        </p:blipFill>
        <p:spPr>
          <a:xfrm>
            <a:off x="14801566" y="245678"/>
            <a:ext cx="1655537" cy="628725"/>
          </a:xfrm>
          <a:prstGeom prst="rect">
            <a:avLst/>
          </a:prstGeom>
          <a:noFill/>
          <a:ln>
            <a:noFill/>
          </a:ln>
        </p:spPr>
      </p:pic>
      <p:pic>
        <p:nvPicPr>
          <p:cNvPr id="449" name="Google Shape;449;p57"/>
          <p:cNvPicPr preferRelativeResize="0"/>
          <p:nvPr/>
        </p:nvPicPr>
        <p:blipFill rotWithShape="1">
          <a:blip r:embed="rId5">
            <a:alphaModFix/>
          </a:blip>
          <a:srcRect l="4970"/>
          <a:stretch/>
        </p:blipFill>
        <p:spPr>
          <a:xfrm>
            <a:off x="16304700" y="245669"/>
            <a:ext cx="1916625" cy="628725"/>
          </a:xfrm>
          <a:prstGeom prst="rect">
            <a:avLst/>
          </a:prstGeom>
          <a:noFill/>
          <a:ln>
            <a:noFill/>
          </a:ln>
        </p:spPr>
      </p:pic>
      <p:pic>
        <p:nvPicPr>
          <p:cNvPr id="450" name="Google Shape;450;p57"/>
          <p:cNvPicPr preferRelativeResize="0"/>
          <p:nvPr/>
        </p:nvPicPr>
        <p:blipFill rotWithShape="1">
          <a:blip r:embed="rId6">
            <a:alphaModFix/>
          </a:blip>
          <a:srcRect/>
          <a:stretch/>
        </p:blipFill>
        <p:spPr>
          <a:xfrm>
            <a:off x="7121076" y="628850"/>
            <a:ext cx="8986849" cy="898684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6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1127</Words>
  <Application>Microsoft Office PowerPoint</Application>
  <PresentationFormat>Custom</PresentationFormat>
  <Paragraphs>156</Paragraphs>
  <Slides>13</Slides>
  <Notes>13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13</vt:i4>
      </vt:variant>
    </vt:vector>
  </HeadingPairs>
  <TitlesOfParts>
    <vt:vector size="26" baseType="lpstr">
      <vt:lpstr>Lato Black</vt:lpstr>
      <vt:lpstr>Plus Jakarta Sans</vt:lpstr>
      <vt:lpstr>Lato</vt:lpstr>
      <vt:lpstr>Calibri</vt:lpstr>
      <vt:lpstr>Arial</vt:lpstr>
      <vt:lpstr>Open Sans</vt:lpstr>
      <vt:lpstr>Poppins</vt:lpstr>
      <vt:lpstr>Nunito Sans SemiBold</vt:lpstr>
      <vt:lpstr>Open Sans ExtraBold</vt:lpstr>
      <vt:lpstr>Proxima Nova</vt:lpstr>
      <vt:lpstr>Office Theme</vt:lpstr>
      <vt:lpstr>Office Theme</vt:lpstr>
      <vt:lpstr>Simple Light</vt:lpstr>
      <vt:lpstr>PowerPoint Presentation</vt:lpstr>
      <vt:lpstr>PowerPoint Presentation</vt:lpstr>
      <vt:lpstr>Daftar Isi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Jajang Kusnendar</dc:creator>
  <cp:lastModifiedBy>Jajang Kusnendar</cp:lastModifiedBy>
  <cp:revision>1</cp:revision>
  <dcterms:modified xsi:type="dcterms:W3CDTF">2026-01-29T00:28:21Z</dcterms:modified>
</cp:coreProperties>
</file>