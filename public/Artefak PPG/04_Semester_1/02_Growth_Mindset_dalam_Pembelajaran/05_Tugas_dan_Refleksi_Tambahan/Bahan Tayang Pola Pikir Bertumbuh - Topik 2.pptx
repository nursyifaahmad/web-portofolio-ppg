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  <p:sldMasterId id="2147483690" r:id="rId2"/>
    <p:sldMasterId id="2147483691" r:id="rId3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8288000" cy="10287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Lato Black" panose="020F0502020204030203" pitchFamily="34" charset="0"/>
      <p:bold r:id="rId22"/>
      <p:boldItalic r:id="rId23"/>
    </p:embeddedFont>
    <p:embeddedFont>
      <p:font typeface="Nunito Sans SemiBold" pitchFamily="2" charset="0"/>
      <p:regular r:id="rId24"/>
      <p:bold r:id="rId25"/>
      <p:italic r:id="rId26"/>
      <p:boldItalic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Open Sans ExtraBold" panose="020B0906030804020204" pitchFamily="34" charset="0"/>
      <p:bold r:id="rId32"/>
      <p:boldItalic r:id="rId33"/>
    </p:embeddedFont>
    <p:embeddedFont>
      <p:font typeface="Plus Jakarta Sans" panose="020B0604020202020204" charset="0"/>
      <p:regular r:id="rId34"/>
      <p:bold r:id="rId35"/>
      <p:italic r:id="rId36"/>
      <p:boldItalic r:id="rId37"/>
    </p:embeddedFont>
    <p:embeddedFont>
      <p:font typeface="Poppins" panose="00000500000000000000" pitchFamily="2" charset="0"/>
      <p:regular r:id="rId38"/>
      <p:bold r:id="rId39"/>
      <p:italic r:id="rId40"/>
      <p:boldItalic r:id="rId41"/>
    </p:embeddedFont>
    <p:embeddedFont>
      <p:font typeface="Proxima Nova" panose="020B060402020202020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127DB20-A7FA-484C-B700-B66CA55BC51A}">
  <a:tblStyle styleId="{A127DB20-A7FA-484C-B700-B66CA55BC5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2" Type="http://schemas.openxmlformats.org/officeDocument/2006/relationships/font" Target="fonts/font25.fntdata"/><Relationship Id="rId47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12.fntdata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schemas.openxmlformats.org/officeDocument/2006/relationships/font" Target="fonts/font28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4" Type="http://schemas.openxmlformats.org/officeDocument/2006/relationships/font" Target="fonts/font27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3" Type="http://schemas.openxmlformats.org/officeDocument/2006/relationships/font" Target="fonts/font26.fntdata"/><Relationship Id="rId48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 txBox="1">
            <a:spLocks noGrp="1"/>
          </p:cNvSpPr>
          <p:nvPr>
            <p:ph type="body" idx="1"/>
          </p:nvPr>
        </p:nvSpPr>
        <p:spPr>
          <a:xfrm>
            <a:off x="685800" y="434337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  <p:sp>
        <p:nvSpPr>
          <p:cNvPr id="248" name="Google Shape;2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778"/>
            <a:ext cx="4572300" cy="34287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7ee23129e_0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3a7ee23129e_0_3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48c3ee1ff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g3a48c3ee1ff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7ee23129e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3a7ee23129e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7ee23129e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3a7ee23129e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49b9c0f5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g3a49b9c0f54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7ee23129e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5" name="Google Shape;365;g3a7ee23129e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a49b9c0f5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g3a49b9c0f5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7e1b74a2b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g3a7e1b74a2b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7ee23129e_0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g3a7ee23129e_0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a7e1b74a2b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3" name="Google Shape;423;g3a7e1b74a2b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49b9c0f54_0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g3a49b9c0f54_0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BJECT" type="obj">
  <p:cSld name="OBJECT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18288000" cy="7689850"/>
          </a:xfrm>
          <a:custGeom>
            <a:avLst/>
            <a:gdLst/>
            <a:ahLst/>
            <a:cxnLst/>
            <a:rect l="l" t="t" r="r" b="b"/>
            <a:pathLst>
              <a:path w="9144000" h="3844925" extrusionOk="0">
                <a:moveTo>
                  <a:pt x="0" y="3844897"/>
                </a:moveTo>
                <a:lnTo>
                  <a:pt x="9144000" y="3844897"/>
                </a:lnTo>
                <a:lnTo>
                  <a:pt x="9144000" y="0"/>
                </a:lnTo>
                <a:lnTo>
                  <a:pt x="0" y="0"/>
                </a:lnTo>
                <a:lnTo>
                  <a:pt x="0" y="3844897"/>
                </a:lnTo>
                <a:close/>
              </a:path>
            </a:pathLst>
          </a:custGeom>
          <a:solidFill>
            <a:srgbClr val="3078EE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98" y="7689794"/>
            <a:ext cx="18288000" cy="2598420"/>
          </a:xfrm>
          <a:custGeom>
            <a:avLst/>
            <a:gdLst/>
            <a:ahLst/>
            <a:cxnLst/>
            <a:rect l="l" t="t" r="r" b="b"/>
            <a:pathLst>
              <a:path w="9144000" h="1299210" extrusionOk="0">
                <a:moveTo>
                  <a:pt x="9144000" y="0"/>
                </a:moveTo>
                <a:lnTo>
                  <a:pt x="0" y="0"/>
                </a:lnTo>
                <a:lnTo>
                  <a:pt x="0" y="1298702"/>
                </a:lnTo>
                <a:lnTo>
                  <a:pt x="9144000" y="12987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34DC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8092" y="729740"/>
            <a:ext cx="980186" cy="99364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>
            <a:spLocks noGrp="1"/>
          </p:cNvSpPr>
          <p:nvPr>
            <p:ph type="ctrTitle"/>
          </p:nvPr>
        </p:nvSpPr>
        <p:spPr>
          <a:xfrm>
            <a:off x="1383384" y="2465324"/>
            <a:ext cx="15521400" cy="33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1"/>
          </p:nvPr>
        </p:nvSpPr>
        <p:spPr>
          <a:xfrm>
            <a:off x="2743200" y="5760720"/>
            <a:ext cx="12801600" cy="25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13167360" y="9566910"/>
            <a:ext cx="42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xfrm>
            <a:off x="623400" y="69740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28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10355900" y="9733950"/>
            <a:ext cx="76698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Pendidikan, Kebudayaan, Riset, dan Teknologi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9" name="Google Shape;99;p15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12159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776478" y="749300"/>
            <a:ext cx="16735200" cy="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 i="0">
                <a:solidFill>
                  <a:srgbClr val="1C458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1313434" y="3871976"/>
            <a:ext cx="15661200" cy="26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i="0">
                <a:solidFill>
                  <a:srgbClr val="CFF3F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13167360" y="9566910"/>
            <a:ext cx="42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776478" y="749300"/>
            <a:ext cx="16735200" cy="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 i="0">
                <a:solidFill>
                  <a:srgbClr val="1C458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sldNum" idx="12"/>
          </p:nvPr>
        </p:nvSpPr>
        <p:spPr>
          <a:xfrm>
            <a:off x="13167360" y="9566910"/>
            <a:ext cx="42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776478" y="749300"/>
            <a:ext cx="16735200" cy="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6000" b="1" i="0">
                <a:solidFill>
                  <a:srgbClr val="1C458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8"/>
          <p:cNvSpPr txBox="1">
            <a:spLocks noGrp="1"/>
          </p:cNvSpPr>
          <p:nvPr>
            <p:ph type="body" idx="1"/>
          </p:nvPr>
        </p:nvSpPr>
        <p:spPr>
          <a:xfrm>
            <a:off x="914400" y="2366010"/>
            <a:ext cx="7955400" cy="6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2"/>
          </p:nvPr>
        </p:nvSpPr>
        <p:spPr>
          <a:xfrm>
            <a:off x="9418320" y="2366010"/>
            <a:ext cx="7955400" cy="67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idx="12"/>
          </p:nvPr>
        </p:nvSpPr>
        <p:spPr>
          <a:xfrm>
            <a:off x="13167360" y="9566910"/>
            <a:ext cx="42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13167360" y="9566910"/>
            <a:ext cx="42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_1">
  <p:cSld name="CAPTION_ONLY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36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5" name="Google Shape;125;p20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ing">
  <p:cSld name="Heading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870858" y="576072"/>
            <a:ext cx="16546800" cy="11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1"/>
          </p:nvPr>
        </p:nvSpPr>
        <p:spPr>
          <a:xfrm>
            <a:off x="871538" y="2098538"/>
            <a:ext cx="16546800" cy="7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body" idx="2"/>
          </p:nvPr>
        </p:nvSpPr>
        <p:spPr>
          <a:xfrm>
            <a:off x="870862" y="2819400"/>
            <a:ext cx="16546800" cy="67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20">
          <p15:clr>
            <a:srgbClr val="FBAE40"/>
          </p15:clr>
        </p15:guide>
        <p15:guide id="2" orient="horz" pos="177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000"/>
              <a:buFont typeface="Lato Black"/>
              <a:buNone/>
              <a:defRPr sz="5000">
                <a:solidFill>
                  <a:srgbClr val="002060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grpSp>
        <p:nvGrpSpPr>
          <p:cNvPr id="132" name="Google Shape;132;p22"/>
          <p:cNvGrpSpPr/>
          <p:nvPr/>
        </p:nvGrpSpPr>
        <p:grpSpPr>
          <a:xfrm>
            <a:off x="13622899" y="1303300"/>
            <a:ext cx="4665153" cy="54000"/>
            <a:chOff x="4888300" y="727847"/>
            <a:chExt cx="4255750" cy="27000"/>
          </a:xfrm>
        </p:grpSpPr>
        <p:sp>
          <p:nvSpPr>
            <p:cNvPr id="133" name="Google Shape;133;p22"/>
            <p:cNvSpPr/>
            <p:nvPr/>
          </p:nvSpPr>
          <p:spPr>
            <a:xfrm>
              <a:off x="4888300" y="727847"/>
              <a:ext cx="2127900" cy="27000"/>
            </a:xfrm>
            <a:prstGeom prst="rect">
              <a:avLst/>
            </a:prstGeom>
            <a:solidFill>
              <a:srgbClr val="49A6DB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2"/>
            <p:cNvSpPr/>
            <p:nvPr/>
          </p:nvSpPr>
          <p:spPr>
            <a:xfrm>
              <a:off x="7016150" y="727847"/>
              <a:ext cx="2127900" cy="27000"/>
            </a:xfrm>
            <a:prstGeom prst="rect">
              <a:avLst/>
            </a:prstGeom>
            <a:solidFill>
              <a:srgbClr val="17406D"/>
            </a:solidFill>
            <a:ln>
              <a:noFill/>
            </a:ln>
          </p:spPr>
          <p:txBody>
            <a:bodyPr spcFirstLastPara="1" wrap="square" lIns="182850" tIns="182850" rIns="182850" bIns="1828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2"/>
          <p:cNvSpPr txBox="1"/>
          <p:nvPr/>
        </p:nvSpPr>
        <p:spPr>
          <a:xfrm>
            <a:off x="11209950" y="9733950"/>
            <a:ext cx="68160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0592D6"/>
                </a:solidFill>
                <a:latin typeface="Lato"/>
                <a:ea typeface="Lato"/>
                <a:cs typeface="Lato"/>
                <a:sym typeface="Lato"/>
              </a:rPr>
              <a:t>Kementerian Pendidikan, Kebudayaan, Riset, dan Teknologi</a:t>
            </a:r>
            <a:endParaRPr sz="1800" b="0" i="0" u="none" strike="noStrike" cap="none">
              <a:solidFill>
                <a:srgbClr val="0592D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6" name="Google Shape;136;p22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166145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22"/>
          <p:cNvGrpSpPr/>
          <p:nvPr/>
        </p:nvGrpSpPr>
        <p:grpSpPr>
          <a:xfrm>
            <a:off x="-50" y="9456010"/>
            <a:ext cx="5517876" cy="831000"/>
            <a:chOff x="-25" y="4752355"/>
            <a:chExt cx="2758938" cy="415500"/>
          </a:xfrm>
        </p:grpSpPr>
        <p:sp>
          <p:nvSpPr>
            <p:cNvPr id="138" name="Google Shape;138;p22"/>
            <p:cNvSpPr/>
            <p:nvPr/>
          </p:nvSpPr>
          <p:spPr>
            <a:xfrm>
              <a:off x="-25" y="4752375"/>
              <a:ext cx="2668500" cy="415200"/>
            </a:xfrm>
            <a:prstGeom prst="rect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50" tIns="91450" rIns="91450" bIns="91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9" name="Google Shape;139;p2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9869" y="4834280"/>
              <a:ext cx="247185" cy="2471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0" name="Google Shape;140;p22"/>
            <p:cNvSpPr/>
            <p:nvPr/>
          </p:nvSpPr>
          <p:spPr>
            <a:xfrm>
              <a:off x="2668313" y="4752355"/>
              <a:ext cx="90600" cy="415500"/>
            </a:xfrm>
            <a:prstGeom prst="rtTriangle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endParaRPr sz="2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2"/>
            <p:cNvSpPr txBox="1"/>
            <p:nvPr/>
          </p:nvSpPr>
          <p:spPr>
            <a:xfrm>
              <a:off x="398225" y="4817700"/>
              <a:ext cx="2270100" cy="2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50" tIns="68550" rIns="137150" bIns="6855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DOKUMEN RAHASIA. Tidak untuk disebarluaskan.</a:t>
              </a:r>
              <a:endParaRPr sz="1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Ditjen GTK Kemendikbudristek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_1">
  <p:cSld name="CAPTION_ONLY_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36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48" name="Google Shape;148;p24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9" name="Google Shape;149;p24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_1_2">
  <p:cSld name="CAPTION_ONLY_1_2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36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25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3" name="Google Shape;153;p25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_1_1">
  <p:cSld name="CAPTION_ONLY_1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36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56" name="Google Shape;156;p26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7" name="Google Shape;157;p26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7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60" name="Google Shape;160;p27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61" name="Google Shape;161;p2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 type="tx">
  <p:cSld name="TITLE_AND_BODY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30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73" name="Google Shape;173;p3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">
  <p:cSld name="ONE_COLUMN_TEX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9" name="Google Shape;179;p32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180" name="Google Shape;180;p3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_POINT">
  <p:cSld name="MAIN_POIN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183" name="Google Shape;183;p3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>
  <p:cSld name="SECTION_TITLE_AND_DESCRIPTION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187" name="Google Shape;187;p3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89" name="Google Shape;189;p3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>
            <a:endParaRPr/>
          </a:p>
        </p:txBody>
      </p:sp>
      <p:sp>
        <p:nvSpPr>
          <p:cNvPr id="192" name="Google Shape;192;p3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>
  <p:cSld name="BIG_NUMBER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195" name="Google Shape;195;p36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196" name="Google Shape;196;p36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8"/>
          <p:cNvSpPr/>
          <p:nvPr/>
        </p:nvSpPr>
        <p:spPr>
          <a:xfrm>
            <a:off x="0" y="9647620"/>
            <a:ext cx="18288000" cy="639600"/>
          </a:xfrm>
          <a:prstGeom prst="rect">
            <a:avLst/>
          </a:prstGeom>
          <a:solidFill>
            <a:srgbClr val="002060"/>
          </a:solidFill>
          <a:ln w="25400" cap="flat" cmpd="sng">
            <a:solidFill>
              <a:srgbClr val="1B38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150" tIns="68550" rIns="137150" bIns="685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8"/>
          <p:cNvSpPr txBox="1">
            <a:spLocks noGrp="1"/>
          </p:cNvSpPr>
          <p:nvPr>
            <p:ph type="sldNum" idx="12"/>
          </p:nvPr>
        </p:nvSpPr>
        <p:spPr>
          <a:xfrm>
            <a:off x="17461548" y="9665026"/>
            <a:ext cx="639600" cy="6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37150" rIns="137150" bIns="137150" anchor="ctr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000">
              <a:solidFill>
                <a:schemeClr val="dk2"/>
              </a:solidFill>
            </a:endParaRPr>
          </a:p>
        </p:txBody>
      </p:sp>
      <p:sp>
        <p:nvSpPr>
          <p:cNvPr id="202" name="Google Shape;202;p38"/>
          <p:cNvSpPr txBox="1"/>
          <p:nvPr/>
        </p:nvSpPr>
        <p:spPr>
          <a:xfrm>
            <a:off x="11767200" y="9794278"/>
            <a:ext cx="56946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Kementerian Pendidikan, Kebudayaan, Riset, dan Teknologi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27820" y="9665026"/>
            <a:ext cx="639382" cy="639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9"/>
          <p:cNvSpPr txBox="1">
            <a:spLocks noGrp="1"/>
          </p:cNvSpPr>
          <p:nvPr>
            <p:ph type="title"/>
          </p:nvPr>
        </p:nvSpPr>
        <p:spPr>
          <a:xfrm>
            <a:off x="2067650" y="392600"/>
            <a:ext cx="154446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4200"/>
              <a:buFont typeface="Open Sans ExtraBold"/>
              <a:buNone/>
              <a:defRPr sz="4200"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Open Sans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06" name="Google Shape;206;p3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07" name="Google Shape;207;p39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8" name="Google Shape;208;p39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9" name="Google Shape;209;p39"/>
          <p:cNvGrpSpPr/>
          <p:nvPr/>
        </p:nvGrpSpPr>
        <p:grpSpPr>
          <a:xfrm>
            <a:off x="64298" y="217736"/>
            <a:ext cx="1923749" cy="1495147"/>
            <a:chOff x="-151896" y="-128007"/>
            <a:chExt cx="1282499" cy="996765"/>
          </a:xfrm>
        </p:grpSpPr>
        <p:sp>
          <p:nvSpPr>
            <p:cNvPr id="210" name="Google Shape;210;p39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1" name="Google Shape;211;p39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212" name="Google Shape;212;p3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13" name="Google Shape;213;p39"/>
              <p:cNvPicPr preferRelativeResize="0"/>
              <p:nvPr/>
            </p:nvPicPr>
            <p:blipFill rotWithShape="1">
              <a:blip r:embed="rId4">
                <a:alphaModFix/>
              </a:blip>
              <a:srcRect l="25906" t="42302" r="62505" b="55212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14" name="Google Shape;214;p3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_1_1_1">
  <p:cSld name="CAPTION_ONLY_1_1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36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217" name="Google Shape;217;p40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8" name="Google Shape;218;p40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_1_3">
  <p:cSld name="CAPTION_ONLY_1_3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1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3600"/>
              <a:buFont typeface="Open Sans ExtraBold"/>
              <a:buNone/>
              <a:defRPr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221" name="Google Shape;221;p41"/>
          <p:cNvSpPr txBox="1"/>
          <p:nvPr/>
        </p:nvSpPr>
        <p:spPr>
          <a:xfrm>
            <a:off x="12420100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22" name="Google Shape;222;p41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0" y="9770926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42"/>
          <p:cNvPicPr preferRelativeResize="0"/>
          <p:nvPr/>
        </p:nvPicPr>
        <p:blipFill rotWithShape="1">
          <a:blip r:embed="rId2">
            <a:alphaModFix/>
          </a:blip>
          <a:srcRect t="-3210" b="3209"/>
          <a:stretch/>
        </p:blipFill>
        <p:spPr>
          <a:xfrm>
            <a:off x="0" y="0"/>
            <a:ext cx="18288000" cy="10287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8748" y="486400"/>
            <a:ext cx="860502" cy="87140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2"/>
          <p:cNvSpPr txBox="1"/>
          <p:nvPr/>
        </p:nvSpPr>
        <p:spPr>
          <a:xfrm>
            <a:off x="1580750" y="454348"/>
            <a:ext cx="79278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263474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Kementerian Pendidikan, Kebudayaan, Riset, dan Teknologi</a:t>
            </a:r>
            <a:br>
              <a:rPr lang="en-US" sz="2000" b="0" i="0" u="none" strike="noStrike" cap="none">
                <a:solidFill>
                  <a:srgbClr val="263474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</a:br>
            <a:r>
              <a:rPr lang="en-US" sz="2000" b="0" i="0" u="none" strike="noStrike" cap="none">
                <a:solidFill>
                  <a:srgbClr val="263474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Direktorat Jenderal Guru dan Tenaga Kependidikan</a:t>
            </a:r>
            <a:endParaRPr sz="2000" b="0" i="0" u="none" strike="noStrike" cap="none">
              <a:solidFill>
                <a:srgbClr val="263474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3"/>
          <p:cNvSpPr txBox="1">
            <a:spLocks noGrp="1"/>
          </p:cNvSpPr>
          <p:nvPr>
            <p:ph type="title"/>
          </p:nvPr>
        </p:nvSpPr>
        <p:spPr>
          <a:xfrm>
            <a:off x="469548" y="674212"/>
            <a:ext cx="16765200" cy="4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2800" b="1" i="0">
                <a:solidFill>
                  <a:srgbClr val="001F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43"/>
          <p:cNvSpPr txBox="1">
            <a:spLocks noGrp="1"/>
          </p:cNvSpPr>
          <p:nvPr>
            <p:ph type="ftr" idx="11"/>
          </p:nvPr>
        </p:nvSpPr>
        <p:spPr>
          <a:xfrm>
            <a:off x="511806" y="9746236"/>
            <a:ext cx="4446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" name="Google Shape;230;p43"/>
          <p:cNvSpPr txBox="1">
            <a:spLocks noGrp="1"/>
          </p:cNvSpPr>
          <p:nvPr>
            <p:ph type="dt" idx="10"/>
          </p:nvPr>
        </p:nvSpPr>
        <p:spPr>
          <a:xfrm>
            <a:off x="11954330" y="9761226"/>
            <a:ext cx="5443200" cy="2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" name="Google Shape;231;p43"/>
          <p:cNvSpPr txBox="1">
            <a:spLocks noGrp="1"/>
          </p:cNvSpPr>
          <p:nvPr>
            <p:ph type="sldNum" idx="12"/>
          </p:nvPr>
        </p:nvSpPr>
        <p:spPr>
          <a:xfrm>
            <a:off x="17752938" y="9750918"/>
            <a:ext cx="3798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7620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7620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7620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7620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7620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7620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7620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7620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7620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 1">
  <p:cSld name="Caption 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4"/>
          <p:cNvSpPr txBox="1">
            <a:spLocks noGrp="1"/>
          </p:cNvSpPr>
          <p:nvPr>
            <p:ph type="body" idx="1"/>
          </p:nvPr>
        </p:nvSpPr>
        <p:spPr>
          <a:xfrm>
            <a:off x="623400" y="8461151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137150" rIns="137150" bIns="1371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2800"/>
              <a:buFont typeface="Open Sans ExtraBold"/>
              <a:buNone/>
              <a:defRPr b="1"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  <a:lvl2pPr marL="914400" lvl="1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2pPr>
            <a:lvl3pPr marL="1371600" lvl="2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3pPr>
            <a:lvl4pPr marL="1828800" lvl="3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4pPr>
            <a:lvl5pPr marL="2286000" lvl="4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5pPr>
            <a:lvl6pPr marL="2743200" lvl="5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6pPr>
            <a:lvl7pPr marL="3200400" lvl="6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  <a:defRPr/>
            </a:lvl7pPr>
            <a:lvl8pPr marL="3657600" lvl="7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○"/>
              <a:defRPr/>
            </a:lvl8pPr>
            <a:lvl9pPr marL="4114800" lvl="8" indent="-3683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■"/>
              <a:defRPr/>
            </a:lvl9pPr>
          </a:lstStyle>
          <a:p>
            <a:endParaRPr/>
          </a:p>
        </p:txBody>
      </p:sp>
      <p:sp>
        <p:nvSpPr>
          <p:cNvPr id="234" name="Google Shape;234;p44"/>
          <p:cNvSpPr txBox="1"/>
          <p:nvPr/>
        </p:nvSpPr>
        <p:spPr>
          <a:xfrm>
            <a:off x="12420101" y="9733950"/>
            <a:ext cx="5605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00" tIns="51400" rIns="51400" bIns="51400" anchor="t" anchorCtr="0">
            <a:spAutoFit/>
          </a:bodyPr>
          <a:lstStyle/>
          <a:p>
            <a:pPr marL="0" marR="0" lvl="1" indent="5080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800" b="0" i="0" u="none" strike="noStrike" cap="none">
                <a:solidFill>
                  <a:srgbClr val="344EAC"/>
                </a:solidFill>
                <a:latin typeface="Open Sans"/>
                <a:ea typeface="Open Sans"/>
                <a:cs typeface="Open Sans"/>
                <a:sym typeface="Open Sans"/>
              </a:rPr>
              <a:t>Kementerian Pendidikan Dasar dan Menengah</a:t>
            </a:r>
            <a:endParaRPr sz="1800" b="0" i="0" u="none" strike="noStrike" cap="none">
              <a:solidFill>
                <a:srgbClr val="344EA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35" name="Google Shape;235;p44" descr="Google Shape;12;p5"/>
          <p:cNvPicPr preferRelativeResize="0"/>
          <p:nvPr/>
        </p:nvPicPr>
        <p:blipFill rotWithShape="1">
          <a:blip r:embed="rId2">
            <a:alphaModFix/>
          </a:blip>
          <a:srcRect l="18919" t="10" r="12234" b="-10"/>
          <a:stretch/>
        </p:blipFill>
        <p:spPr>
          <a:xfrm>
            <a:off x="12572501" y="9770927"/>
            <a:ext cx="299000" cy="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1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41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36.xml"/><Relationship Id="rId20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slideLayout" Target="../slideLayouts/slideLayout34.xml"/><Relationship Id="rId2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776478" y="749300"/>
            <a:ext cx="16735200" cy="9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6000" b="1" i="0" u="none" strike="noStrike" cap="none">
                <a:solidFill>
                  <a:srgbClr val="1C458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1313434" y="3871976"/>
            <a:ext cx="15661200" cy="26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400" b="1" i="0" u="none" strike="noStrike" cap="none">
                <a:solidFill>
                  <a:srgbClr val="CFF3F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6217920" y="9566910"/>
            <a:ext cx="58524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dt" idx="10"/>
          </p:nvPr>
        </p:nvSpPr>
        <p:spPr>
          <a:xfrm>
            <a:off x="914400" y="9566910"/>
            <a:ext cx="4206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13167360" y="9566910"/>
            <a:ext cx="4206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28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  <p:sldLayoutId id="2147483688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45"/>
          <p:cNvPicPr preferRelativeResize="0"/>
          <p:nvPr/>
        </p:nvPicPr>
        <p:blipFill rotWithShape="1">
          <a:blip r:embed="rId3">
            <a:alphaModFix/>
          </a:blip>
          <a:srcRect b="24952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9248" y="163600"/>
            <a:ext cx="711647" cy="72064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5"/>
          <p:cNvSpPr txBox="1"/>
          <p:nvPr/>
        </p:nvSpPr>
        <p:spPr>
          <a:xfrm>
            <a:off x="1020900" y="31350"/>
            <a:ext cx="5217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Kementerian Pendidikan </a:t>
            </a:r>
            <a:br>
              <a:rPr lang="en-US" sz="20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lang="en-US" sz="20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Dasar dan Menengah</a:t>
            </a:r>
            <a:endParaRPr sz="2000" b="0" i="0" u="none" strike="noStrike" cap="non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243" name="Google Shape;243;p45"/>
          <p:cNvSpPr txBox="1"/>
          <p:nvPr/>
        </p:nvSpPr>
        <p:spPr>
          <a:xfrm>
            <a:off x="939600" y="5096875"/>
            <a:ext cx="16408800" cy="3392700"/>
          </a:xfrm>
          <a:prstGeom prst="rect">
            <a:avLst/>
          </a:prstGeom>
          <a:noFill/>
          <a:ln>
            <a:noFill/>
          </a:ln>
          <a:effectLst>
            <a:outerShdw blurRad="114300" dist="114300" dir="21540000" algn="bl" rotWithShape="0">
              <a:srgbClr val="000000"/>
            </a:outerShdw>
          </a:effectLst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Pola Pikir Bertumbuh </a:t>
            </a:r>
            <a:endParaRPr sz="96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6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Topik 2</a:t>
            </a:r>
            <a:endParaRPr sz="9600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pic>
        <p:nvPicPr>
          <p:cNvPr id="244" name="Google Shape;244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5"/>
          <p:cNvPicPr preferRelativeResize="0"/>
          <p:nvPr/>
        </p:nvPicPr>
        <p:blipFill rotWithShape="1">
          <a:blip r:embed="rId6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46"/>
          <p:cNvGrpSpPr/>
          <p:nvPr/>
        </p:nvGrpSpPr>
        <p:grpSpPr>
          <a:xfrm>
            <a:off x="1359738" y="8048776"/>
            <a:ext cx="5746750" cy="784858"/>
            <a:chOff x="679869" y="4024388"/>
            <a:chExt cx="2873375" cy="392429"/>
          </a:xfrm>
        </p:grpSpPr>
        <p:pic>
          <p:nvPicPr>
            <p:cNvPr id="251" name="Google Shape;251;p4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79869" y="4024388"/>
              <a:ext cx="2873082" cy="3917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46"/>
            <p:cNvSpPr/>
            <p:nvPr/>
          </p:nvSpPr>
          <p:spPr>
            <a:xfrm>
              <a:off x="679869" y="4024388"/>
              <a:ext cx="2873375" cy="392429"/>
            </a:xfrm>
            <a:custGeom>
              <a:avLst/>
              <a:gdLst/>
              <a:ahLst/>
              <a:cxnLst/>
              <a:rect l="l" t="t" r="r" b="b"/>
              <a:pathLst>
                <a:path w="2873375" h="392429" extrusionOk="0">
                  <a:moveTo>
                    <a:pt x="0" y="195897"/>
                  </a:moveTo>
                  <a:lnTo>
                    <a:pt x="5174" y="150979"/>
                  </a:lnTo>
                  <a:lnTo>
                    <a:pt x="19913" y="109746"/>
                  </a:lnTo>
                  <a:lnTo>
                    <a:pt x="43041" y="73373"/>
                  </a:lnTo>
                  <a:lnTo>
                    <a:pt x="73381" y="43036"/>
                  </a:lnTo>
                  <a:lnTo>
                    <a:pt x="109756" y="19911"/>
                  </a:lnTo>
                  <a:lnTo>
                    <a:pt x="150991" y="5173"/>
                  </a:lnTo>
                  <a:lnTo>
                    <a:pt x="195910" y="0"/>
                  </a:lnTo>
                  <a:lnTo>
                    <a:pt x="2677248" y="0"/>
                  </a:lnTo>
                  <a:lnTo>
                    <a:pt x="2722166" y="5173"/>
                  </a:lnTo>
                  <a:lnTo>
                    <a:pt x="2763392" y="19911"/>
                  </a:lnTo>
                  <a:lnTo>
                    <a:pt x="2799753" y="43036"/>
                  </a:lnTo>
                  <a:lnTo>
                    <a:pt x="2830075" y="73373"/>
                  </a:lnTo>
                  <a:lnTo>
                    <a:pt x="2853186" y="109746"/>
                  </a:lnTo>
                  <a:lnTo>
                    <a:pt x="2867913" y="150979"/>
                  </a:lnTo>
                  <a:lnTo>
                    <a:pt x="2873082" y="195897"/>
                  </a:lnTo>
                  <a:lnTo>
                    <a:pt x="2867913" y="240815"/>
                  </a:lnTo>
                  <a:lnTo>
                    <a:pt x="2853186" y="282050"/>
                  </a:lnTo>
                  <a:lnTo>
                    <a:pt x="2830075" y="318426"/>
                  </a:lnTo>
                  <a:lnTo>
                    <a:pt x="2799753" y="348766"/>
                  </a:lnTo>
                  <a:lnTo>
                    <a:pt x="2763392" y="371893"/>
                  </a:lnTo>
                  <a:lnTo>
                    <a:pt x="2722166" y="386633"/>
                  </a:lnTo>
                  <a:lnTo>
                    <a:pt x="2677248" y="391807"/>
                  </a:lnTo>
                  <a:lnTo>
                    <a:pt x="195910" y="391795"/>
                  </a:lnTo>
                  <a:lnTo>
                    <a:pt x="150991" y="386621"/>
                  </a:lnTo>
                  <a:lnTo>
                    <a:pt x="109756" y="371883"/>
                  </a:lnTo>
                  <a:lnTo>
                    <a:pt x="73381" y="348758"/>
                  </a:lnTo>
                  <a:lnTo>
                    <a:pt x="43041" y="318421"/>
                  </a:lnTo>
                  <a:lnTo>
                    <a:pt x="19913" y="282048"/>
                  </a:lnTo>
                  <a:lnTo>
                    <a:pt x="5174" y="240815"/>
                  </a:lnTo>
                  <a:lnTo>
                    <a:pt x="0" y="195897"/>
                  </a:lnTo>
                  <a:close/>
                </a:path>
              </a:pathLst>
            </a:custGeom>
            <a:noFill/>
            <a:ln w="1905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endPara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3" name="Google Shape;253;p46"/>
          <p:cNvSpPr txBox="1"/>
          <p:nvPr/>
        </p:nvSpPr>
        <p:spPr>
          <a:xfrm>
            <a:off x="2603410" y="8151422"/>
            <a:ext cx="3523200" cy="5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540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>
                <a:solidFill>
                  <a:srgbClr val="FFFFFF"/>
                </a:solidFill>
              </a:rPr>
              <a:t>November </a:t>
            </a:r>
            <a:r>
              <a:rPr lang="en-US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2025</a:t>
            </a:r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6"/>
          <p:cNvSpPr txBox="1"/>
          <p:nvPr/>
        </p:nvSpPr>
        <p:spPr>
          <a:xfrm>
            <a:off x="846250" y="3429000"/>
            <a:ext cx="10732800" cy="15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30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800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Cara Kerja Otak Pada Pola Pikir Bertumbuh</a:t>
            </a:r>
            <a:endParaRPr sz="5800" b="1">
              <a:solidFill>
                <a:srgbClr val="FFFFFF"/>
              </a:solidFill>
            </a:endParaRPr>
          </a:p>
        </p:txBody>
      </p:sp>
      <p:pic>
        <p:nvPicPr>
          <p:cNvPr id="255" name="Google Shape;255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20120" y="2198420"/>
            <a:ext cx="8167878" cy="808857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6"/>
          <p:cNvSpPr txBox="1"/>
          <p:nvPr/>
        </p:nvSpPr>
        <p:spPr>
          <a:xfrm>
            <a:off x="1624625" y="782450"/>
            <a:ext cx="5217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Kementerian Pendidikan </a:t>
            </a:r>
            <a:br>
              <a:rPr lang="en-US" sz="20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lang="en-US" sz="2000" b="0" i="0" u="none" strike="noStrike" cap="non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Dasar dan Menengah</a:t>
            </a:r>
            <a:endParaRPr sz="2000" b="0" i="0" u="none" strike="noStrike" cap="non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7"/>
          <p:cNvSpPr txBox="1">
            <a:spLocks noGrp="1"/>
          </p:cNvSpPr>
          <p:nvPr>
            <p:ph type="title" idx="4294967295"/>
          </p:nvPr>
        </p:nvSpPr>
        <p:spPr>
          <a:xfrm>
            <a:off x="1838025" y="3729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b="1">
                <a:latin typeface="Poppins"/>
                <a:ea typeface="Poppins"/>
                <a:cs typeface="Poppins"/>
                <a:sym typeface="Poppins"/>
              </a:rPr>
              <a:t>Daftar </a:t>
            </a:r>
            <a:r>
              <a:rPr lang="en-US" b="1">
                <a:solidFill>
                  <a:srgbClr val="0592D6"/>
                </a:solidFill>
                <a:latin typeface="Poppins"/>
                <a:ea typeface="Poppins"/>
                <a:cs typeface="Poppins"/>
                <a:sym typeface="Poppins"/>
              </a:rPr>
              <a:t>Isi</a:t>
            </a:r>
            <a:endParaRPr b="1">
              <a:solidFill>
                <a:srgbClr val="0592D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62" name="Google Shape;262;p47"/>
          <p:cNvGrpSpPr/>
          <p:nvPr/>
        </p:nvGrpSpPr>
        <p:grpSpPr>
          <a:xfrm>
            <a:off x="916400" y="2623871"/>
            <a:ext cx="16323300" cy="838200"/>
            <a:chOff x="916400" y="2931298"/>
            <a:chExt cx="16323300" cy="838200"/>
          </a:xfrm>
        </p:grpSpPr>
        <p:sp>
          <p:nvSpPr>
            <p:cNvPr id="263" name="Google Shape;263;p47"/>
            <p:cNvSpPr/>
            <p:nvPr/>
          </p:nvSpPr>
          <p:spPr>
            <a:xfrm>
              <a:off x="916400" y="2931298"/>
              <a:ext cx="16323300" cy="838200"/>
            </a:xfrm>
            <a:prstGeom prst="roundRect">
              <a:avLst>
                <a:gd name="adj" fmla="val 16667"/>
              </a:avLst>
            </a:prstGeom>
            <a:solidFill>
              <a:srgbClr val="EEFB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0" marR="0" lvl="0" indent="914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6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Prinsip Dasar ‘Talent, Takdir, Menghindar’ (TTM) versus ‘Belajar Usaha Menerima’ (BUM).</a:t>
              </a:r>
              <a:endParaRPr sz="26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4" name="Google Shape;264;p47"/>
            <p:cNvSpPr/>
            <p:nvPr/>
          </p:nvSpPr>
          <p:spPr>
            <a:xfrm>
              <a:off x="1124966" y="3090774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2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65" name="Google Shape;265;p47"/>
          <p:cNvGrpSpPr/>
          <p:nvPr/>
        </p:nvGrpSpPr>
        <p:grpSpPr>
          <a:xfrm>
            <a:off x="916400" y="1749672"/>
            <a:ext cx="16323300" cy="762000"/>
            <a:chOff x="916400" y="2057100"/>
            <a:chExt cx="16323300" cy="762000"/>
          </a:xfrm>
        </p:grpSpPr>
        <p:sp>
          <p:nvSpPr>
            <p:cNvPr id="266" name="Google Shape;266;p47"/>
            <p:cNvSpPr/>
            <p:nvPr/>
          </p:nvSpPr>
          <p:spPr>
            <a:xfrm>
              <a:off x="916400" y="2057100"/>
              <a:ext cx="16323300" cy="762000"/>
            </a:xfrm>
            <a:prstGeom prst="roundRect">
              <a:avLst>
                <a:gd name="adj" fmla="val 16667"/>
              </a:avLst>
            </a:prstGeom>
            <a:solidFill>
              <a:srgbClr val="79CE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0" marR="0" lvl="0" indent="914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6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Definisi Neuroplastisitas</a:t>
              </a:r>
              <a:endParaRPr sz="26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67" name="Google Shape;267;p47"/>
            <p:cNvSpPr/>
            <p:nvPr/>
          </p:nvSpPr>
          <p:spPr>
            <a:xfrm>
              <a:off x="1124966" y="2207955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1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268" name="Google Shape;26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7"/>
          <p:cNvPicPr preferRelativeResize="0"/>
          <p:nvPr/>
        </p:nvPicPr>
        <p:blipFill rotWithShape="1">
          <a:blip r:embed="rId4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0" name="Google Shape;270;p47"/>
          <p:cNvGrpSpPr/>
          <p:nvPr/>
        </p:nvGrpSpPr>
        <p:grpSpPr>
          <a:xfrm>
            <a:off x="0" y="198074"/>
            <a:ext cx="1923749" cy="1495147"/>
            <a:chOff x="-151896" y="-128007"/>
            <a:chExt cx="1282499" cy="996765"/>
          </a:xfrm>
        </p:grpSpPr>
        <p:sp>
          <p:nvSpPr>
            <p:cNvPr id="271" name="Google Shape;271;p47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2" name="Google Shape;272;p47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273" name="Google Shape;273;p47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4" name="Google Shape;274;p47"/>
              <p:cNvPicPr preferRelativeResize="0"/>
              <p:nvPr/>
            </p:nvPicPr>
            <p:blipFill rotWithShape="1">
              <a:blip r:embed="rId6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275" name="Google Shape;275;p47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" name="Google Shape;276;p47"/>
          <p:cNvGrpSpPr/>
          <p:nvPr/>
        </p:nvGrpSpPr>
        <p:grpSpPr>
          <a:xfrm>
            <a:off x="916400" y="3589926"/>
            <a:ext cx="16323300" cy="762000"/>
            <a:chOff x="916400" y="2057100"/>
            <a:chExt cx="16323300" cy="762000"/>
          </a:xfrm>
        </p:grpSpPr>
        <p:sp>
          <p:nvSpPr>
            <p:cNvPr id="277" name="Google Shape;277;p47"/>
            <p:cNvSpPr/>
            <p:nvPr/>
          </p:nvSpPr>
          <p:spPr>
            <a:xfrm>
              <a:off x="916400" y="2057100"/>
              <a:ext cx="16323300" cy="762000"/>
            </a:xfrm>
            <a:prstGeom prst="roundRect">
              <a:avLst>
                <a:gd name="adj" fmla="val 16667"/>
              </a:avLst>
            </a:prstGeom>
            <a:solidFill>
              <a:srgbClr val="79CE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91440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4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Kompetensi 4C Menguatkan Pola Pikir Bertumbuh</a:t>
              </a:r>
              <a:endParaRPr sz="24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78" name="Google Shape;278;p47"/>
            <p:cNvSpPr/>
            <p:nvPr/>
          </p:nvSpPr>
          <p:spPr>
            <a:xfrm>
              <a:off x="1124966" y="2207955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3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79" name="Google Shape;279;p47"/>
          <p:cNvGrpSpPr/>
          <p:nvPr/>
        </p:nvGrpSpPr>
        <p:grpSpPr>
          <a:xfrm>
            <a:off x="916400" y="4479771"/>
            <a:ext cx="16323300" cy="838200"/>
            <a:chOff x="916400" y="2931298"/>
            <a:chExt cx="16323300" cy="838200"/>
          </a:xfrm>
        </p:grpSpPr>
        <p:sp>
          <p:nvSpPr>
            <p:cNvPr id="280" name="Google Shape;280;p47"/>
            <p:cNvSpPr/>
            <p:nvPr/>
          </p:nvSpPr>
          <p:spPr>
            <a:xfrm>
              <a:off x="916400" y="2931298"/>
              <a:ext cx="16323300" cy="838200"/>
            </a:xfrm>
            <a:prstGeom prst="roundRect">
              <a:avLst>
                <a:gd name="adj" fmla="val 16667"/>
              </a:avLst>
            </a:prstGeom>
            <a:solidFill>
              <a:srgbClr val="EEFB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0" marR="0" lvl="0" indent="914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6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Kreativitas dan Inovasi dalam Pola Pikir Bertumbuh</a:t>
              </a:r>
              <a:endParaRPr sz="26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81" name="Google Shape;281;p47"/>
            <p:cNvSpPr/>
            <p:nvPr/>
          </p:nvSpPr>
          <p:spPr>
            <a:xfrm>
              <a:off x="1124966" y="3090774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4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82" name="Google Shape;282;p47"/>
          <p:cNvGrpSpPr/>
          <p:nvPr/>
        </p:nvGrpSpPr>
        <p:grpSpPr>
          <a:xfrm>
            <a:off x="916400" y="5317976"/>
            <a:ext cx="16323300" cy="762000"/>
            <a:chOff x="916400" y="2057100"/>
            <a:chExt cx="16323300" cy="762000"/>
          </a:xfrm>
        </p:grpSpPr>
        <p:sp>
          <p:nvSpPr>
            <p:cNvPr id="283" name="Google Shape;283;p47"/>
            <p:cNvSpPr/>
            <p:nvPr/>
          </p:nvSpPr>
          <p:spPr>
            <a:xfrm>
              <a:off x="916400" y="2057100"/>
              <a:ext cx="16323300" cy="762000"/>
            </a:xfrm>
            <a:prstGeom prst="roundRect">
              <a:avLst>
                <a:gd name="adj" fmla="val 16667"/>
              </a:avLst>
            </a:prstGeom>
            <a:solidFill>
              <a:srgbClr val="79CE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0" marR="0" lvl="0" indent="914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6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Tantangan vs Ancaman</a:t>
              </a:r>
              <a:endParaRPr sz="26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84" name="Google Shape;284;p47"/>
            <p:cNvSpPr/>
            <p:nvPr/>
          </p:nvSpPr>
          <p:spPr>
            <a:xfrm>
              <a:off x="1124966" y="2207955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5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85" name="Google Shape;285;p47"/>
          <p:cNvGrpSpPr/>
          <p:nvPr/>
        </p:nvGrpSpPr>
        <p:grpSpPr>
          <a:xfrm>
            <a:off x="916400" y="6194271"/>
            <a:ext cx="16323300" cy="838200"/>
            <a:chOff x="916400" y="2931298"/>
            <a:chExt cx="16323300" cy="838200"/>
          </a:xfrm>
        </p:grpSpPr>
        <p:sp>
          <p:nvSpPr>
            <p:cNvPr id="286" name="Google Shape;286;p47"/>
            <p:cNvSpPr/>
            <p:nvPr/>
          </p:nvSpPr>
          <p:spPr>
            <a:xfrm>
              <a:off x="916400" y="2931298"/>
              <a:ext cx="16323300" cy="838200"/>
            </a:xfrm>
            <a:prstGeom prst="roundRect">
              <a:avLst>
                <a:gd name="adj" fmla="val 16667"/>
              </a:avLst>
            </a:prstGeom>
            <a:solidFill>
              <a:srgbClr val="EEFB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0" lvl="0" indent="9144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6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Kegagalan Produktif</a:t>
              </a:r>
              <a:endParaRPr sz="26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87" name="Google Shape;287;p47"/>
            <p:cNvSpPr/>
            <p:nvPr/>
          </p:nvSpPr>
          <p:spPr>
            <a:xfrm>
              <a:off x="1124966" y="3090774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6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88" name="Google Shape;288;p47"/>
          <p:cNvGrpSpPr/>
          <p:nvPr/>
        </p:nvGrpSpPr>
        <p:grpSpPr>
          <a:xfrm>
            <a:off x="916400" y="7046026"/>
            <a:ext cx="16323300" cy="762000"/>
            <a:chOff x="916400" y="2057100"/>
            <a:chExt cx="16323300" cy="762000"/>
          </a:xfrm>
        </p:grpSpPr>
        <p:sp>
          <p:nvSpPr>
            <p:cNvPr id="289" name="Google Shape;289;p47"/>
            <p:cNvSpPr/>
            <p:nvPr/>
          </p:nvSpPr>
          <p:spPr>
            <a:xfrm>
              <a:off x="916400" y="2057100"/>
              <a:ext cx="16323300" cy="762000"/>
            </a:xfrm>
            <a:prstGeom prst="roundRect">
              <a:avLst>
                <a:gd name="adj" fmla="val 16667"/>
              </a:avLst>
            </a:prstGeom>
            <a:solidFill>
              <a:srgbClr val="79CE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0" marR="0" lvl="0" indent="914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6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Merespons Kesalahan dengan Pola Pikir Bertumbuh</a:t>
              </a:r>
              <a:endParaRPr sz="26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90" name="Google Shape;290;p47"/>
            <p:cNvSpPr/>
            <p:nvPr/>
          </p:nvSpPr>
          <p:spPr>
            <a:xfrm>
              <a:off x="1124966" y="2207955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7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91" name="Google Shape;291;p47"/>
          <p:cNvGrpSpPr/>
          <p:nvPr/>
        </p:nvGrpSpPr>
        <p:grpSpPr>
          <a:xfrm>
            <a:off x="916400" y="7908771"/>
            <a:ext cx="16323300" cy="838200"/>
            <a:chOff x="916400" y="2931298"/>
            <a:chExt cx="16323300" cy="838200"/>
          </a:xfrm>
        </p:grpSpPr>
        <p:sp>
          <p:nvSpPr>
            <p:cNvPr id="292" name="Google Shape;292;p47"/>
            <p:cNvSpPr/>
            <p:nvPr/>
          </p:nvSpPr>
          <p:spPr>
            <a:xfrm>
              <a:off x="916400" y="2931298"/>
              <a:ext cx="16323300" cy="838200"/>
            </a:xfrm>
            <a:prstGeom prst="roundRect">
              <a:avLst>
                <a:gd name="adj" fmla="val 16667"/>
              </a:avLst>
            </a:prstGeom>
            <a:solidFill>
              <a:srgbClr val="EEFB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0" marR="0" lvl="0" indent="914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6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Pembelajaran Mendalam sebagai Manifestasi Pola Pikir Bertumbuh</a:t>
              </a:r>
              <a:endParaRPr sz="26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93" name="Google Shape;293;p47"/>
            <p:cNvSpPr/>
            <p:nvPr/>
          </p:nvSpPr>
          <p:spPr>
            <a:xfrm>
              <a:off x="1124966" y="3090774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8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94" name="Google Shape;294;p47"/>
          <p:cNvGrpSpPr/>
          <p:nvPr/>
        </p:nvGrpSpPr>
        <p:grpSpPr>
          <a:xfrm>
            <a:off x="916400" y="8847726"/>
            <a:ext cx="16323300" cy="762000"/>
            <a:chOff x="916400" y="2057100"/>
            <a:chExt cx="16323300" cy="762000"/>
          </a:xfrm>
        </p:grpSpPr>
        <p:sp>
          <p:nvSpPr>
            <p:cNvPr id="295" name="Google Shape;295;p47"/>
            <p:cNvSpPr/>
            <p:nvPr/>
          </p:nvSpPr>
          <p:spPr>
            <a:xfrm>
              <a:off x="916400" y="2057100"/>
              <a:ext cx="16323300" cy="762000"/>
            </a:xfrm>
            <a:prstGeom prst="roundRect">
              <a:avLst>
                <a:gd name="adj" fmla="val 16667"/>
              </a:avLst>
            </a:prstGeom>
            <a:solidFill>
              <a:srgbClr val="79CEFF"/>
            </a:solidFill>
            <a:ln>
              <a:noFill/>
            </a:ln>
          </p:spPr>
          <p:txBody>
            <a:bodyPr spcFirstLastPara="1" wrap="square" lIns="182850" tIns="91400" rIns="182850" bIns="91400" anchor="ctr" anchorCtr="0">
              <a:noAutofit/>
            </a:bodyPr>
            <a:lstStyle/>
            <a:p>
              <a:pPr marL="0" marR="0" lvl="0" indent="9144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Arial"/>
                <a:buNone/>
              </a:pPr>
              <a:r>
                <a:rPr lang="en-US" sz="2600" b="1">
                  <a:solidFill>
                    <a:srgbClr val="002060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Refleksi: Apa yang Bisa Saya Ubah dalam Cara Saya Melihat Potensi?</a:t>
              </a:r>
              <a:endParaRPr sz="2600" b="1" i="0" u="none" strike="noStrike" cap="none">
                <a:solidFill>
                  <a:srgbClr val="002060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96" name="Google Shape;296;p47"/>
            <p:cNvSpPr/>
            <p:nvPr/>
          </p:nvSpPr>
          <p:spPr>
            <a:xfrm>
              <a:off x="1124966" y="2207955"/>
              <a:ext cx="525000" cy="516600"/>
            </a:xfrm>
            <a:prstGeom prst="ellipse">
              <a:avLst/>
            </a:prstGeom>
            <a:solidFill>
              <a:srgbClr val="002060"/>
            </a:solidFill>
            <a:ln w="19050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0800" dist="38100" dir="2700000" algn="tl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lang="en-US" sz="2800" b="1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9</a:t>
              </a:r>
              <a:endParaRPr sz="2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/>
        </p:nvSpPr>
        <p:spPr>
          <a:xfrm>
            <a:off x="1803000" y="218350"/>
            <a:ext cx="13095300" cy="11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33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Definisi Neuroplastisitas</a:t>
            </a:r>
            <a:endParaRPr sz="33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02" name="Google Shape;302;p48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303" name="Google Shape;303;p48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4" name="Google Shape;304;p48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305" name="Google Shape;305;p48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6" name="Google Shape;306;p48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07" name="Google Shape;307;p4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08" name="Google Shape;308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8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8"/>
          <p:cNvSpPr/>
          <p:nvPr/>
        </p:nvSpPr>
        <p:spPr>
          <a:xfrm>
            <a:off x="378375" y="1895550"/>
            <a:ext cx="9837600" cy="82023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Proxima Nova"/>
                <a:ea typeface="Proxima Nova"/>
                <a:cs typeface="Proxima Nova"/>
                <a:sym typeface="Proxima Nova"/>
              </a:rPr>
              <a:t>Neuroplastisitas </a:t>
            </a: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adalah </a:t>
            </a:r>
            <a:r>
              <a:rPr lang="en-US" sz="2400" i="1">
                <a:latin typeface="Proxima Nova"/>
                <a:ea typeface="Proxima Nova"/>
                <a:cs typeface="Proxima Nova"/>
                <a:sym typeface="Proxima Nova"/>
              </a:rPr>
              <a:t>kemampuan sistem saraf manusia untuk mengubah struktur dan fungsinya sebagai respons terhadap pengalaman, pembelajaran, latihan, dan pemikiran (Doidge, 2007).</a:t>
            </a:r>
            <a:endParaRPr sz="2400" i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i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Proxima Nova"/>
                <a:ea typeface="Proxima Nova"/>
                <a:cs typeface="Proxima Nova"/>
                <a:sym typeface="Proxima Nova"/>
              </a:rPr>
              <a:t>Cara Kerja:</a:t>
            </a:r>
            <a:endParaRPr sz="24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Otak terdiri dari milyaran neuron.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Saat kita belajar atau berpikir, sinyal listrik berpindah antar-neuron membentuk koneksi yang disebut sinapsis.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Semakin sering koneksi digunakan, semakin kuat; yang tidak digunakan akan melemah (disebut synaptic pruning).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Proxima Nova"/>
                <a:ea typeface="Proxima Nova"/>
                <a:cs typeface="Proxima Nova"/>
                <a:sym typeface="Proxima Nova"/>
              </a:rPr>
              <a:t>Implikasi dalam Pendidikan:</a:t>
            </a:r>
            <a:endParaRPr sz="24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Otak murid juga bisa berkembang bila terus diberikan latihan, sehingga pemahaman dan kreativitas semakin tajam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Usaha dan strategi pembelajaran dapat membentuk dan memperkuat koneksi otak.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Pemahaman ini memperkuat dasar biologis pola pikir bertumbuh (growth mindset).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11" name="Google Shape;311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215975" y="2902575"/>
            <a:ext cx="8072025" cy="4635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9"/>
          <p:cNvSpPr/>
          <p:nvPr/>
        </p:nvSpPr>
        <p:spPr>
          <a:xfrm>
            <a:off x="6024550" y="2180450"/>
            <a:ext cx="11503800" cy="3109200"/>
          </a:xfrm>
          <a:prstGeom prst="roundRect">
            <a:avLst>
              <a:gd name="adj" fmla="val 5622"/>
            </a:avLst>
          </a:prstGeom>
          <a:solidFill>
            <a:srgbClr val="DAECFF">
              <a:alpha val="49800"/>
            </a:srgbClr>
          </a:solidFill>
          <a:ln w="9525" cap="flat" cmpd="sng">
            <a:solidFill>
              <a:srgbClr val="0B5F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177800" marR="2540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600">
                <a:latin typeface="Plus Jakarta Sans"/>
                <a:ea typeface="Plus Jakarta Sans"/>
                <a:cs typeface="Plus Jakarta Sans"/>
                <a:sym typeface="Plus Jakarta Sans"/>
              </a:rPr>
              <a:t>Merupakan gabungan dari pola pikir tetap dan </a:t>
            </a:r>
            <a:r>
              <a:rPr lang="en-US" sz="2600" i="1">
                <a:latin typeface="Plus Jakarta Sans"/>
                <a:ea typeface="Plus Jakarta Sans"/>
                <a:cs typeface="Plus Jakarta Sans"/>
                <a:sym typeface="Plus Jakarta Sans"/>
              </a:rPr>
              <a:t>Cognitive Behavioral Trap</a:t>
            </a:r>
            <a:r>
              <a:rPr lang="en-US" sz="2600">
                <a:latin typeface="Plus Jakarta Sans"/>
                <a:ea typeface="Plus Jakarta Sans"/>
                <a:cs typeface="Plus Jakarta Sans"/>
                <a:sym typeface="Plus Jakarta Sans"/>
              </a:rPr>
              <a:t>. TTM muncul dari keyakinan bahwa kemampuan adalah bawaan atau takdir, sehingga cenderung menghindar dari tantangan. Otak akan memilih zona aman dan menolak proses belajar yang menantang, menghambat neuroplastisitas dan pertumbuhan.</a:t>
            </a:r>
            <a:endParaRPr sz="2600" b="0" i="0" u="none" strike="noStrike" cap="none">
              <a:solidFill>
                <a:srgbClr val="000000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7" name="Google Shape;317;p49"/>
          <p:cNvSpPr/>
          <p:nvPr/>
        </p:nvSpPr>
        <p:spPr>
          <a:xfrm>
            <a:off x="842100" y="2180500"/>
            <a:ext cx="4959600" cy="3109200"/>
          </a:xfrm>
          <a:prstGeom prst="roundRect">
            <a:avLst>
              <a:gd name="adj" fmla="val 11201"/>
            </a:avLst>
          </a:prstGeom>
          <a:solidFill>
            <a:srgbClr val="0B5FED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723900" marR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Talent, Takdir, Menghindar’ (TTM)</a:t>
            </a:r>
            <a:endParaRPr sz="30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18" name="Google Shape;31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150" y="2971700"/>
            <a:ext cx="1397450" cy="1397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9"/>
          <p:cNvSpPr/>
          <p:nvPr/>
        </p:nvSpPr>
        <p:spPr>
          <a:xfrm>
            <a:off x="6024550" y="5647650"/>
            <a:ext cx="11503800" cy="3109200"/>
          </a:xfrm>
          <a:prstGeom prst="roundRect">
            <a:avLst>
              <a:gd name="adj" fmla="val 5622"/>
            </a:avLst>
          </a:prstGeom>
          <a:solidFill>
            <a:srgbClr val="DAECFF">
              <a:alpha val="49800"/>
            </a:srgbClr>
          </a:solidFill>
          <a:ln w="9525" cap="flat" cmpd="sng">
            <a:solidFill>
              <a:srgbClr val="0B5F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177800" marR="2540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Menggabungkan pola pikir bertumbuh dan </a:t>
            </a:r>
            <a:r>
              <a:rPr lang="en-US" sz="2600" i="1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Opportunity-Based Thinking</a:t>
            </a:r>
            <a:r>
              <a:rPr lang="en-US" sz="2600">
                <a:solidFill>
                  <a:schemeClr val="dk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Seseorang dengan BUM percaya kemampuan bisa dikembangkan melalui usaha dan penerimaan terhadap tantangan. Otak akan memicu sistem penghargaan saat berhasil melewati kesulitan, memperkuat motivasi dan ketangguhan.</a:t>
            </a:r>
            <a:endParaRPr sz="2000"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0" name="Google Shape;320;p49"/>
          <p:cNvSpPr/>
          <p:nvPr/>
        </p:nvSpPr>
        <p:spPr>
          <a:xfrm>
            <a:off x="842100" y="5647700"/>
            <a:ext cx="4959600" cy="3109200"/>
          </a:xfrm>
          <a:prstGeom prst="roundRect">
            <a:avLst>
              <a:gd name="adj" fmla="val 11201"/>
            </a:avLst>
          </a:prstGeom>
          <a:solidFill>
            <a:srgbClr val="0B5FED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723900" marR="381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Belajar Usaha Menerima’ (BUM)</a:t>
            </a:r>
            <a:endParaRPr sz="30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21" name="Google Shape;321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150" y="6438900"/>
            <a:ext cx="1397450" cy="1397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9"/>
          <p:cNvSpPr txBox="1"/>
          <p:nvPr/>
        </p:nvSpPr>
        <p:spPr>
          <a:xfrm>
            <a:off x="1803000" y="218350"/>
            <a:ext cx="131901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35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Prinsip Dasar ‘Talent, Takdir, Menghindar’ (TTM) versus ‘Belajar Usaha Menerima’ (BUM).</a:t>
            </a:r>
            <a:endParaRPr sz="35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23" name="Google Shape;323;p49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324" name="Google Shape;324;p49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5" name="Google Shape;325;p49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326" name="Google Shape;326;p49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7" name="Google Shape;327;p49"/>
              <p:cNvPicPr preferRelativeResize="0"/>
              <p:nvPr/>
            </p:nvPicPr>
            <p:blipFill rotWithShape="1">
              <a:blip r:embed="rId5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28" name="Google Shape;328;p4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29" name="Google Shape;329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 rotWithShape="1">
          <a:blip r:embed="rId8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0"/>
          <p:cNvSpPr txBox="1"/>
          <p:nvPr/>
        </p:nvSpPr>
        <p:spPr>
          <a:xfrm>
            <a:off x="1803000" y="218350"/>
            <a:ext cx="11968800" cy="97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 fontScale="925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42105"/>
              <a:buFont typeface="Open Sans ExtraBold"/>
              <a:buNone/>
            </a:pPr>
            <a:r>
              <a:rPr lang="en-US" sz="38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Kompetensi 4C Menguatkan Pola Pikir Bertumbuh</a:t>
            </a:r>
            <a:endParaRPr sz="38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36" name="Google Shape;336;p50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337" name="Google Shape;337;p50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8" name="Google Shape;338;p50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339" name="Google Shape;339;p5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0" name="Google Shape;340;p50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41" name="Google Shape;341;p5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42" name="Google Shape;342;p5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50"/>
          <p:cNvSpPr/>
          <p:nvPr/>
        </p:nvSpPr>
        <p:spPr>
          <a:xfrm>
            <a:off x="679900" y="2000925"/>
            <a:ext cx="7452900" cy="8976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Apa itu 4C?</a:t>
            </a:r>
            <a:endParaRPr sz="30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5" name="Google Shape;345;p50"/>
          <p:cNvSpPr/>
          <p:nvPr/>
        </p:nvSpPr>
        <p:spPr>
          <a:xfrm>
            <a:off x="679900" y="3358625"/>
            <a:ext cx="7452900" cy="65061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Empat keterampilan abad ke-21 yang penting bagi murid untuk menjadi pribadi adaptif dan reflektif: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●"/>
            </a:pP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Creativity (Kreativitas)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●"/>
            </a:pP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Critical Thinking (Berpikir Kritis)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●"/>
            </a:pP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Communication (Komunikasi)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Char char="●"/>
            </a:pPr>
            <a:r>
              <a:rPr lang="en-US" sz="2800">
                <a:latin typeface="Open Sans"/>
                <a:ea typeface="Open Sans"/>
                <a:cs typeface="Open Sans"/>
                <a:sym typeface="Open Sans"/>
              </a:rPr>
              <a:t>Collaboration (Kolaborasi)</a:t>
            </a:r>
            <a:endParaRPr sz="2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50"/>
          <p:cNvSpPr txBox="1"/>
          <p:nvPr/>
        </p:nvSpPr>
        <p:spPr>
          <a:xfrm>
            <a:off x="9616800" y="7962325"/>
            <a:ext cx="4566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0"/>
          <p:cNvSpPr/>
          <p:nvPr/>
        </p:nvSpPr>
        <p:spPr>
          <a:xfrm>
            <a:off x="9057300" y="2000925"/>
            <a:ext cx="8702700" cy="897600"/>
          </a:xfrm>
          <a:prstGeom prst="roundRect">
            <a:avLst>
              <a:gd name="adj" fmla="val 16667"/>
            </a:avLst>
          </a:prstGeom>
          <a:solidFill>
            <a:srgbClr val="0B5394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30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Peran 4C dalam Pola Pikir Bertumbuh</a:t>
            </a:r>
            <a:endParaRPr sz="3000" b="1" i="0" u="none" strike="noStrike" cap="non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p50"/>
          <p:cNvSpPr/>
          <p:nvPr/>
        </p:nvSpPr>
        <p:spPr>
          <a:xfrm>
            <a:off x="9057300" y="3358625"/>
            <a:ext cx="8702700" cy="65061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457200" lvl="0" indent="-3683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200"/>
              <a:buFont typeface="Open Sans"/>
              <a:buChar char="●"/>
            </a:pPr>
            <a:r>
              <a:rPr lang="en-US" sz="2200" b="1">
                <a:latin typeface="Open Sans"/>
                <a:ea typeface="Open Sans"/>
                <a:cs typeface="Open Sans"/>
                <a:sym typeface="Open Sans"/>
              </a:rPr>
              <a:t>Creativity: </a:t>
            </a:r>
            <a:r>
              <a:rPr lang="en-US" sz="2200">
                <a:latin typeface="Open Sans"/>
                <a:ea typeface="Open Sans"/>
                <a:cs typeface="Open Sans"/>
                <a:sym typeface="Open Sans"/>
              </a:rPr>
              <a:t>Murid berani mencoba hal baru dan tidak takut gagal. Contoh: Ibu Ara memberi kebebasan murid memilih cara menyelesaikan tugas.</a:t>
            </a:r>
            <a:endParaRPr sz="22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683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200"/>
              <a:buFont typeface="Open Sans"/>
              <a:buChar char="●"/>
            </a:pPr>
            <a:r>
              <a:rPr lang="en-US" sz="2200" b="1">
                <a:latin typeface="Open Sans"/>
                <a:ea typeface="Open Sans"/>
                <a:cs typeface="Open Sans"/>
                <a:sym typeface="Open Sans"/>
              </a:rPr>
              <a:t>Critical Thinking: </a:t>
            </a:r>
            <a:r>
              <a:rPr lang="en-US" sz="2200">
                <a:latin typeface="Open Sans"/>
                <a:ea typeface="Open Sans"/>
                <a:cs typeface="Open Sans"/>
                <a:sym typeface="Open Sans"/>
              </a:rPr>
              <a:t>Murid tidak takut bingung, justru menjadikan kebingungan sebagai awal belajar. Contoh: Pak Setyo membimbing murid menggali informasi dari kebingungan.</a:t>
            </a:r>
            <a:endParaRPr sz="22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683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200"/>
              <a:buFont typeface="Open Sans"/>
              <a:buChar char="●"/>
            </a:pPr>
            <a:r>
              <a:rPr lang="en-US" sz="2200" b="1">
                <a:latin typeface="Open Sans"/>
                <a:ea typeface="Open Sans"/>
                <a:cs typeface="Open Sans"/>
                <a:sym typeface="Open Sans"/>
              </a:rPr>
              <a:t>Communication: </a:t>
            </a:r>
            <a:r>
              <a:rPr lang="en-US" sz="2200">
                <a:latin typeface="Open Sans"/>
                <a:ea typeface="Open Sans"/>
                <a:cs typeface="Open Sans"/>
                <a:sym typeface="Open Sans"/>
              </a:rPr>
              <a:t>Murid aktif berbagi, mendengarkan, dan terbuka terhadap umpan balik. Contoh: Dora menyampaikan pendapat tanpa takut salah.</a:t>
            </a:r>
            <a:endParaRPr sz="2200"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683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200"/>
              <a:buFont typeface="Open Sans"/>
              <a:buChar char="●"/>
            </a:pPr>
            <a:r>
              <a:rPr lang="en-US" sz="2200" b="1">
                <a:latin typeface="Open Sans"/>
                <a:ea typeface="Open Sans"/>
                <a:cs typeface="Open Sans"/>
                <a:sym typeface="Open Sans"/>
              </a:rPr>
              <a:t>Collaboration: </a:t>
            </a:r>
            <a:r>
              <a:rPr lang="en-US" sz="2200">
                <a:latin typeface="Open Sans"/>
                <a:ea typeface="Open Sans"/>
                <a:cs typeface="Open Sans"/>
                <a:sym typeface="Open Sans"/>
              </a:rPr>
              <a:t>Murid saling mendukung dalam kelompok dan percaya pada proses belajar bersama. Contoh: Devon dan timnya saling menyemangati walau ada yang kesulitan. </a:t>
            </a:r>
            <a:endParaRPr sz="2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1"/>
          <p:cNvSpPr txBox="1"/>
          <p:nvPr/>
        </p:nvSpPr>
        <p:spPr>
          <a:xfrm>
            <a:off x="1803000" y="218350"/>
            <a:ext cx="129987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40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Kreativitas dan Inovasi dalam Pola Pikir Bertumbuh</a:t>
            </a:r>
            <a:endParaRPr sz="4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54" name="Google Shape;354;p51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355" name="Google Shape;355;p51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6" name="Google Shape;356;p51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357" name="Google Shape;357;p5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58" name="Google Shape;358;p51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59" name="Google Shape;359;p5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60" name="Google Shape;360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51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51"/>
          <p:cNvSpPr/>
          <p:nvPr/>
        </p:nvSpPr>
        <p:spPr>
          <a:xfrm>
            <a:off x="378375" y="1895550"/>
            <a:ext cx="17452500" cy="74454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 b="1">
                <a:solidFill>
                  <a:srgbClr val="FFD966"/>
                </a:solidFill>
                <a:highlight>
                  <a:srgbClr val="263474"/>
                </a:highlight>
                <a:latin typeface="Proxima Nova"/>
                <a:ea typeface="Proxima Nova"/>
                <a:cs typeface="Proxima Nova"/>
                <a:sym typeface="Proxima Nova"/>
              </a:rPr>
              <a:t>Mengapa Kreativitas dan Inovasi Penting di Abad 21</a:t>
            </a:r>
            <a:endParaRPr sz="3300" b="1">
              <a:solidFill>
                <a:srgbClr val="FFD966"/>
              </a:solidFill>
              <a:highlight>
                <a:srgbClr val="263474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Char char="●"/>
            </a:pPr>
            <a:r>
              <a:rPr lang="en-US" sz="3000">
                <a:latin typeface="Proxima Nova"/>
                <a:ea typeface="Proxima Nova"/>
                <a:cs typeface="Proxima Nova"/>
                <a:sym typeface="Proxima Nova"/>
              </a:rPr>
              <a:t>Guru tidak hanya mentransfer pengetahuan, tetapi juga memfasilitasi keterampilan berpikir tingkat tinggi.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Char char="●"/>
            </a:pPr>
            <a:r>
              <a:rPr lang="en-US" sz="3000">
                <a:latin typeface="Proxima Nova"/>
                <a:ea typeface="Proxima Nova"/>
                <a:cs typeface="Proxima Nova"/>
                <a:sym typeface="Proxima Nova"/>
              </a:rPr>
              <a:t>Dua keterampilan utama: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Char char="○"/>
            </a:pPr>
            <a:r>
              <a:rPr lang="en-US" sz="3000">
                <a:latin typeface="Proxima Nova"/>
                <a:ea typeface="Proxima Nova"/>
                <a:cs typeface="Proxima Nova"/>
                <a:sym typeface="Proxima Nova"/>
              </a:rPr>
              <a:t>Kreativitas = menghasilkan ide baru 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914400" lvl="1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Char char="○"/>
            </a:pPr>
            <a:r>
              <a:rPr lang="en-US" sz="3000">
                <a:latin typeface="Proxima Nova"/>
                <a:ea typeface="Proxima Nova"/>
                <a:cs typeface="Proxima Nova"/>
                <a:sym typeface="Proxima Nova"/>
              </a:rPr>
              <a:t>Inovasi = menerapkan ide kreatif untuk solusi dari permasalahan atau kasus tertentu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 b="1">
                <a:solidFill>
                  <a:srgbClr val="FFE599"/>
                </a:solidFill>
                <a:highlight>
                  <a:srgbClr val="263474"/>
                </a:highlight>
                <a:latin typeface="Proxima Nova"/>
                <a:ea typeface="Proxima Nova"/>
                <a:cs typeface="Proxima Nova"/>
                <a:sym typeface="Proxima Nova"/>
              </a:rPr>
              <a:t>Kunci Penting</a:t>
            </a:r>
            <a:endParaRPr sz="3300" b="1">
              <a:solidFill>
                <a:srgbClr val="FFE599"/>
              </a:solidFill>
              <a:highlight>
                <a:srgbClr val="263474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Char char="●"/>
            </a:pPr>
            <a:r>
              <a:rPr lang="en-US" sz="3000">
                <a:latin typeface="Proxima Nova"/>
                <a:ea typeface="Proxima Nova"/>
                <a:cs typeface="Proxima Nova"/>
                <a:sym typeface="Proxima Nova"/>
              </a:rPr>
              <a:t>Kreativitas dan inovasi adalah keterampilan yang bisa dimunculkan dengan banyak eksposure dan latihan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Char char="●"/>
            </a:pPr>
            <a:r>
              <a:rPr lang="en-US" sz="3000">
                <a:latin typeface="Proxima Nova"/>
                <a:ea typeface="Proxima Nova"/>
                <a:cs typeface="Proxima Nova"/>
                <a:sym typeface="Proxima Nova"/>
              </a:rPr>
              <a:t>Keduanya bisa dikembangkan melalui pola pikir bertumbuh.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2"/>
          <p:cNvSpPr txBox="1"/>
          <p:nvPr/>
        </p:nvSpPr>
        <p:spPr>
          <a:xfrm>
            <a:off x="1803000" y="45625"/>
            <a:ext cx="12998700" cy="14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40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Tantangan vs Ancaman</a:t>
            </a:r>
            <a:endParaRPr sz="4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68" name="Google Shape;368;p52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369" name="Google Shape;369;p52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0" name="Google Shape;370;p52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371" name="Google Shape;371;p52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72" name="Google Shape;372;p52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73" name="Google Shape;373;p5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74" name="Google Shape;374;p5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52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6" name="Google Shape;376;p52"/>
          <p:cNvGraphicFramePr/>
          <p:nvPr/>
        </p:nvGraphicFramePr>
        <p:xfrm>
          <a:off x="880725" y="2846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{A127DB20-A7FA-484C-B700-B66CA55BC51A}</a:tableStyleId>
              </a:tblPr>
              <a:tblGrid>
                <a:gridCol w="856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8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Pola Pikir Bertumbuh</a:t>
                      </a:r>
                      <a:endParaRPr sz="25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5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Pola Pikir Tetap</a:t>
                      </a:r>
                      <a:endParaRPr sz="2500" b="1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4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8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Melihat tantangan sebagai peluang berinovasi</a:t>
                      </a:r>
                      <a:endParaRPr sz="25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Melihat tantangan sebagai ancaman</a:t>
                      </a:r>
                      <a:endParaRPr sz="25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8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Mau mencoba strategi baru</a:t>
                      </a:r>
                      <a:endParaRPr sz="25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Enggan keluar dari zona nyaman</a:t>
                      </a:r>
                      <a:endParaRPr sz="25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6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Fokus pada solusi dan strategi</a:t>
                      </a:r>
                      <a:endParaRPr sz="25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Fokus pada kelemahan dan kegagalan</a:t>
                      </a:r>
                      <a:endParaRPr sz="25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3"/>
          <p:cNvSpPr txBox="1"/>
          <p:nvPr/>
        </p:nvSpPr>
        <p:spPr>
          <a:xfrm>
            <a:off x="1803000" y="218350"/>
            <a:ext cx="12998700" cy="8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40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Kegagalan Produktif</a:t>
            </a:r>
            <a:endParaRPr sz="4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82" name="Google Shape;382;p53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383" name="Google Shape;383;p53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84" name="Google Shape;384;p53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385" name="Google Shape;385;p53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6" name="Google Shape;386;p53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87" name="Google Shape;387;p5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88" name="Google Shape;388;p5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53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53"/>
          <p:cNvSpPr/>
          <p:nvPr/>
        </p:nvSpPr>
        <p:spPr>
          <a:xfrm>
            <a:off x="378375" y="1655375"/>
            <a:ext cx="17357700" cy="79695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i="1">
                <a:latin typeface="Proxima Nova"/>
                <a:ea typeface="Proxima Nova"/>
                <a:cs typeface="Proxima Nova"/>
                <a:sym typeface="Proxima Nova"/>
              </a:rPr>
              <a:t>“Gagal bukan berarti bodoh, tapi belum berhasil.”</a:t>
            </a:r>
            <a:endParaRPr sz="3100" b="1" i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 b="1">
                <a:latin typeface="Proxima Nova"/>
                <a:ea typeface="Proxima Nova"/>
                <a:cs typeface="Proxima Nova"/>
                <a:sym typeface="Proxima Nova"/>
              </a:rPr>
              <a:t>Contoh: Guru mencoba PJBL, hasilnya buruk.</a:t>
            </a:r>
            <a:endParaRPr sz="31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Font typeface="Proxima Nova"/>
              <a:buChar char="●"/>
            </a:pPr>
            <a:r>
              <a:rPr lang="en-US" sz="3100">
                <a:latin typeface="Proxima Nova"/>
                <a:ea typeface="Proxima Nova"/>
                <a:cs typeface="Proxima Nova"/>
                <a:sym typeface="Proxima Nova"/>
              </a:rPr>
              <a:t>Pola pikir tetap: “Metode ini tidak cocok, kembali ke ceramah.”</a:t>
            </a: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Font typeface="Proxima Nova"/>
              <a:buChar char="●"/>
            </a:pPr>
            <a:r>
              <a:rPr lang="en-US" sz="3100">
                <a:latin typeface="Proxima Nova"/>
                <a:ea typeface="Proxima Nova"/>
                <a:cs typeface="Proxima Nova"/>
                <a:sym typeface="Proxima Nova"/>
              </a:rPr>
              <a:t>Pola pikir bertumbuh: “Apa yang bisa diperbaiki? Mungkin kita membutuhkan rubrik? mengganti jenjang waktu? mengganti arahan?”</a:t>
            </a: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 b="1">
                <a:latin typeface="Proxima Nova"/>
                <a:ea typeface="Proxima Nova"/>
                <a:cs typeface="Proxima Nova"/>
                <a:sym typeface="Proxima Nova"/>
              </a:rPr>
              <a:t>Grit dalam Inovasi: Guru perlu menumbuhkan kesadaran bahwa</a:t>
            </a:r>
            <a:endParaRPr sz="31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Font typeface="Proxima Nova"/>
              <a:buChar char="●"/>
            </a:pPr>
            <a:r>
              <a:rPr lang="en-US" sz="3100">
                <a:latin typeface="Proxima Nova"/>
                <a:ea typeface="Proxima Nova"/>
                <a:cs typeface="Proxima Nova"/>
                <a:sym typeface="Proxima Nova"/>
              </a:rPr>
              <a:t>Inovasi membutuhkan waktu, energi, dan ketekunan.</a:t>
            </a: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Font typeface="Proxima Nova"/>
              <a:buChar char="●"/>
            </a:pPr>
            <a:r>
              <a:rPr lang="en-US" sz="3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Inovasi membutuhkan l</a:t>
            </a:r>
            <a:r>
              <a:rPr lang="en-US" sz="3100">
                <a:latin typeface="Proxima Nova"/>
                <a:ea typeface="Proxima Nova"/>
                <a:cs typeface="Proxima Nova"/>
                <a:sym typeface="Proxima Nova"/>
              </a:rPr>
              <a:t>ingkungan yang Mendukung</a:t>
            </a: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Font typeface="Proxima Nova"/>
              <a:buChar char="●"/>
            </a:pPr>
            <a:r>
              <a:rPr lang="en-US" sz="3100">
                <a:latin typeface="Proxima Nova"/>
                <a:ea typeface="Proxima Nova"/>
                <a:cs typeface="Proxima Nova"/>
                <a:sym typeface="Proxima Nova"/>
              </a:rPr>
              <a:t>Tidak menghukum bila terjadi kesalahan</a:t>
            </a: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25450" algn="l" rtl="0">
              <a:spcBef>
                <a:spcPts val="0"/>
              </a:spcBef>
              <a:spcAft>
                <a:spcPts val="0"/>
              </a:spcAft>
              <a:buSzPts val="3100"/>
              <a:buFont typeface="Proxima Nova"/>
              <a:buChar char="●"/>
            </a:pPr>
            <a:r>
              <a:rPr lang="en-US" sz="3100">
                <a:latin typeface="Proxima Nova"/>
                <a:ea typeface="Proxima Nova"/>
                <a:cs typeface="Proxima Nova"/>
                <a:sym typeface="Proxima Nova"/>
              </a:rPr>
              <a:t>Mendorong eksplorasi dan pengambilan risiko</a:t>
            </a: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>
                <a:latin typeface="Proxima Nova"/>
                <a:ea typeface="Proxima Nova"/>
                <a:cs typeface="Proxima Nova"/>
                <a:sym typeface="Proxima Nova"/>
              </a:rPr>
              <a:t>Productive Failure = </a:t>
            </a:r>
            <a:r>
              <a:rPr lang="en-US" sz="3100">
                <a:latin typeface="Proxima Nova"/>
                <a:ea typeface="Proxima Nova"/>
                <a:cs typeface="Proxima Nova"/>
                <a:sym typeface="Proxima Nova"/>
              </a:rPr>
              <a:t>Kegagalan yang memberikan makna dan memberikan pelajaran untuk tumbuh dan perbaikan</a:t>
            </a:r>
            <a:endParaRPr sz="31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4"/>
          <p:cNvSpPr txBox="1"/>
          <p:nvPr/>
        </p:nvSpPr>
        <p:spPr>
          <a:xfrm>
            <a:off x="1803000" y="218350"/>
            <a:ext cx="129987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40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Merespons Kesalahan dengan Pola Pikir Bertumbuh</a:t>
            </a:r>
            <a:endParaRPr sz="40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96" name="Google Shape;396;p54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397" name="Google Shape;397;p54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8" name="Google Shape;398;p54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399" name="Google Shape;399;p54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00" name="Google Shape;400;p54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01" name="Google Shape;401;p54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02" name="Google Shape;402;p5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54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4"/>
          <p:cNvSpPr/>
          <p:nvPr/>
        </p:nvSpPr>
        <p:spPr>
          <a:xfrm>
            <a:off x="378375" y="2317525"/>
            <a:ext cx="17357700" cy="73074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latin typeface="Proxima Nova"/>
                <a:ea typeface="Proxima Nova"/>
                <a:cs typeface="Proxima Nova"/>
                <a:sym typeface="Proxima Nova"/>
              </a:rPr>
              <a:t>Merespons Kesalahan dengan Pola Pikir Bertumbuh</a:t>
            </a:r>
            <a:endParaRPr sz="30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Char char="●"/>
            </a:pPr>
            <a:r>
              <a:rPr lang="en-US" sz="3000">
                <a:latin typeface="Proxima Nova"/>
                <a:ea typeface="Proxima Nova"/>
                <a:cs typeface="Proxima Nova"/>
                <a:sym typeface="Proxima Nova"/>
              </a:rPr>
              <a:t>Berdamai dengan Kesalahan: Gunakan bahasa yang mendukung kesalahan sebagai bagian proses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Char char="●"/>
            </a:pPr>
            <a:r>
              <a:rPr lang="en-US" sz="3000">
                <a:latin typeface="Proxima Nova"/>
                <a:ea typeface="Proxima Nova"/>
                <a:cs typeface="Proxima Nova"/>
                <a:sym typeface="Proxima Nova"/>
              </a:rPr>
              <a:t>Kesalahan = Peluang Belajar: Ajak diskusi terbuka, bukan hukuman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19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Char char="●"/>
            </a:pPr>
            <a:r>
              <a:rPr lang="en-US" sz="3000">
                <a:latin typeface="Proxima Nova"/>
                <a:ea typeface="Proxima Nova"/>
                <a:cs typeface="Proxima Nova"/>
                <a:sym typeface="Proxima Nova"/>
              </a:rPr>
              <a:t>Tuntun Murid Lewati Kemunduran (Setback): Bantu murid menyelesaikan masalahnya sendiri dengan refleksi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5"/>
          <p:cNvSpPr txBox="1"/>
          <p:nvPr/>
        </p:nvSpPr>
        <p:spPr>
          <a:xfrm>
            <a:off x="1803000" y="218350"/>
            <a:ext cx="129987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35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Pembelajaran Mendalam sebagai Manifestasi Pola Pikir Bertumbuh</a:t>
            </a:r>
            <a:endParaRPr sz="35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10" name="Google Shape;410;p55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411" name="Google Shape;411;p55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2" name="Google Shape;412;p55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413" name="Google Shape;413;p5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14" name="Google Shape;414;p55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15" name="Google Shape;415;p5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16" name="Google Shape;416;p5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55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55"/>
          <p:cNvSpPr/>
          <p:nvPr/>
        </p:nvSpPr>
        <p:spPr>
          <a:xfrm>
            <a:off x="402025" y="1915500"/>
            <a:ext cx="8040300" cy="60540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Pembelajaran mendalam terjadi ketika murid aktif menghubungkan ide, berpikir kritis, dan memahami makna dari pembelajaran, bukan sekadar menghafal.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Proxima Nova"/>
                <a:ea typeface="Proxima Nova"/>
                <a:cs typeface="Proxima Nova"/>
                <a:sym typeface="Proxima Nova"/>
              </a:rPr>
              <a:t>Ciri-ciri Pembelajaran Mendalam</a:t>
            </a:r>
            <a:endParaRPr sz="24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Mengaktifkan pengetahuan awal murid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Mendorong elaborasi ide &amp; koneksi lintas topik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Menumbuhkan metakognisi (murid sadar akan cara berpikir &amp; belajarnya)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Menekankan transfer pengetahuan ke situasi baru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9" name="Google Shape;419;p55"/>
          <p:cNvSpPr/>
          <p:nvPr/>
        </p:nvSpPr>
        <p:spPr>
          <a:xfrm>
            <a:off x="8773525" y="1915500"/>
            <a:ext cx="8902200" cy="60540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Proxima Nova"/>
                <a:ea typeface="Proxima Nova"/>
                <a:cs typeface="Proxima Nova"/>
                <a:sym typeface="Proxima Nova"/>
              </a:rPr>
              <a:t>Peran Pola Pikir Bertumbuh</a:t>
            </a:r>
            <a:endParaRPr sz="24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Mendorong murid untuk terus belajar dari kesalahan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Menganggap tantangan sebagai kesempatan berkembang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Membentuk lingkungan kelas yang aman untuk bereksplorasi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Proxima Nova"/>
                <a:ea typeface="Proxima Nova"/>
                <a:cs typeface="Proxima Nova"/>
                <a:sym typeface="Proxima Nova"/>
              </a:rPr>
              <a:t>Peran Guru dalam Pembelajaran Mendalam</a:t>
            </a:r>
            <a:endParaRPr sz="24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Merancang aktivitas eksploratif dan pertanyaan terbuka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Menyediakan umpan balik yang membangun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Menumbuhkan budaya refleksi &amp; kegigihan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Mendampingi murid menemukan makna personal dari pembelajaran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0" name="Google Shape;420;p55"/>
          <p:cNvSpPr/>
          <p:nvPr/>
        </p:nvSpPr>
        <p:spPr>
          <a:xfrm>
            <a:off x="515375" y="8513375"/>
            <a:ext cx="17160300" cy="1126500"/>
          </a:xfrm>
          <a:prstGeom prst="roundRect">
            <a:avLst>
              <a:gd name="adj" fmla="val 17042"/>
            </a:avLst>
          </a:prstGeom>
          <a:gradFill>
            <a:gsLst>
              <a:gs pos="0">
                <a:srgbClr val="FFFFFF">
                  <a:alpha val="80000"/>
                </a:srgbClr>
              </a:gs>
              <a:gs pos="100000">
                <a:srgbClr val="D1E4FD"/>
              </a:gs>
            </a:gsLst>
            <a:lin ang="5400700" scaled="0"/>
          </a:gradFill>
          <a:ln w="9525" cap="flat" cmpd="sng">
            <a:solidFill>
              <a:srgbClr val="D9E7F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50800" lvl="0" indent="0" algn="ctr" rtl="0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600" b="1" i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“Belajar yang bermakna adalah belajar dengan kesadaran yang ditumbuhkan, bukan dipaksakan.”</a:t>
            </a:r>
            <a:endParaRPr sz="2600" b="1" i="1" u="none" strike="noStrike" cap="non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56"/>
          <p:cNvSpPr txBox="1"/>
          <p:nvPr/>
        </p:nvSpPr>
        <p:spPr>
          <a:xfrm>
            <a:off x="1803000" y="218350"/>
            <a:ext cx="12998700" cy="13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Open Sans ExtraBold"/>
              <a:buNone/>
            </a:pPr>
            <a:r>
              <a:rPr lang="en-US" sz="3200">
                <a:solidFill>
                  <a:srgbClr val="002060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Refleksi: Apa yang Bisa Saya Ubah dalam Cara Saya Melihat Potensi?</a:t>
            </a:r>
            <a:endParaRPr sz="32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26" name="Google Shape;426;p56"/>
          <p:cNvGrpSpPr/>
          <p:nvPr/>
        </p:nvGrpSpPr>
        <p:grpSpPr>
          <a:xfrm>
            <a:off x="0" y="45674"/>
            <a:ext cx="1923749" cy="1495147"/>
            <a:chOff x="-151896" y="-128007"/>
            <a:chExt cx="1282499" cy="996765"/>
          </a:xfrm>
        </p:grpSpPr>
        <p:sp>
          <p:nvSpPr>
            <p:cNvPr id="427" name="Google Shape;427;p56"/>
            <p:cNvSpPr/>
            <p:nvPr/>
          </p:nvSpPr>
          <p:spPr>
            <a:xfrm>
              <a:off x="87168" y="64714"/>
              <a:ext cx="883656" cy="653616"/>
            </a:xfrm>
            <a:prstGeom prst="flowChartDocument">
              <a:avLst/>
            </a:prstGeom>
            <a:solidFill>
              <a:srgbClr val="083C92"/>
            </a:solidFill>
            <a:ln>
              <a:noFill/>
            </a:ln>
          </p:spPr>
          <p:txBody>
            <a:bodyPr spcFirstLastPara="1" wrap="square" lIns="137150" tIns="68550" rIns="137150" bIns="685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endParaRPr sz="2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8" name="Google Shape;428;p56"/>
            <p:cNvGrpSpPr/>
            <p:nvPr/>
          </p:nvGrpSpPr>
          <p:grpSpPr>
            <a:xfrm>
              <a:off x="-151896" y="-128007"/>
              <a:ext cx="1282499" cy="996765"/>
              <a:chOff x="5908291" y="1447244"/>
              <a:chExt cx="4033016" cy="3338127"/>
            </a:xfrm>
          </p:grpSpPr>
          <p:pic>
            <p:nvPicPr>
              <p:cNvPr id="429" name="Google Shape;429;p56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5908291" y="1447244"/>
                <a:ext cx="4033016" cy="333812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30" name="Google Shape;430;p56"/>
              <p:cNvPicPr preferRelativeResize="0"/>
              <p:nvPr/>
            </p:nvPicPr>
            <p:blipFill rotWithShape="1">
              <a:blip r:embed="rId4">
                <a:alphaModFix/>
              </a:blip>
              <a:srcRect l="25903" t="42301" r="62505" b="55210"/>
              <a:stretch/>
            </p:blipFill>
            <p:spPr>
              <a:xfrm>
                <a:off x="6945284" y="2784764"/>
                <a:ext cx="486200" cy="1205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431" name="Google Shape;431;p5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0001" y="64715"/>
              <a:ext cx="620819" cy="26380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432" name="Google Shape;432;p5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6"/>
          <p:cNvPicPr preferRelativeResize="0"/>
          <p:nvPr/>
        </p:nvPicPr>
        <p:blipFill rotWithShape="1">
          <a:blip r:embed="rId7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6"/>
          <p:cNvSpPr/>
          <p:nvPr/>
        </p:nvSpPr>
        <p:spPr>
          <a:xfrm>
            <a:off x="378375" y="1655375"/>
            <a:ext cx="17357700" cy="7969500"/>
          </a:xfrm>
          <a:prstGeom prst="roundRect">
            <a:avLst>
              <a:gd name="adj" fmla="val 16667"/>
            </a:avLst>
          </a:prstGeom>
          <a:solidFill>
            <a:srgbClr val="EEFB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Proxima Nova"/>
                <a:ea typeface="Proxima Nova"/>
                <a:cs typeface="Proxima Nova"/>
                <a:sym typeface="Proxima Nova"/>
              </a:rPr>
              <a:t>Tanyakan hal ini:</a:t>
            </a:r>
            <a:endParaRPr sz="2800" b="1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Kapan terakhir kali saya menghindari tantangan karena takut gagal?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Apakah saya melihat kegagalan sebagai akhir, atau sebagai proses menuju pemahaman yang lebih baik?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Apakah saya memberi ruang bagi murid (atau rekan) untuk gagal secara produktif?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Proxima Nova"/>
              <a:buChar char="●"/>
            </a:pPr>
            <a:r>
              <a:rPr lang="en-US" sz="2800">
                <a:latin typeface="Proxima Nova"/>
                <a:ea typeface="Proxima Nova"/>
                <a:cs typeface="Proxima Nova"/>
                <a:sym typeface="Proxima Nova"/>
              </a:rPr>
              <a:t>Apa satu perubahan kecil dalam cara saya merespon kesalahan, baik diri sendiri maupun orang lain, yang bisa saya mulai minggu ini?</a:t>
            </a: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5" name="Google Shape;435;p56"/>
          <p:cNvSpPr/>
          <p:nvPr/>
        </p:nvSpPr>
        <p:spPr>
          <a:xfrm>
            <a:off x="8347850" y="6053950"/>
            <a:ext cx="9388200" cy="3239700"/>
          </a:xfrm>
          <a:prstGeom prst="rect">
            <a:avLst/>
          </a:prstGeom>
          <a:solidFill>
            <a:srgbClr val="5390C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MARI LAKUKAN</a:t>
            </a:r>
            <a:endParaRPr sz="24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Silakan kerjakan bagian </a:t>
            </a:r>
            <a:r>
              <a:rPr lang="en-US" sz="2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Kegiatan Pembelajaran</a:t>
            </a:r>
            <a:r>
              <a:rPr lang="en-U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dan </a:t>
            </a:r>
            <a:r>
              <a:rPr lang="en-US" sz="2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Lembar Kerja</a:t>
            </a:r>
            <a:r>
              <a:rPr lang="en-U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yang tersedia dalam Modul Topik 2. Gunakan pengalaman pribadi Anda sebagai calon guru untuk menjawab dengan reflektif Kegiatan ini akan membantu Anda menerapkan konsep Growth Mindset dalam praktik pembelajaran.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36" name="Google Shape;436;p56"/>
          <p:cNvSpPr/>
          <p:nvPr/>
        </p:nvSpPr>
        <p:spPr>
          <a:xfrm>
            <a:off x="378375" y="6053950"/>
            <a:ext cx="7662000" cy="32397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Aksi Kecil untuk dilakukan hari Ini:</a:t>
            </a:r>
            <a:endParaRPr sz="26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Char char="●"/>
            </a:pPr>
            <a:r>
              <a:rPr lang="en-US" sz="2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Tulis satu kesalahan yang saya alami baru-baru ini dan apa pelajaran yang anda ambil?</a:t>
            </a:r>
            <a:endParaRPr sz="2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Char char="●"/>
            </a:pPr>
            <a:r>
              <a:rPr lang="en-US" sz="26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Apa yang akan saya lakukan berbeda minggu depan?</a:t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7"/>
          <p:cNvSpPr txBox="1">
            <a:spLocks noGrp="1"/>
          </p:cNvSpPr>
          <p:nvPr>
            <p:ph type="ctrTitle" idx="4294967295"/>
          </p:nvPr>
        </p:nvSpPr>
        <p:spPr>
          <a:xfrm>
            <a:off x="1067950" y="3090900"/>
            <a:ext cx="76104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8000"/>
              <a:buFont typeface="Open Sans ExtraBold"/>
              <a:buNone/>
            </a:pPr>
            <a:r>
              <a:rPr lang="en-US" sz="12000" b="1" i="0" u="none" strike="noStrike" cap="none"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Terima</a:t>
            </a:r>
            <a:endParaRPr sz="12000" b="1" i="0" u="none" strike="noStrike" cap="none">
              <a:solidFill>
                <a:srgbClr val="344EAC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4EAC"/>
              </a:buClr>
              <a:buSzPts val="8000"/>
              <a:buFont typeface="Open Sans ExtraBold"/>
              <a:buNone/>
            </a:pPr>
            <a:r>
              <a:rPr lang="en-US" sz="12000" b="1" i="0" u="none" strike="noStrike" cap="none">
                <a:solidFill>
                  <a:srgbClr val="344EAC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Kasih</a:t>
            </a:r>
            <a:endParaRPr sz="12000" b="1" i="0" u="none" strike="noStrike" cap="none">
              <a:solidFill>
                <a:srgbClr val="344EAC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442" name="Google Shape;442;p57"/>
          <p:cNvSpPr/>
          <p:nvPr/>
        </p:nvSpPr>
        <p:spPr>
          <a:xfrm>
            <a:off x="18150" y="8608775"/>
            <a:ext cx="18288000" cy="1678200"/>
          </a:xfrm>
          <a:prstGeom prst="rect">
            <a:avLst/>
          </a:prstGeom>
          <a:solidFill>
            <a:srgbClr val="D4E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57"/>
          <p:cNvSpPr txBox="1"/>
          <p:nvPr/>
        </p:nvSpPr>
        <p:spPr>
          <a:xfrm>
            <a:off x="1020900" y="31350"/>
            <a:ext cx="5217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83C92"/>
                </a:solidFill>
                <a:latin typeface="Lato Black"/>
                <a:ea typeface="Lato Black"/>
                <a:cs typeface="Lato Black"/>
                <a:sym typeface="Lato Black"/>
              </a:rPr>
              <a:t>Kementerian Pendidikan </a:t>
            </a:r>
            <a:br>
              <a:rPr lang="en-US" sz="2000" b="0" i="0" u="none" strike="noStrike" cap="none">
                <a:solidFill>
                  <a:srgbClr val="083C92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lang="en-US" sz="2000" b="0" i="0" u="none" strike="noStrike" cap="none">
                <a:solidFill>
                  <a:srgbClr val="083C92"/>
                </a:solidFill>
                <a:latin typeface="Lato Black"/>
                <a:ea typeface="Lato Black"/>
                <a:cs typeface="Lato Black"/>
                <a:sym typeface="Lato Black"/>
              </a:rPr>
              <a:t>Dasar dan Menengah</a:t>
            </a:r>
            <a:endParaRPr sz="2000" b="0" i="0" u="none" strike="noStrike" cap="none">
              <a:solidFill>
                <a:srgbClr val="083C92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pic>
        <p:nvPicPr>
          <p:cNvPr id="444" name="Google Shape;444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9248" y="163600"/>
            <a:ext cx="711647" cy="720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801566" y="245678"/>
            <a:ext cx="1655537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7"/>
          <p:cNvPicPr preferRelativeResize="0"/>
          <p:nvPr/>
        </p:nvPicPr>
        <p:blipFill rotWithShape="1">
          <a:blip r:embed="rId5">
            <a:alphaModFix/>
          </a:blip>
          <a:srcRect l="4970"/>
          <a:stretch/>
        </p:blipFill>
        <p:spPr>
          <a:xfrm>
            <a:off x="16304700" y="245669"/>
            <a:ext cx="1916625" cy="62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21076" y="628850"/>
            <a:ext cx="8986849" cy="898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6A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1036</Words>
  <Application>Microsoft Office PowerPoint</Application>
  <PresentationFormat>Custom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Lato Black</vt:lpstr>
      <vt:lpstr>Plus Jakarta Sans</vt:lpstr>
      <vt:lpstr>Lato</vt:lpstr>
      <vt:lpstr>Calibri</vt:lpstr>
      <vt:lpstr>Arial</vt:lpstr>
      <vt:lpstr>Open Sans</vt:lpstr>
      <vt:lpstr>Poppins</vt:lpstr>
      <vt:lpstr>Nunito Sans SemiBold</vt:lpstr>
      <vt:lpstr>Open Sans ExtraBold</vt:lpstr>
      <vt:lpstr>Proxima Nova</vt:lpstr>
      <vt:lpstr>Office Theme</vt:lpstr>
      <vt:lpstr>Office Theme</vt:lpstr>
      <vt:lpstr>Simple Light</vt:lpstr>
      <vt:lpstr>PowerPoint Presentation</vt:lpstr>
      <vt:lpstr>PowerPoint Presentation</vt:lpstr>
      <vt:lpstr>Daftar Isi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Jajang Kusnendar</dc:creator>
  <cp:lastModifiedBy>Jajang Kusnendar</cp:lastModifiedBy>
  <cp:revision>1</cp:revision>
  <dcterms:modified xsi:type="dcterms:W3CDTF">2026-01-29T00:26:54Z</dcterms:modified>
</cp:coreProperties>
</file>