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et" charset="1" panose="00000000000000000000"/>
      <p:regular r:id="rId12"/>
    </p:embeddedFont>
    <p:embeddedFont>
      <p:font typeface="Garet Bold" charset="1" panose="00000000000000000000"/>
      <p:regular r:id="rId13"/>
    </p:embeddedFont>
    <p:embeddedFont>
      <p:font typeface="Roboto Bold" charset="1" panose="02000000000000000000"/>
      <p:regular r:id="rId14"/>
    </p:embeddedFont>
    <p:embeddedFont>
      <p:font typeface="Roboto" charset="1" panose="02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13" Target="../media/image28.png" Type="http://schemas.openxmlformats.org/officeDocument/2006/relationships/image"/><Relationship Id="rId14" Target="../media/image29.svg" Type="http://schemas.openxmlformats.org/officeDocument/2006/relationships/image"/><Relationship Id="rId15" Target="../media/image30.png" Type="http://schemas.openxmlformats.org/officeDocument/2006/relationships/image"/><Relationship Id="rId16" Target="../media/image31.svg" Type="http://schemas.openxmlformats.org/officeDocument/2006/relationships/image"/><Relationship Id="rId17" Target="../media/image32.png" Type="http://schemas.openxmlformats.org/officeDocument/2006/relationships/image"/><Relationship Id="rId18" Target="../media/image33.svg" Type="http://schemas.openxmlformats.org/officeDocument/2006/relationships/image"/><Relationship Id="rId19" Target="../media/image11.png" Type="http://schemas.openxmlformats.org/officeDocument/2006/relationships/image"/><Relationship Id="rId2" Target="../media/image17.jpeg" Type="http://schemas.openxmlformats.org/officeDocument/2006/relationships/image"/><Relationship Id="rId20" Target="../media/image12.sv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2" Target="../media/image34.jpe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svg" Type="http://schemas.openxmlformats.org/officeDocument/2006/relationships/image"/><Relationship Id="rId11" Target="../media/image56.png" Type="http://schemas.openxmlformats.org/officeDocument/2006/relationships/image"/><Relationship Id="rId12" Target="../media/image57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58.png" Type="http://schemas.openxmlformats.org/officeDocument/2006/relationships/image"/><Relationship Id="rId16" Target="../media/image59.svg" Type="http://schemas.openxmlformats.org/officeDocument/2006/relationships/image"/><Relationship Id="rId2" Target="../media/image47.jpe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5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638" r="0" b="-7563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2000" y="865882"/>
            <a:ext cx="17427441" cy="844324"/>
            <a:chOff x="0" y="0"/>
            <a:chExt cx="4589943" cy="2223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9943" cy="222374"/>
            </a:xfrm>
            <a:custGeom>
              <a:avLst/>
              <a:gdLst/>
              <a:ahLst/>
              <a:cxnLst/>
              <a:rect r="r" b="b" t="t" l="l"/>
              <a:pathLst>
                <a:path h="222374" w="4589943">
                  <a:moveTo>
                    <a:pt x="28875" y="0"/>
                  </a:moveTo>
                  <a:lnTo>
                    <a:pt x="4561068" y="0"/>
                  </a:lnTo>
                  <a:cubicBezTo>
                    <a:pt x="4577016" y="0"/>
                    <a:pt x="4589943" y="12928"/>
                    <a:pt x="4589943" y="28875"/>
                  </a:cubicBezTo>
                  <a:lnTo>
                    <a:pt x="4589943" y="193498"/>
                  </a:lnTo>
                  <a:cubicBezTo>
                    <a:pt x="4589943" y="201156"/>
                    <a:pt x="4586901" y="208501"/>
                    <a:pt x="4581486" y="213916"/>
                  </a:cubicBezTo>
                  <a:cubicBezTo>
                    <a:pt x="4576071" y="219331"/>
                    <a:pt x="4568726" y="222374"/>
                    <a:pt x="4561068" y="222374"/>
                  </a:cubicBezTo>
                  <a:lnTo>
                    <a:pt x="28875" y="222374"/>
                  </a:lnTo>
                  <a:cubicBezTo>
                    <a:pt x="21217" y="222374"/>
                    <a:pt x="13873" y="219331"/>
                    <a:pt x="8457" y="213916"/>
                  </a:cubicBezTo>
                  <a:cubicBezTo>
                    <a:pt x="3042" y="208501"/>
                    <a:pt x="0" y="201156"/>
                    <a:pt x="0" y="193498"/>
                  </a:cubicBezTo>
                  <a:lnTo>
                    <a:pt x="0" y="28875"/>
                  </a:lnTo>
                  <a:cubicBezTo>
                    <a:pt x="0" y="21217"/>
                    <a:pt x="3042" y="13873"/>
                    <a:pt x="8457" y="8457"/>
                  </a:cubicBezTo>
                  <a:cubicBezTo>
                    <a:pt x="13873" y="3042"/>
                    <a:pt x="21217" y="0"/>
                    <a:pt x="28875" y="0"/>
                  </a:cubicBezTo>
                  <a:close/>
                </a:path>
              </a:pathLst>
            </a:custGeom>
            <a:solidFill>
              <a:srgbClr val="35507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4589943" cy="184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1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3943938" y="1057524"/>
            <a:ext cx="0" cy="46104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674298" y="5351715"/>
            <a:ext cx="4895988" cy="429974"/>
            <a:chOff x="0" y="0"/>
            <a:chExt cx="6527984" cy="5732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527984" cy="573299"/>
              <a:chOff x="0" y="0"/>
              <a:chExt cx="1480534" cy="13002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480534" cy="130023"/>
              </a:xfrm>
              <a:custGeom>
                <a:avLst/>
                <a:gdLst/>
                <a:ahLst/>
                <a:cxnLst/>
                <a:rect r="r" b="b" t="t" l="l"/>
                <a:pathLst>
                  <a:path h="130023" w="1480534">
                    <a:moveTo>
                      <a:pt x="65012" y="0"/>
                    </a:moveTo>
                    <a:lnTo>
                      <a:pt x="1415522" y="0"/>
                    </a:lnTo>
                    <a:cubicBezTo>
                      <a:pt x="1451427" y="0"/>
                      <a:pt x="1480534" y="29107"/>
                      <a:pt x="1480534" y="65012"/>
                    </a:cubicBezTo>
                    <a:lnTo>
                      <a:pt x="1480534" y="65012"/>
                    </a:lnTo>
                    <a:cubicBezTo>
                      <a:pt x="1480534" y="100916"/>
                      <a:pt x="1451427" y="130023"/>
                      <a:pt x="1415522" y="130023"/>
                    </a:cubicBezTo>
                    <a:lnTo>
                      <a:pt x="65012" y="130023"/>
                    </a:lnTo>
                    <a:cubicBezTo>
                      <a:pt x="29107" y="130023"/>
                      <a:pt x="0" y="100916"/>
                      <a:pt x="0" y="65012"/>
                    </a:cubicBezTo>
                    <a:lnTo>
                      <a:pt x="0" y="65012"/>
                    </a:lnTo>
                    <a:cubicBezTo>
                      <a:pt x="0" y="29107"/>
                      <a:pt x="29107" y="0"/>
                      <a:pt x="65012" y="0"/>
                    </a:cubicBezTo>
                    <a:close/>
                  </a:path>
                </a:pathLst>
              </a:custGeom>
              <a:solidFill>
                <a:srgbClr val="6D597A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47625"/>
                <a:ext cx="1480534" cy="8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682576" y="140600"/>
              <a:ext cx="523647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00"/>
                </a:lnSpc>
              </a:pPr>
              <a:r>
                <a:rPr lang="en-US" sz="20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Arina Sholiha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674298" y="5847689"/>
            <a:ext cx="4826082" cy="429974"/>
            <a:chOff x="0" y="0"/>
            <a:chExt cx="6434776" cy="57329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434776" cy="573299"/>
              <a:chOff x="0" y="0"/>
              <a:chExt cx="1459394" cy="13002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459394" cy="130023"/>
              </a:xfrm>
              <a:custGeom>
                <a:avLst/>
                <a:gdLst/>
                <a:ahLst/>
                <a:cxnLst/>
                <a:rect r="r" b="b" t="t" l="l"/>
                <a:pathLst>
                  <a:path h="130023" w="1459394">
                    <a:moveTo>
                      <a:pt x="65012" y="0"/>
                    </a:moveTo>
                    <a:lnTo>
                      <a:pt x="1394383" y="0"/>
                    </a:lnTo>
                    <a:cubicBezTo>
                      <a:pt x="1430288" y="0"/>
                      <a:pt x="1459394" y="29107"/>
                      <a:pt x="1459394" y="65012"/>
                    </a:cubicBezTo>
                    <a:lnTo>
                      <a:pt x="1459394" y="65012"/>
                    </a:lnTo>
                    <a:cubicBezTo>
                      <a:pt x="1459394" y="82254"/>
                      <a:pt x="1452545" y="98790"/>
                      <a:pt x="1440353" y="110982"/>
                    </a:cubicBezTo>
                    <a:cubicBezTo>
                      <a:pt x="1428161" y="123174"/>
                      <a:pt x="1411625" y="130023"/>
                      <a:pt x="1394383" y="130023"/>
                    </a:cubicBezTo>
                    <a:lnTo>
                      <a:pt x="65012" y="130023"/>
                    </a:lnTo>
                    <a:cubicBezTo>
                      <a:pt x="29107" y="130023"/>
                      <a:pt x="0" y="100916"/>
                      <a:pt x="0" y="65012"/>
                    </a:cubicBezTo>
                    <a:lnTo>
                      <a:pt x="0" y="65012"/>
                    </a:lnTo>
                    <a:cubicBezTo>
                      <a:pt x="0" y="29107"/>
                      <a:pt x="29107" y="0"/>
                      <a:pt x="65012" y="0"/>
                    </a:cubicBezTo>
                    <a:close/>
                  </a:path>
                </a:pathLst>
              </a:custGeom>
              <a:solidFill>
                <a:srgbClr val="B56576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47625"/>
                <a:ext cx="1459394" cy="8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72830" y="140600"/>
              <a:ext cx="5161702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00"/>
                </a:lnSpc>
              </a:pPr>
              <a:r>
                <a:rPr lang="en-US" sz="20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Ari Sandy Kurniawan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674298" y="6344338"/>
            <a:ext cx="4895988" cy="429974"/>
            <a:chOff x="0" y="0"/>
            <a:chExt cx="6527984" cy="573299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527984" cy="573299"/>
              <a:chOff x="0" y="0"/>
              <a:chExt cx="1480534" cy="13002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80534" cy="130023"/>
              </a:xfrm>
              <a:custGeom>
                <a:avLst/>
                <a:gdLst/>
                <a:ahLst/>
                <a:cxnLst/>
                <a:rect r="r" b="b" t="t" l="l"/>
                <a:pathLst>
                  <a:path h="130023" w="1480534">
                    <a:moveTo>
                      <a:pt x="65012" y="0"/>
                    </a:moveTo>
                    <a:lnTo>
                      <a:pt x="1415522" y="0"/>
                    </a:lnTo>
                    <a:cubicBezTo>
                      <a:pt x="1451427" y="0"/>
                      <a:pt x="1480534" y="29107"/>
                      <a:pt x="1480534" y="65012"/>
                    </a:cubicBezTo>
                    <a:lnTo>
                      <a:pt x="1480534" y="65012"/>
                    </a:lnTo>
                    <a:cubicBezTo>
                      <a:pt x="1480534" y="100916"/>
                      <a:pt x="1451427" y="130023"/>
                      <a:pt x="1415522" y="130023"/>
                    </a:cubicBezTo>
                    <a:lnTo>
                      <a:pt x="65012" y="130023"/>
                    </a:lnTo>
                    <a:cubicBezTo>
                      <a:pt x="29107" y="130023"/>
                      <a:pt x="0" y="100916"/>
                      <a:pt x="0" y="65012"/>
                    </a:cubicBezTo>
                    <a:lnTo>
                      <a:pt x="0" y="65012"/>
                    </a:lnTo>
                    <a:cubicBezTo>
                      <a:pt x="0" y="29107"/>
                      <a:pt x="29107" y="0"/>
                      <a:pt x="65012" y="0"/>
                    </a:cubicBezTo>
                    <a:close/>
                  </a:path>
                </a:pathLst>
              </a:custGeom>
              <a:solidFill>
                <a:srgbClr val="E56B6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47625"/>
                <a:ext cx="1480534" cy="8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82576" y="140600"/>
              <a:ext cx="523647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00"/>
                </a:lnSpc>
              </a:pPr>
              <a:r>
                <a:rPr lang="en-US" sz="20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Khairul Hanif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674298" y="7337637"/>
            <a:ext cx="4895988" cy="429974"/>
            <a:chOff x="0" y="0"/>
            <a:chExt cx="6527984" cy="573299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6527984" cy="573299"/>
              <a:chOff x="0" y="0"/>
              <a:chExt cx="1480534" cy="13002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80534" cy="130023"/>
              </a:xfrm>
              <a:custGeom>
                <a:avLst/>
                <a:gdLst/>
                <a:ahLst/>
                <a:cxnLst/>
                <a:rect r="r" b="b" t="t" l="l"/>
                <a:pathLst>
                  <a:path h="130023" w="1480534">
                    <a:moveTo>
                      <a:pt x="65012" y="0"/>
                    </a:moveTo>
                    <a:lnTo>
                      <a:pt x="1415522" y="0"/>
                    </a:lnTo>
                    <a:cubicBezTo>
                      <a:pt x="1451427" y="0"/>
                      <a:pt x="1480534" y="29107"/>
                      <a:pt x="1480534" y="65012"/>
                    </a:cubicBezTo>
                    <a:lnTo>
                      <a:pt x="1480534" y="65012"/>
                    </a:lnTo>
                    <a:cubicBezTo>
                      <a:pt x="1480534" y="100916"/>
                      <a:pt x="1451427" y="130023"/>
                      <a:pt x="1415522" y="130023"/>
                    </a:cubicBezTo>
                    <a:lnTo>
                      <a:pt x="65012" y="130023"/>
                    </a:lnTo>
                    <a:cubicBezTo>
                      <a:pt x="29107" y="130023"/>
                      <a:pt x="0" y="100916"/>
                      <a:pt x="0" y="65012"/>
                    </a:cubicBezTo>
                    <a:lnTo>
                      <a:pt x="0" y="65012"/>
                    </a:lnTo>
                    <a:cubicBezTo>
                      <a:pt x="0" y="29107"/>
                      <a:pt x="29107" y="0"/>
                      <a:pt x="65012" y="0"/>
                    </a:cubicBezTo>
                    <a:close/>
                  </a:path>
                </a:pathLst>
              </a:custGeom>
              <a:solidFill>
                <a:srgbClr val="B56576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47625"/>
                <a:ext cx="1480534" cy="8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682576" y="140600"/>
              <a:ext cx="523647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00"/>
                </a:lnSpc>
              </a:pPr>
              <a:r>
                <a:rPr lang="en-US" sz="20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Muhammad Khaerul Annam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674298" y="6840988"/>
            <a:ext cx="4895988" cy="429974"/>
            <a:chOff x="0" y="0"/>
            <a:chExt cx="6527984" cy="573299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527984" cy="573299"/>
              <a:chOff x="0" y="0"/>
              <a:chExt cx="1480534" cy="13002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480534" cy="130023"/>
              </a:xfrm>
              <a:custGeom>
                <a:avLst/>
                <a:gdLst/>
                <a:ahLst/>
                <a:cxnLst/>
                <a:rect r="r" b="b" t="t" l="l"/>
                <a:pathLst>
                  <a:path h="130023" w="1480534">
                    <a:moveTo>
                      <a:pt x="65012" y="0"/>
                    </a:moveTo>
                    <a:lnTo>
                      <a:pt x="1415522" y="0"/>
                    </a:lnTo>
                    <a:cubicBezTo>
                      <a:pt x="1451427" y="0"/>
                      <a:pt x="1480534" y="29107"/>
                      <a:pt x="1480534" y="65012"/>
                    </a:cubicBezTo>
                    <a:lnTo>
                      <a:pt x="1480534" y="65012"/>
                    </a:lnTo>
                    <a:cubicBezTo>
                      <a:pt x="1480534" y="100916"/>
                      <a:pt x="1451427" y="130023"/>
                      <a:pt x="1415522" y="130023"/>
                    </a:cubicBezTo>
                    <a:lnTo>
                      <a:pt x="65012" y="130023"/>
                    </a:lnTo>
                    <a:cubicBezTo>
                      <a:pt x="29107" y="130023"/>
                      <a:pt x="0" y="100916"/>
                      <a:pt x="0" y="65012"/>
                    </a:cubicBezTo>
                    <a:lnTo>
                      <a:pt x="0" y="65012"/>
                    </a:lnTo>
                    <a:cubicBezTo>
                      <a:pt x="0" y="29107"/>
                      <a:pt x="29107" y="0"/>
                      <a:pt x="65012" y="0"/>
                    </a:cubicBezTo>
                    <a:close/>
                  </a:path>
                </a:pathLst>
              </a:custGeom>
              <a:solidFill>
                <a:srgbClr val="6D597A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47625"/>
                <a:ext cx="1480534" cy="8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682576" y="140600"/>
              <a:ext cx="523647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00"/>
                </a:lnSpc>
              </a:pPr>
              <a:r>
                <a:rPr lang="en-US" sz="20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Maharani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674298" y="7834286"/>
            <a:ext cx="4895988" cy="429974"/>
            <a:chOff x="0" y="0"/>
            <a:chExt cx="6527984" cy="573299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6527984" cy="573299"/>
              <a:chOff x="0" y="0"/>
              <a:chExt cx="1480534" cy="13002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480534" cy="130023"/>
              </a:xfrm>
              <a:custGeom>
                <a:avLst/>
                <a:gdLst/>
                <a:ahLst/>
                <a:cxnLst/>
                <a:rect r="r" b="b" t="t" l="l"/>
                <a:pathLst>
                  <a:path h="130023" w="1480534">
                    <a:moveTo>
                      <a:pt x="65012" y="0"/>
                    </a:moveTo>
                    <a:lnTo>
                      <a:pt x="1415522" y="0"/>
                    </a:lnTo>
                    <a:cubicBezTo>
                      <a:pt x="1451427" y="0"/>
                      <a:pt x="1480534" y="29107"/>
                      <a:pt x="1480534" y="65012"/>
                    </a:cubicBezTo>
                    <a:lnTo>
                      <a:pt x="1480534" y="65012"/>
                    </a:lnTo>
                    <a:cubicBezTo>
                      <a:pt x="1480534" y="100916"/>
                      <a:pt x="1451427" y="130023"/>
                      <a:pt x="1415522" y="130023"/>
                    </a:cubicBezTo>
                    <a:lnTo>
                      <a:pt x="65012" y="130023"/>
                    </a:lnTo>
                    <a:cubicBezTo>
                      <a:pt x="29107" y="130023"/>
                      <a:pt x="0" y="100916"/>
                      <a:pt x="0" y="65012"/>
                    </a:cubicBezTo>
                    <a:lnTo>
                      <a:pt x="0" y="65012"/>
                    </a:lnTo>
                    <a:cubicBezTo>
                      <a:pt x="0" y="29107"/>
                      <a:pt x="29107" y="0"/>
                      <a:pt x="65012" y="0"/>
                    </a:cubicBezTo>
                    <a:close/>
                  </a:path>
                </a:pathLst>
              </a:custGeom>
              <a:solidFill>
                <a:srgbClr val="6D597A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47625"/>
                <a:ext cx="1480534" cy="8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682576" y="140600"/>
              <a:ext cx="523647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00"/>
                </a:lnSpc>
              </a:pPr>
              <a:r>
                <a:rPr lang="en-US" sz="20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Rangga Permana Putra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674298" y="8875210"/>
            <a:ext cx="4895988" cy="429974"/>
            <a:chOff x="0" y="0"/>
            <a:chExt cx="6527984" cy="573299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6527984" cy="573299"/>
              <a:chOff x="0" y="0"/>
              <a:chExt cx="1480534" cy="130023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480534" cy="130023"/>
              </a:xfrm>
              <a:custGeom>
                <a:avLst/>
                <a:gdLst/>
                <a:ahLst/>
                <a:cxnLst/>
                <a:rect r="r" b="b" t="t" l="l"/>
                <a:pathLst>
                  <a:path h="130023" w="1480534">
                    <a:moveTo>
                      <a:pt x="65012" y="0"/>
                    </a:moveTo>
                    <a:lnTo>
                      <a:pt x="1415522" y="0"/>
                    </a:lnTo>
                    <a:cubicBezTo>
                      <a:pt x="1451427" y="0"/>
                      <a:pt x="1480534" y="29107"/>
                      <a:pt x="1480534" y="65012"/>
                    </a:cubicBezTo>
                    <a:lnTo>
                      <a:pt x="1480534" y="65012"/>
                    </a:lnTo>
                    <a:cubicBezTo>
                      <a:pt x="1480534" y="100916"/>
                      <a:pt x="1451427" y="130023"/>
                      <a:pt x="1415522" y="130023"/>
                    </a:cubicBezTo>
                    <a:lnTo>
                      <a:pt x="65012" y="130023"/>
                    </a:lnTo>
                    <a:cubicBezTo>
                      <a:pt x="29107" y="130023"/>
                      <a:pt x="0" y="100916"/>
                      <a:pt x="0" y="65012"/>
                    </a:cubicBezTo>
                    <a:lnTo>
                      <a:pt x="0" y="65012"/>
                    </a:lnTo>
                    <a:cubicBezTo>
                      <a:pt x="0" y="29107"/>
                      <a:pt x="29107" y="0"/>
                      <a:pt x="65012" y="0"/>
                    </a:cubicBezTo>
                    <a:close/>
                  </a:path>
                </a:pathLst>
              </a:custGeom>
              <a:solidFill>
                <a:srgbClr val="B56576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47625"/>
                <a:ext cx="1480534" cy="8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682576" y="140600"/>
              <a:ext cx="523647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00"/>
                </a:lnSpc>
              </a:pPr>
              <a:r>
                <a:rPr lang="en-US" sz="20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Tiara Destiana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674298" y="8330936"/>
            <a:ext cx="4895988" cy="429974"/>
            <a:chOff x="0" y="0"/>
            <a:chExt cx="6527984" cy="573299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6527984" cy="573299"/>
              <a:chOff x="0" y="0"/>
              <a:chExt cx="1480534" cy="130023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480534" cy="130023"/>
              </a:xfrm>
              <a:custGeom>
                <a:avLst/>
                <a:gdLst/>
                <a:ahLst/>
                <a:cxnLst/>
                <a:rect r="r" b="b" t="t" l="l"/>
                <a:pathLst>
                  <a:path h="130023" w="1480534">
                    <a:moveTo>
                      <a:pt x="65012" y="0"/>
                    </a:moveTo>
                    <a:lnTo>
                      <a:pt x="1415522" y="0"/>
                    </a:lnTo>
                    <a:cubicBezTo>
                      <a:pt x="1451427" y="0"/>
                      <a:pt x="1480534" y="29107"/>
                      <a:pt x="1480534" y="65012"/>
                    </a:cubicBezTo>
                    <a:lnTo>
                      <a:pt x="1480534" y="65012"/>
                    </a:lnTo>
                    <a:cubicBezTo>
                      <a:pt x="1480534" y="100916"/>
                      <a:pt x="1451427" y="130023"/>
                      <a:pt x="1415522" y="130023"/>
                    </a:cubicBezTo>
                    <a:lnTo>
                      <a:pt x="65012" y="130023"/>
                    </a:lnTo>
                    <a:cubicBezTo>
                      <a:pt x="29107" y="130023"/>
                      <a:pt x="0" y="100916"/>
                      <a:pt x="0" y="65012"/>
                    </a:cubicBezTo>
                    <a:lnTo>
                      <a:pt x="0" y="65012"/>
                    </a:lnTo>
                    <a:cubicBezTo>
                      <a:pt x="0" y="29107"/>
                      <a:pt x="29107" y="0"/>
                      <a:pt x="65012" y="0"/>
                    </a:cubicBezTo>
                    <a:close/>
                  </a:path>
                </a:pathLst>
              </a:custGeom>
              <a:solidFill>
                <a:srgbClr val="E56B6F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47625"/>
                <a:ext cx="1480534" cy="8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682576" y="140600"/>
              <a:ext cx="523647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00"/>
                </a:lnSpc>
              </a:pPr>
              <a:r>
                <a:rPr lang="en-US" sz="20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Syarif Hidayatullah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163035" y="4927480"/>
            <a:ext cx="5659522" cy="4897191"/>
            <a:chOff x="0" y="0"/>
            <a:chExt cx="894763" cy="7742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94764" cy="774240"/>
            </a:xfrm>
            <a:custGeom>
              <a:avLst/>
              <a:gdLst/>
              <a:ahLst/>
              <a:cxnLst/>
              <a:rect r="r" b="b" t="t" l="l"/>
              <a:pathLst>
                <a:path h="774240" w="894764">
                  <a:moveTo>
                    <a:pt x="447382" y="0"/>
                  </a:moveTo>
                  <a:cubicBezTo>
                    <a:pt x="200300" y="0"/>
                    <a:pt x="0" y="173320"/>
                    <a:pt x="0" y="387120"/>
                  </a:cubicBezTo>
                  <a:cubicBezTo>
                    <a:pt x="0" y="600920"/>
                    <a:pt x="200300" y="774240"/>
                    <a:pt x="447382" y="774240"/>
                  </a:cubicBezTo>
                  <a:cubicBezTo>
                    <a:pt x="694464" y="774240"/>
                    <a:pt x="894764" y="600920"/>
                    <a:pt x="894764" y="387120"/>
                  </a:cubicBezTo>
                  <a:cubicBezTo>
                    <a:pt x="894764" y="173320"/>
                    <a:pt x="694464" y="0"/>
                    <a:pt x="447382" y="0"/>
                  </a:cubicBezTo>
                  <a:close/>
                </a:path>
              </a:pathLst>
            </a:custGeom>
            <a:blipFill>
              <a:blip r:embed="rId3"/>
              <a:stretch>
                <a:fillRect l="-26745" t="0" r="-26745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48884" y="7328450"/>
            <a:ext cx="4156068" cy="624234"/>
            <a:chOff x="0" y="0"/>
            <a:chExt cx="5541424" cy="832312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5541424" cy="832312"/>
              <a:chOff x="0" y="0"/>
              <a:chExt cx="1480534" cy="222374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480534" cy="222374"/>
              </a:xfrm>
              <a:custGeom>
                <a:avLst/>
                <a:gdLst/>
                <a:ahLst/>
                <a:cxnLst/>
                <a:rect r="r" b="b" t="t" l="l"/>
                <a:pathLst>
                  <a:path h="222374" w="1480534">
                    <a:moveTo>
                      <a:pt x="71158" y="0"/>
                    </a:moveTo>
                    <a:lnTo>
                      <a:pt x="1409376" y="0"/>
                    </a:lnTo>
                    <a:cubicBezTo>
                      <a:pt x="1448675" y="0"/>
                      <a:pt x="1480534" y="31858"/>
                      <a:pt x="1480534" y="71158"/>
                    </a:cubicBezTo>
                    <a:lnTo>
                      <a:pt x="1480534" y="151216"/>
                    </a:lnTo>
                    <a:cubicBezTo>
                      <a:pt x="1480534" y="170088"/>
                      <a:pt x="1473037" y="188187"/>
                      <a:pt x="1459692" y="201532"/>
                    </a:cubicBezTo>
                    <a:cubicBezTo>
                      <a:pt x="1446347" y="214877"/>
                      <a:pt x="1428248" y="222374"/>
                      <a:pt x="1409376" y="222374"/>
                    </a:cubicBezTo>
                    <a:lnTo>
                      <a:pt x="71158" y="222374"/>
                    </a:lnTo>
                    <a:cubicBezTo>
                      <a:pt x="52285" y="222374"/>
                      <a:pt x="34186" y="214877"/>
                      <a:pt x="20842" y="201532"/>
                    </a:cubicBezTo>
                    <a:cubicBezTo>
                      <a:pt x="7497" y="188187"/>
                      <a:pt x="0" y="170088"/>
                      <a:pt x="0" y="151216"/>
                    </a:cubicBezTo>
                    <a:lnTo>
                      <a:pt x="0" y="71158"/>
                    </a:lnTo>
                    <a:cubicBezTo>
                      <a:pt x="0" y="52285"/>
                      <a:pt x="7497" y="34186"/>
                      <a:pt x="20842" y="20842"/>
                    </a:cubicBezTo>
                    <a:cubicBezTo>
                      <a:pt x="34186" y="7497"/>
                      <a:pt x="52285" y="0"/>
                      <a:pt x="71158" y="0"/>
                    </a:cubicBezTo>
                    <a:close/>
                  </a:path>
                </a:pathLst>
              </a:custGeom>
              <a:solidFill>
                <a:srgbClr val="355070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38100"/>
                <a:ext cx="1480534" cy="1842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1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548165" y="175613"/>
              <a:ext cx="4445093" cy="585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86"/>
                </a:lnSpc>
              </a:pPr>
              <a:r>
                <a:rPr lang="en-US" sz="342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Kelompok 1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606597" y="6701966"/>
            <a:ext cx="2709407" cy="352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53"/>
              </a:lnSpc>
            </a:pPr>
            <a:r>
              <a:rPr lang="en-US" sz="2837">
                <a:solidFill>
                  <a:srgbClr val="2E2E2F"/>
                </a:solidFill>
                <a:latin typeface="Garet"/>
                <a:ea typeface="Garet"/>
                <a:cs typeface="Garet"/>
                <a:sym typeface="Garet"/>
              </a:rPr>
              <a:t>Presented by: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843601" y="2256663"/>
            <a:ext cx="14600798" cy="231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40"/>
              </a:lnSpc>
            </a:pPr>
            <a:r>
              <a:rPr lang="en-US" b="true" sz="6600" spc="-264">
                <a:solidFill>
                  <a:srgbClr val="355070"/>
                </a:solidFill>
                <a:latin typeface="Garet Bold"/>
                <a:ea typeface="Garet Bold"/>
                <a:cs typeface="Garet Bold"/>
                <a:sym typeface="Garet Bold"/>
              </a:rPr>
              <a:t>MENGIDENTIFIKASI KURIKULUM 1984 &amp; 1994 BERDASARKAN KOMPONEN PENYUSUN KURIKULUM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26670" y="1176518"/>
            <a:ext cx="11964504" cy="27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8"/>
              </a:lnSpc>
            </a:pPr>
            <a:r>
              <a:rPr lang="en-US" sz="225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TOPIK 1 : DINAMIKA KURIKULUM PENDIDIKAN INDONESIA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191588" y="1156584"/>
            <a:ext cx="3067712" cy="27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8"/>
              </a:lnSpc>
            </a:pPr>
            <a:r>
              <a:rPr lang="en-US" sz="225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MATRIKULASI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638" r="0" b="-7563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374842" y="3005665"/>
            <a:ext cx="11525719" cy="0"/>
          </a:xfrm>
          <a:prstGeom prst="line">
            <a:avLst/>
          </a:prstGeom>
          <a:ln cap="flat" w="57150">
            <a:solidFill>
              <a:srgbClr val="8E93A9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3374842" y="2916926"/>
            <a:ext cx="0" cy="4216668"/>
          </a:xfrm>
          <a:prstGeom prst="line">
            <a:avLst/>
          </a:prstGeom>
          <a:ln cap="flat" w="57150">
            <a:solidFill>
              <a:srgbClr val="35507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5" id="5"/>
          <p:cNvSpPr/>
          <p:nvPr/>
        </p:nvSpPr>
        <p:spPr>
          <a:xfrm flipH="true">
            <a:off x="7200860" y="2916926"/>
            <a:ext cx="0" cy="4216668"/>
          </a:xfrm>
          <a:prstGeom prst="line">
            <a:avLst/>
          </a:prstGeom>
          <a:ln cap="flat" w="57150">
            <a:solidFill>
              <a:srgbClr val="6D597A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1026877" y="2916926"/>
            <a:ext cx="0" cy="4216668"/>
          </a:xfrm>
          <a:prstGeom prst="line">
            <a:avLst/>
          </a:prstGeom>
          <a:ln cap="flat" w="57150">
            <a:solidFill>
              <a:srgbClr val="B56576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7" id="7"/>
          <p:cNvSpPr/>
          <p:nvPr/>
        </p:nvSpPr>
        <p:spPr>
          <a:xfrm>
            <a:off x="14852895" y="2916926"/>
            <a:ext cx="0" cy="4216668"/>
          </a:xfrm>
          <a:prstGeom prst="line">
            <a:avLst/>
          </a:prstGeom>
          <a:ln cap="flat" w="57150">
            <a:solidFill>
              <a:srgbClr val="E56B6F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8" id="8"/>
          <p:cNvGrpSpPr/>
          <p:nvPr/>
        </p:nvGrpSpPr>
        <p:grpSpPr>
          <a:xfrm rot="0">
            <a:off x="2136167" y="3469298"/>
            <a:ext cx="2477350" cy="2882735"/>
            <a:chOff x="0" y="0"/>
            <a:chExt cx="6985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35507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962184" y="3469298"/>
            <a:ext cx="2477350" cy="2882735"/>
            <a:chOff x="0" y="0"/>
            <a:chExt cx="6985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D597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913991" y="6003715"/>
            <a:ext cx="921703" cy="779730"/>
            <a:chOff x="0" y="0"/>
            <a:chExt cx="812800" cy="687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87601"/>
            </a:xfrm>
            <a:custGeom>
              <a:avLst/>
              <a:gdLst/>
              <a:ahLst/>
              <a:cxnLst/>
              <a:rect r="r" b="b" t="t" l="l"/>
              <a:pathLst>
                <a:path h="687601" w="812800">
                  <a:moveTo>
                    <a:pt x="406400" y="687601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687601"/>
                  </a:lnTo>
                  <a:close/>
                </a:path>
              </a:pathLst>
            </a:custGeom>
            <a:solidFill>
              <a:srgbClr val="35507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1489"/>
              <a:ext cx="558800" cy="366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40008" y="6003715"/>
            <a:ext cx="921703" cy="779730"/>
            <a:chOff x="0" y="0"/>
            <a:chExt cx="812800" cy="6876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87601"/>
            </a:xfrm>
            <a:custGeom>
              <a:avLst/>
              <a:gdLst/>
              <a:ahLst/>
              <a:cxnLst/>
              <a:rect r="r" b="b" t="t" l="l"/>
              <a:pathLst>
                <a:path h="687601" w="812800">
                  <a:moveTo>
                    <a:pt x="406400" y="687601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687601"/>
                  </a:lnTo>
                  <a:close/>
                </a:path>
              </a:pathLst>
            </a:custGeom>
            <a:solidFill>
              <a:srgbClr val="6D597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1489"/>
              <a:ext cx="558800" cy="366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476430" y="3865241"/>
            <a:ext cx="1796823" cy="2090849"/>
            <a:chOff x="0" y="0"/>
            <a:chExt cx="6985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02448" y="3865241"/>
            <a:ext cx="1796823" cy="2090849"/>
            <a:chOff x="0" y="0"/>
            <a:chExt cx="6985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88202" y="3469298"/>
            <a:ext cx="2477350" cy="2882735"/>
            <a:chOff x="0" y="0"/>
            <a:chExt cx="6985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B5657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566026" y="6003715"/>
            <a:ext cx="921703" cy="779730"/>
            <a:chOff x="0" y="0"/>
            <a:chExt cx="812800" cy="68760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687601"/>
            </a:xfrm>
            <a:custGeom>
              <a:avLst/>
              <a:gdLst/>
              <a:ahLst/>
              <a:cxnLst/>
              <a:rect r="r" b="b" t="t" l="l"/>
              <a:pathLst>
                <a:path h="687601" w="812800">
                  <a:moveTo>
                    <a:pt x="406400" y="687601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687601"/>
                  </a:lnTo>
                  <a:close/>
                </a:path>
              </a:pathLst>
            </a:custGeom>
            <a:solidFill>
              <a:srgbClr val="B5657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1489"/>
              <a:ext cx="558800" cy="366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128466" y="3865241"/>
            <a:ext cx="1796823" cy="2090849"/>
            <a:chOff x="0" y="0"/>
            <a:chExt cx="6985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614220" y="3469298"/>
            <a:ext cx="2477350" cy="2882735"/>
            <a:chOff x="0" y="0"/>
            <a:chExt cx="6985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E56B6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392043" y="6003715"/>
            <a:ext cx="921703" cy="779730"/>
            <a:chOff x="0" y="0"/>
            <a:chExt cx="812800" cy="68760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687601"/>
            </a:xfrm>
            <a:custGeom>
              <a:avLst/>
              <a:gdLst/>
              <a:ahLst/>
              <a:cxnLst/>
              <a:rect r="r" b="b" t="t" l="l"/>
              <a:pathLst>
                <a:path h="687601" w="812800">
                  <a:moveTo>
                    <a:pt x="406400" y="687601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687601"/>
                  </a:lnTo>
                  <a:close/>
                </a:path>
              </a:pathLst>
            </a:custGeom>
            <a:solidFill>
              <a:srgbClr val="E56B6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27000" y="1489"/>
              <a:ext cx="558800" cy="366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954483" y="3865241"/>
            <a:ext cx="1796823" cy="2090849"/>
            <a:chOff x="0" y="0"/>
            <a:chExt cx="6985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198792" y="2829615"/>
            <a:ext cx="352100" cy="352100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507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024810" y="2829615"/>
            <a:ext cx="352100" cy="352100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597A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850827" y="2829615"/>
            <a:ext cx="352100" cy="352100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6576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676845" y="2829615"/>
            <a:ext cx="352100" cy="352100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6B6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2772596" y="4458228"/>
            <a:ext cx="1204493" cy="904875"/>
          </a:xfrm>
          <a:custGeom>
            <a:avLst/>
            <a:gdLst/>
            <a:ahLst/>
            <a:cxnLst/>
            <a:rect r="r" b="b" t="t" l="l"/>
            <a:pathLst>
              <a:path h="904875" w="1204493">
                <a:moveTo>
                  <a:pt x="0" y="0"/>
                </a:moveTo>
                <a:lnTo>
                  <a:pt x="1204492" y="0"/>
                </a:lnTo>
                <a:lnTo>
                  <a:pt x="1204492" y="904875"/>
                </a:lnTo>
                <a:lnTo>
                  <a:pt x="0" y="9048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6665078" y="4339165"/>
            <a:ext cx="1071562" cy="1143000"/>
          </a:xfrm>
          <a:custGeom>
            <a:avLst/>
            <a:gdLst/>
            <a:ahLst/>
            <a:cxnLst/>
            <a:rect r="r" b="b" t="t" l="l"/>
            <a:pathLst>
              <a:path h="1143000" w="1071562">
                <a:moveTo>
                  <a:pt x="0" y="0"/>
                </a:moveTo>
                <a:lnTo>
                  <a:pt x="1071563" y="0"/>
                </a:lnTo>
                <a:lnTo>
                  <a:pt x="1071563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0521814" y="4282015"/>
            <a:ext cx="1010126" cy="1143000"/>
          </a:xfrm>
          <a:custGeom>
            <a:avLst/>
            <a:gdLst/>
            <a:ahLst/>
            <a:cxnLst/>
            <a:rect r="r" b="b" t="t" l="l"/>
            <a:pathLst>
              <a:path h="1143000" w="1010126">
                <a:moveTo>
                  <a:pt x="0" y="0"/>
                </a:moveTo>
                <a:lnTo>
                  <a:pt x="1010126" y="0"/>
                </a:lnTo>
                <a:lnTo>
                  <a:pt x="1010126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4219007" y="4458228"/>
            <a:ext cx="1267776" cy="904875"/>
          </a:xfrm>
          <a:custGeom>
            <a:avLst/>
            <a:gdLst/>
            <a:ahLst/>
            <a:cxnLst/>
            <a:rect r="r" b="b" t="t" l="l"/>
            <a:pathLst>
              <a:path h="904875" w="1267776">
                <a:moveTo>
                  <a:pt x="0" y="0"/>
                </a:moveTo>
                <a:lnTo>
                  <a:pt x="1267776" y="0"/>
                </a:lnTo>
                <a:lnTo>
                  <a:pt x="1267776" y="904875"/>
                </a:lnTo>
                <a:lnTo>
                  <a:pt x="0" y="9048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3311274" y="1076325"/>
            <a:ext cx="11665452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KOMPONEN KURIKULUM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828157" y="8328660"/>
            <a:ext cx="309337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Sasaran atau capaian yang ingin dicapai melalui proses pendidikan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596251" y="8328660"/>
            <a:ext cx="3209218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Hal-hal yang dipel</a:t>
            </a: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ajari oleh siswa, termasuk fakta, konsep, keterampilan, dan nilai.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828157" y="7466969"/>
            <a:ext cx="309337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TUJUAN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596251" y="7466969"/>
            <a:ext cx="320921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ISI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700819" y="8328660"/>
            <a:ext cx="2652117" cy="148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·Cara atau s</a:t>
            </a: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trategi guru menyampaikan materi dan membimbing siswa agar belajar efektif.</a:t>
            </a:r>
          </a:p>
          <a:p>
            <a:pPr algn="ctr">
              <a:lnSpc>
                <a:spcPts val="2340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9700819" y="7466969"/>
            <a:ext cx="26521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STRATEGI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245947" y="8328660"/>
            <a:ext cx="3213896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1800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roses menilai apakah tujuan pendidikan telah tercapai.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245947" y="7466969"/>
            <a:ext cx="321389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PENILAIAN</a:t>
            </a:r>
          </a:p>
        </p:txBody>
      </p:sp>
      <p:sp>
        <p:nvSpPr>
          <p:cNvPr name="Freeform 69" id="69"/>
          <p:cNvSpPr/>
          <p:nvPr/>
        </p:nvSpPr>
        <p:spPr>
          <a:xfrm flipH="false" flipV="false" rot="0">
            <a:off x="1180723" y="1132027"/>
            <a:ext cx="788911" cy="645013"/>
          </a:xfrm>
          <a:custGeom>
            <a:avLst/>
            <a:gdLst/>
            <a:ahLst/>
            <a:cxnLst/>
            <a:rect r="r" b="b" t="t" l="l"/>
            <a:pathLst>
              <a:path h="645013" w="788911">
                <a:moveTo>
                  <a:pt x="0" y="0"/>
                </a:moveTo>
                <a:lnTo>
                  <a:pt x="788911" y="0"/>
                </a:lnTo>
                <a:lnTo>
                  <a:pt x="788911" y="645014"/>
                </a:lnTo>
                <a:lnTo>
                  <a:pt x="0" y="6450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2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-104399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0" id="70"/>
          <p:cNvSpPr/>
          <p:nvPr/>
        </p:nvSpPr>
        <p:spPr>
          <a:xfrm flipH="false" flipV="false" rot="0">
            <a:off x="16467270" y="1132027"/>
            <a:ext cx="788911" cy="645013"/>
          </a:xfrm>
          <a:custGeom>
            <a:avLst/>
            <a:gdLst/>
            <a:ahLst/>
            <a:cxnLst/>
            <a:rect r="r" b="b" t="t" l="l"/>
            <a:pathLst>
              <a:path h="645013" w="788911">
                <a:moveTo>
                  <a:pt x="0" y="0"/>
                </a:moveTo>
                <a:lnTo>
                  <a:pt x="788911" y="0"/>
                </a:lnTo>
                <a:lnTo>
                  <a:pt x="788911" y="645014"/>
                </a:lnTo>
                <a:lnTo>
                  <a:pt x="0" y="6450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2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-104399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1" id="71"/>
          <p:cNvSpPr/>
          <p:nvPr/>
        </p:nvSpPr>
        <p:spPr>
          <a:xfrm flipH="false" flipV="false" rot="0">
            <a:off x="17026806" y="9258300"/>
            <a:ext cx="1943694" cy="1975801"/>
          </a:xfrm>
          <a:custGeom>
            <a:avLst/>
            <a:gdLst/>
            <a:ahLst/>
            <a:cxnLst/>
            <a:rect r="r" b="b" t="t" l="l"/>
            <a:pathLst>
              <a:path h="1975801" w="1943694">
                <a:moveTo>
                  <a:pt x="0" y="0"/>
                </a:moveTo>
                <a:lnTo>
                  <a:pt x="1943695" y="0"/>
                </a:lnTo>
                <a:lnTo>
                  <a:pt x="1943695" y="1975801"/>
                </a:lnTo>
                <a:lnTo>
                  <a:pt x="0" y="197580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6999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2" id="72"/>
          <p:cNvSpPr/>
          <p:nvPr/>
        </p:nvSpPr>
        <p:spPr>
          <a:xfrm flipH="false" flipV="false" rot="0">
            <a:off x="-2022201" y="7796197"/>
            <a:ext cx="2925635" cy="3291854"/>
          </a:xfrm>
          <a:custGeom>
            <a:avLst/>
            <a:gdLst/>
            <a:ahLst/>
            <a:cxnLst/>
            <a:rect r="r" b="b" t="t" l="l"/>
            <a:pathLst>
              <a:path h="3291854" w="2925635">
                <a:moveTo>
                  <a:pt x="0" y="0"/>
                </a:moveTo>
                <a:lnTo>
                  <a:pt x="2925635" y="0"/>
                </a:lnTo>
                <a:lnTo>
                  <a:pt x="2925635" y="3291854"/>
                </a:lnTo>
                <a:lnTo>
                  <a:pt x="0" y="329185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6999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638" r="0" b="-7563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43015" y="1888290"/>
            <a:ext cx="6842864" cy="684286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47675" cap="sq">
              <a:solidFill>
                <a:srgbClr val="8E93A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20974" y="2585063"/>
            <a:ext cx="1940133" cy="194013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5070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20974" y="6134720"/>
            <a:ext cx="1940133" cy="194013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597A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05800" y="2585063"/>
            <a:ext cx="1940133" cy="194013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6576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05800" y="6134720"/>
            <a:ext cx="1940133" cy="194013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6B6F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791364" y="2952483"/>
            <a:ext cx="1199353" cy="1199353"/>
          </a:xfrm>
          <a:custGeom>
            <a:avLst/>
            <a:gdLst/>
            <a:ahLst/>
            <a:cxnLst/>
            <a:rect r="r" b="b" t="t" l="l"/>
            <a:pathLst>
              <a:path h="1199353" w="1199353">
                <a:moveTo>
                  <a:pt x="0" y="0"/>
                </a:moveTo>
                <a:lnTo>
                  <a:pt x="1199353" y="0"/>
                </a:lnTo>
                <a:lnTo>
                  <a:pt x="1199353" y="1199353"/>
                </a:lnTo>
                <a:lnTo>
                  <a:pt x="0" y="11993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476190" y="2952483"/>
            <a:ext cx="1199353" cy="1199353"/>
          </a:xfrm>
          <a:custGeom>
            <a:avLst/>
            <a:gdLst/>
            <a:ahLst/>
            <a:cxnLst/>
            <a:rect r="r" b="b" t="t" l="l"/>
            <a:pathLst>
              <a:path h="1199353" w="1199353">
                <a:moveTo>
                  <a:pt x="0" y="0"/>
                </a:moveTo>
                <a:lnTo>
                  <a:pt x="1199352" y="0"/>
                </a:lnTo>
                <a:lnTo>
                  <a:pt x="1199352" y="1199353"/>
                </a:lnTo>
                <a:lnTo>
                  <a:pt x="0" y="1199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0536251" y="6505110"/>
            <a:ext cx="1199353" cy="1199353"/>
          </a:xfrm>
          <a:custGeom>
            <a:avLst/>
            <a:gdLst/>
            <a:ahLst/>
            <a:cxnLst/>
            <a:rect r="r" b="b" t="t" l="l"/>
            <a:pathLst>
              <a:path h="1199353" w="1199353">
                <a:moveTo>
                  <a:pt x="0" y="0"/>
                </a:moveTo>
                <a:lnTo>
                  <a:pt x="1199353" y="0"/>
                </a:lnTo>
                <a:lnTo>
                  <a:pt x="1199353" y="1199353"/>
                </a:lnTo>
                <a:lnTo>
                  <a:pt x="0" y="11993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6891310" y="6624063"/>
            <a:ext cx="999461" cy="999461"/>
          </a:xfrm>
          <a:custGeom>
            <a:avLst/>
            <a:gdLst/>
            <a:ahLst/>
            <a:cxnLst/>
            <a:rect r="r" b="b" t="t" l="l"/>
            <a:pathLst>
              <a:path h="999461" w="999461">
                <a:moveTo>
                  <a:pt x="0" y="0"/>
                </a:moveTo>
                <a:lnTo>
                  <a:pt x="999461" y="0"/>
                </a:lnTo>
                <a:lnTo>
                  <a:pt x="999461" y="999461"/>
                </a:lnTo>
                <a:lnTo>
                  <a:pt x="0" y="9994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2" id="22"/>
          <p:cNvSpPr txBox="true"/>
          <p:nvPr/>
        </p:nvSpPr>
        <p:spPr>
          <a:xfrm rot="0">
            <a:off x="2421993" y="587934"/>
            <a:ext cx="13236399" cy="74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b="true" sz="42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KURIKULUM 1984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66629" y="2363814"/>
            <a:ext cx="4797950" cy="2754180"/>
            <a:chOff x="0" y="0"/>
            <a:chExt cx="6397266" cy="3672239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268064" cy="1268064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121033" y="0"/>
                    </a:moveTo>
                    <a:lnTo>
                      <a:pt x="691767" y="0"/>
                    </a:lnTo>
                    <a:cubicBezTo>
                      <a:pt x="723867" y="0"/>
                      <a:pt x="754652" y="12752"/>
                      <a:pt x="777350" y="35450"/>
                    </a:cubicBezTo>
                    <a:cubicBezTo>
                      <a:pt x="800048" y="58148"/>
                      <a:pt x="812800" y="88933"/>
                      <a:pt x="812800" y="121033"/>
                    </a:cubicBezTo>
                    <a:lnTo>
                      <a:pt x="812800" y="691767"/>
                    </a:lnTo>
                    <a:cubicBezTo>
                      <a:pt x="812800" y="723867"/>
                      <a:pt x="800048" y="754652"/>
                      <a:pt x="777350" y="777350"/>
                    </a:cubicBezTo>
                    <a:cubicBezTo>
                      <a:pt x="754652" y="800048"/>
                      <a:pt x="723867" y="812800"/>
                      <a:pt x="691767" y="812800"/>
                    </a:cubicBezTo>
                    <a:lnTo>
                      <a:pt x="121033" y="812800"/>
                    </a:lnTo>
                    <a:cubicBezTo>
                      <a:pt x="88933" y="812800"/>
                      <a:pt x="58148" y="800048"/>
                      <a:pt x="35450" y="777350"/>
                    </a:cubicBezTo>
                    <a:cubicBezTo>
                      <a:pt x="12752" y="754652"/>
                      <a:pt x="0" y="723867"/>
                      <a:pt x="0" y="691767"/>
                    </a:cubicBezTo>
                    <a:lnTo>
                      <a:pt x="0" y="121033"/>
                    </a:lnTo>
                    <a:cubicBezTo>
                      <a:pt x="0" y="88933"/>
                      <a:pt x="12752" y="58148"/>
                      <a:pt x="35450" y="35450"/>
                    </a:cubicBezTo>
                    <a:cubicBezTo>
                      <a:pt x="58148" y="12752"/>
                      <a:pt x="88933" y="0"/>
                      <a:pt x="121033" y="0"/>
                    </a:cubicBezTo>
                    <a:close/>
                  </a:path>
                </a:pathLst>
              </a:custGeom>
              <a:solidFill>
                <a:srgbClr val="355070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28421" y="238005"/>
              <a:ext cx="1011221" cy="715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07"/>
                </a:lnSpc>
              </a:pPr>
              <a:r>
                <a:rPr lang="en-US" sz="3147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708167" y="243672"/>
              <a:ext cx="4689099" cy="515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1"/>
                </a:lnSpc>
              </a:pPr>
              <a:r>
                <a:rPr lang="en-US" sz="2518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Tujuan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708167" y="1025601"/>
              <a:ext cx="4689099" cy="26466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4"/>
                </a:lnSpc>
              </a:pPr>
              <a:r>
                <a:rPr lang="en-US" sz="2288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Kurikulum 1984 bertujuan meningkatkan kualitas proses pembelajaran dengan menekankan pada keaktifan peserta didik. 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585879" y="2363814"/>
            <a:ext cx="4729700" cy="3554248"/>
            <a:chOff x="0" y="0"/>
            <a:chExt cx="6306266" cy="4738997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5038203" y="0"/>
              <a:ext cx="1268064" cy="1268064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121033" y="0"/>
                    </a:moveTo>
                    <a:lnTo>
                      <a:pt x="691767" y="0"/>
                    </a:lnTo>
                    <a:cubicBezTo>
                      <a:pt x="723867" y="0"/>
                      <a:pt x="754652" y="12752"/>
                      <a:pt x="777350" y="35450"/>
                    </a:cubicBezTo>
                    <a:cubicBezTo>
                      <a:pt x="800048" y="58148"/>
                      <a:pt x="812800" y="88933"/>
                      <a:pt x="812800" y="121033"/>
                    </a:cubicBezTo>
                    <a:lnTo>
                      <a:pt x="812800" y="691767"/>
                    </a:lnTo>
                    <a:cubicBezTo>
                      <a:pt x="812800" y="723867"/>
                      <a:pt x="800048" y="754652"/>
                      <a:pt x="777350" y="777350"/>
                    </a:cubicBezTo>
                    <a:cubicBezTo>
                      <a:pt x="754652" y="800048"/>
                      <a:pt x="723867" y="812800"/>
                      <a:pt x="691767" y="812800"/>
                    </a:cubicBezTo>
                    <a:lnTo>
                      <a:pt x="121033" y="812800"/>
                    </a:lnTo>
                    <a:cubicBezTo>
                      <a:pt x="88933" y="812800"/>
                      <a:pt x="58148" y="800048"/>
                      <a:pt x="35450" y="777350"/>
                    </a:cubicBezTo>
                    <a:cubicBezTo>
                      <a:pt x="12752" y="754652"/>
                      <a:pt x="0" y="723867"/>
                      <a:pt x="0" y="691767"/>
                    </a:cubicBezTo>
                    <a:lnTo>
                      <a:pt x="0" y="121033"/>
                    </a:lnTo>
                    <a:cubicBezTo>
                      <a:pt x="0" y="88933"/>
                      <a:pt x="12752" y="58148"/>
                      <a:pt x="35450" y="35450"/>
                    </a:cubicBezTo>
                    <a:cubicBezTo>
                      <a:pt x="58148" y="12752"/>
                      <a:pt x="88933" y="0"/>
                      <a:pt x="121033" y="0"/>
                    </a:cubicBezTo>
                    <a:close/>
                  </a:path>
                </a:pathLst>
              </a:custGeom>
              <a:solidFill>
                <a:srgbClr val="B56576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5166624" y="238005"/>
              <a:ext cx="1011221" cy="715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07"/>
                </a:lnSpc>
              </a:pPr>
              <a:r>
                <a:rPr lang="en-US" sz="3147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430967"/>
              <a:ext cx="4689099" cy="515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021"/>
                </a:lnSpc>
              </a:pPr>
              <a:r>
                <a:rPr lang="en-US" sz="2518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Strategi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18216" y="1025601"/>
              <a:ext cx="4689099" cy="37133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05"/>
                </a:lnSpc>
              </a:pPr>
              <a:r>
                <a:rPr lang="en-US" sz="228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Strategi pembe</a:t>
              </a:r>
              <a:r>
                <a:rPr lang="en-US" sz="228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lajaran menggunakan pendekatan CBSA (Cara Belajar Siswa Aktif) atau Student Active Learning, dengan siswa sebagai subjek belajar dan guru sebagai fasilitator.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66629" y="6184056"/>
            <a:ext cx="4797950" cy="2413505"/>
            <a:chOff x="0" y="0"/>
            <a:chExt cx="6397266" cy="321800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268064" cy="1268064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121033" y="0"/>
                    </a:moveTo>
                    <a:lnTo>
                      <a:pt x="691767" y="0"/>
                    </a:lnTo>
                    <a:cubicBezTo>
                      <a:pt x="723867" y="0"/>
                      <a:pt x="754652" y="12752"/>
                      <a:pt x="777350" y="35450"/>
                    </a:cubicBezTo>
                    <a:cubicBezTo>
                      <a:pt x="800048" y="58148"/>
                      <a:pt x="812800" y="88933"/>
                      <a:pt x="812800" y="121033"/>
                    </a:cubicBezTo>
                    <a:lnTo>
                      <a:pt x="812800" y="691767"/>
                    </a:lnTo>
                    <a:cubicBezTo>
                      <a:pt x="812800" y="723867"/>
                      <a:pt x="800048" y="754652"/>
                      <a:pt x="777350" y="777350"/>
                    </a:cubicBezTo>
                    <a:cubicBezTo>
                      <a:pt x="754652" y="800048"/>
                      <a:pt x="723867" y="812800"/>
                      <a:pt x="691767" y="812800"/>
                    </a:cubicBezTo>
                    <a:lnTo>
                      <a:pt x="121033" y="812800"/>
                    </a:lnTo>
                    <a:cubicBezTo>
                      <a:pt x="88933" y="812800"/>
                      <a:pt x="58148" y="800048"/>
                      <a:pt x="35450" y="777350"/>
                    </a:cubicBezTo>
                    <a:cubicBezTo>
                      <a:pt x="12752" y="754652"/>
                      <a:pt x="0" y="723867"/>
                      <a:pt x="0" y="691767"/>
                    </a:cubicBezTo>
                    <a:lnTo>
                      <a:pt x="0" y="121033"/>
                    </a:lnTo>
                    <a:cubicBezTo>
                      <a:pt x="0" y="88933"/>
                      <a:pt x="12752" y="58148"/>
                      <a:pt x="35450" y="35450"/>
                    </a:cubicBezTo>
                    <a:cubicBezTo>
                      <a:pt x="58148" y="12752"/>
                      <a:pt x="88933" y="0"/>
                      <a:pt x="121033" y="0"/>
                    </a:cubicBezTo>
                    <a:close/>
                  </a:path>
                </a:pathLst>
              </a:custGeom>
              <a:solidFill>
                <a:srgbClr val="6D597A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128421" y="238005"/>
              <a:ext cx="1011221" cy="715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07"/>
                </a:lnSpc>
              </a:pPr>
              <a:r>
                <a:rPr lang="en-US" sz="3147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708167" y="-9525"/>
              <a:ext cx="4689099" cy="515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1"/>
                </a:lnSpc>
              </a:pPr>
              <a:r>
                <a:rPr lang="en-US" sz="2518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Isi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708167" y="571411"/>
              <a:ext cx="4689099" cy="264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5"/>
                </a:lnSpc>
              </a:pPr>
              <a:r>
                <a:rPr lang="en-US" sz="228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Isi kurikulum disusun berdasark</a:t>
              </a:r>
              <a:r>
                <a:rPr lang="en-US" sz="228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an struktur mata pelajaran yang mendukung pengembangan keterampilan proses. 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521946" y="6184056"/>
            <a:ext cx="4737354" cy="2607942"/>
            <a:chOff x="0" y="0"/>
            <a:chExt cx="6316472" cy="3477256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5048408" y="0"/>
              <a:ext cx="1268064" cy="1268064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121033" y="0"/>
                    </a:moveTo>
                    <a:lnTo>
                      <a:pt x="691767" y="0"/>
                    </a:lnTo>
                    <a:cubicBezTo>
                      <a:pt x="723867" y="0"/>
                      <a:pt x="754652" y="12752"/>
                      <a:pt x="777350" y="35450"/>
                    </a:cubicBezTo>
                    <a:cubicBezTo>
                      <a:pt x="800048" y="58148"/>
                      <a:pt x="812800" y="88933"/>
                      <a:pt x="812800" y="121033"/>
                    </a:cubicBezTo>
                    <a:lnTo>
                      <a:pt x="812800" y="691767"/>
                    </a:lnTo>
                    <a:cubicBezTo>
                      <a:pt x="812800" y="723867"/>
                      <a:pt x="800048" y="754652"/>
                      <a:pt x="777350" y="777350"/>
                    </a:cubicBezTo>
                    <a:cubicBezTo>
                      <a:pt x="754652" y="800048"/>
                      <a:pt x="723867" y="812800"/>
                      <a:pt x="691767" y="812800"/>
                    </a:cubicBezTo>
                    <a:lnTo>
                      <a:pt x="121033" y="812800"/>
                    </a:lnTo>
                    <a:cubicBezTo>
                      <a:pt x="88933" y="812800"/>
                      <a:pt x="58148" y="800048"/>
                      <a:pt x="35450" y="777350"/>
                    </a:cubicBezTo>
                    <a:cubicBezTo>
                      <a:pt x="12752" y="754652"/>
                      <a:pt x="0" y="723867"/>
                      <a:pt x="0" y="691767"/>
                    </a:cubicBezTo>
                    <a:lnTo>
                      <a:pt x="0" y="121033"/>
                    </a:lnTo>
                    <a:cubicBezTo>
                      <a:pt x="0" y="88933"/>
                      <a:pt x="12752" y="58148"/>
                      <a:pt x="35450" y="35450"/>
                    </a:cubicBezTo>
                    <a:cubicBezTo>
                      <a:pt x="58148" y="12752"/>
                      <a:pt x="88933" y="0"/>
                      <a:pt x="121033" y="0"/>
                    </a:cubicBezTo>
                    <a:close/>
                  </a:path>
                </a:pathLst>
              </a:custGeom>
              <a:solidFill>
                <a:srgbClr val="E56B6F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5176829" y="238005"/>
              <a:ext cx="1011221" cy="715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07"/>
                </a:lnSpc>
              </a:pPr>
              <a:r>
                <a:rPr lang="en-US" sz="3147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0" y="232193"/>
              <a:ext cx="4689099" cy="515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021"/>
                </a:lnSpc>
              </a:pPr>
              <a:r>
                <a:rPr lang="en-US" sz="2518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Penilaian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4514" y="830661"/>
              <a:ext cx="4689099" cy="264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05"/>
                </a:lnSpc>
              </a:pPr>
              <a:r>
                <a:rPr lang="en-US" sz="228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Peni</a:t>
              </a:r>
              <a:r>
                <a:rPr lang="en-US" sz="228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laian dalam Kurikulum 1984 tidak hanya menekankan hasil akhir, tetapi juga memperhatikan proses belajar siswa. 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7423849">
            <a:off x="-1362362" y="-178833"/>
            <a:ext cx="1936152" cy="1988346"/>
          </a:xfrm>
          <a:custGeom>
            <a:avLst/>
            <a:gdLst/>
            <a:ahLst/>
            <a:cxnLst/>
            <a:rect r="r" b="b" t="t" l="l"/>
            <a:pathLst>
              <a:path h="1988346" w="1936152">
                <a:moveTo>
                  <a:pt x="0" y="0"/>
                </a:moveTo>
                <a:lnTo>
                  <a:pt x="1936152" y="0"/>
                </a:lnTo>
                <a:lnTo>
                  <a:pt x="1936152" y="1988346"/>
                </a:lnTo>
                <a:lnTo>
                  <a:pt x="0" y="19883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999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17297400" y="-579922"/>
            <a:ext cx="1841460" cy="1864769"/>
          </a:xfrm>
          <a:custGeom>
            <a:avLst/>
            <a:gdLst/>
            <a:ahLst/>
            <a:cxnLst/>
            <a:rect r="r" b="b" t="t" l="l"/>
            <a:pathLst>
              <a:path h="1864769" w="1841460">
                <a:moveTo>
                  <a:pt x="0" y="0"/>
                </a:moveTo>
                <a:lnTo>
                  <a:pt x="1841460" y="0"/>
                </a:lnTo>
                <a:lnTo>
                  <a:pt x="1841460" y="1864770"/>
                </a:lnTo>
                <a:lnTo>
                  <a:pt x="0" y="18647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6999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16293851" y="8791999"/>
            <a:ext cx="3865707" cy="2957266"/>
          </a:xfrm>
          <a:custGeom>
            <a:avLst/>
            <a:gdLst/>
            <a:ahLst/>
            <a:cxnLst/>
            <a:rect r="r" b="b" t="t" l="l"/>
            <a:pathLst>
              <a:path h="2957266" w="3865707">
                <a:moveTo>
                  <a:pt x="0" y="0"/>
                </a:moveTo>
                <a:lnTo>
                  <a:pt x="3865706" y="0"/>
                </a:lnTo>
                <a:lnTo>
                  <a:pt x="3865706" y="2957265"/>
                </a:lnTo>
                <a:lnTo>
                  <a:pt x="0" y="295726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9999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4" id="54"/>
          <p:cNvSpPr/>
          <p:nvPr/>
        </p:nvSpPr>
        <p:spPr>
          <a:xfrm flipH="false" flipV="false" rot="2521333">
            <a:off x="-1348164" y="8297049"/>
            <a:ext cx="3887300" cy="2468435"/>
          </a:xfrm>
          <a:custGeom>
            <a:avLst/>
            <a:gdLst/>
            <a:ahLst/>
            <a:cxnLst/>
            <a:rect r="r" b="b" t="t" l="l"/>
            <a:pathLst>
              <a:path h="2468435" w="3887300">
                <a:moveTo>
                  <a:pt x="0" y="0"/>
                </a:moveTo>
                <a:lnTo>
                  <a:pt x="3887300" y="0"/>
                </a:lnTo>
                <a:lnTo>
                  <a:pt x="3887300" y="2468435"/>
                </a:lnTo>
                <a:lnTo>
                  <a:pt x="0" y="246843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19999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5" id="55"/>
          <p:cNvSpPr/>
          <p:nvPr/>
        </p:nvSpPr>
        <p:spPr>
          <a:xfrm flipH="false" flipV="false" rot="0">
            <a:off x="2235152" y="767753"/>
            <a:ext cx="788911" cy="645013"/>
          </a:xfrm>
          <a:custGeom>
            <a:avLst/>
            <a:gdLst/>
            <a:ahLst/>
            <a:cxnLst/>
            <a:rect r="r" b="b" t="t" l="l"/>
            <a:pathLst>
              <a:path h="645013" w="788911">
                <a:moveTo>
                  <a:pt x="0" y="0"/>
                </a:moveTo>
                <a:lnTo>
                  <a:pt x="788911" y="0"/>
                </a:lnTo>
                <a:lnTo>
                  <a:pt x="788911" y="645013"/>
                </a:lnTo>
                <a:lnTo>
                  <a:pt x="0" y="64501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alphaModFix amt="25000"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-104399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6" id="56"/>
          <p:cNvSpPr/>
          <p:nvPr/>
        </p:nvSpPr>
        <p:spPr>
          <a:xfrm flipH="false" flipV="false" rot="0">
            <a:off x="15263937" y="767753"/>
            <a:ext cx="788911" cy="645013"/>
          </a:xfrm>
          <a:custGeom>
            <a:avLst/>
            <a:gdLst/>
            <a:ahLst/>
            <a:cxnLst/>
            <a:rect r="r" b="b" t="t" l="l"/>
            <a:pathLst>
              <a:path h="645013" w="788911">
                <a:moveTo>
                  <a:pt x="0" y="0"/>
                </a:moveTo>
                <a:lnTo>
                  <a:pt x="788911" y="0"/>
                </a:lnTo>
                <a:lnTo>
                  <a:pt x="788911" y="645013"/>
                </a:lnTo>
                <a:lnTo>
                  <a:pt x="0" y="64501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alphaModFix amt="25000"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-104399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638" r="0" b="-7563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0921" y="2474685"/>
            <a:ext cx="7555468" cy="3233378"/>
            <a:chOff x="0" y="0"/>
            <a:chExt cx="3321347" cy="14213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21348" cy="1421377"/>
            </a:xfrm>
            <a:custGeom>
              <a:avLst/>
              <a:gdLst/>
              <a:ahLst/>
              <a:cxnLst/>
              <a:rect r="r" b="b" t="t" l="l"/>
              <a:pathLst>
                <a:path h="1421377" w="3321348">
                  <a:moveTo>
                    <a:pt x="0" y="0"/>
                  </a:moveTo>
                  <a:lnTo>
                    <a:pt x="3321348" y="0"/>
                  </a:lnTo>
                  <a:lnTo>
                    <a:pt x="3321348" y="1421377"/>
                  </a:lnTo>
                  <a:lnTo>
                    <a:pt x="0" y="14213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5507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321347" cy="1469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95925" y="6202740"/>
            <a:ext cx="7555468" cy="3528653"/>
            <a:chOff x="0" y="0"/>
            <a:chExt cx="3321347" cy="15511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21348" cy="1551179"/>
            </a:xfrm>
            <a:custGeom>
              <a:avLst/>
              <a:gdLst/>
              <a:ahLst/>
              <a:cxnLst/>
              <a:rect r="r" b="b" t="t" l="l"/>
              <a:pathLst>
                <a:path h="1551179" w="3321348">
                  <a:moveTo>
                    <a:pt x="0" y="0"/>
                  </a:moveTo>
                  <a:lnTo>
                    <a:pt x="3321348" y="0"/>
                  </a:lnTo>
                  <a:lnTo>
                    <a:pt x="3321348" y="1551179"/>
                  </a:lnTo>
                  <a:lnTo>
                    <a:pt x="0" y="15511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5507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321347" cy="1598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09455" y="6136688"/>
            <a:ext cx="7555468" cy="3594705"/>
            <a:chOff x="0" y="0"/>
            <a:chExt cx="3321347" cy="15802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21348" cy="1580215"/>
            </a:xfrm>
            <a:custGeom>
              <a:avLst/>
              <a:gdLst/>
              <a:ahLst/>
              <a:cxnLst/>
              <a:rect r="r" b="b" t="t" l="l"/>
              <a:pathLst>
                <a:path h="1580215" w="3321348">
                  <a:moveTo>
                    <a:pt x="0" y="0"/>
                  </a:moveTo>
                  <a:lnTo>
                    <a:pt x="3321348" y="0"/>
                  </a:lnTo>
                  <a:lnTo>
                    <a:pt x="3321348" y="1580215"/>
                  </a:lnTo>
                  <a:lnTo>
                    <a:pt x="0" y="15802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B56576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321347" cy="1627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706424" y="2474685"/>
            <a:ext cx="289939" cy="2051655"/>
            <a:chOff x="0" y="0"/>
            <a:chExt cx="127456" cy="9018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456" cy="901898"/>
            </a:xfrm>
            <a:custGeom>
              <a:avLst/>
              <a:gdLst/>
              <a:ahLst/>
              <a:cxnLst/>
              <a:rect r="r" b="b" t="t" l="l"/>
              <a:pathLst>
                <a:path h="901898" w="127456">
                  <a:moveTo>
                    <a:pt x="0" y="0"/>
                  </a:moveTo>
                  <a:lnTo>
                    <a:pt x="127456" y="0"/>
                  </a:lnTo>
                  <a:lnTo>
                    <a:pt x="127456" y="901898"/>
                  </a:lnTo>
                  <a:lnTo>
                    <a:pt x="0" y="901898"/>
                  </a:lnTo>
                  <a:close/>
                </a:path>
              </a:pathLst>
            </a:custGeom>
            <a:solidFill>
              <a:srgbClr val="355070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7456" cy="949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0800000">
            <a:off x="9491611" y="2474685"/>
            <a:ext cx="7555468" cy="3233378"/>
            <a:chOff x="0" y="0"/>
            <a:chExt cx="3321347" cy="14213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21348" cy="1421377"/>
            </a:xfrm>
            <a:custGeom>
              <a:avLst/>
              <a:gdLst/>
              <a:ahLst/>
              <a:cxnLst/>
              <a:rect r="r" b="b" t="t" l="l"/>
              <a:pathLst>
                <a:path h="1421377" w="3321348">
                  <a:moveTo>
                    <a:pt x="0" y="0"/>
                  </a:moveTo>
                  <a:lnTo>
                    <a:pt x="3321348" y="0"/>
                  </a:lnTo>
                  <a:lnTo>
                    <a:pt x="3321348" y="1421377"/>
                  </a:lnTo>
                  <a:lnTo>
                    <a:pt x="0" y="14213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E56B6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321347" cy="1469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796389" y="6202740"/>
            <a:ext cx="289939" cy="2051655"/>
            <a:chOff x="0" y="0"/>
            <a:chExt cx="127456" cy="9018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7456" cy="901898"/>
            </a:xfrm>
            <a:custGeom>
              <a:avLst/>
              <a:gdLst/>
              <a:ahLst/>
              <a:cxnLst/>
              <a:rect r="r" b="b" t="t" l="l"/>
              <a:pathLst>
                <a:path h="901898" w="127456">
                  <a:moveTo>
                    <a:pt x="0" y="0"/>
                  </a:moveTo>
                  <a:lnTo>
                    <a:pt x="127456" y="0"/>
                  </a:lnTo>
                  <a:lnTo>
                    <a:pt x="127456" y="901898"/>
                  </a:lnTo>
                  <a:lnTo>
                    <a:pt x="0" y="901898"/>
                  </a:lnTo>
                  <a:close/>
                </a:path>
              </a:pathLst>
            </a:custGeom>
            <a:solidFill>
              <a:srgbClr val="6D597A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27456" cy="949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857127" y="6136688"/>
            <a:ext cx="289939" cy="2051655"/>
            <a:chOff x="0" y="0"/>
            <a:chExt cx="127456" cy="9018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7456" cy="901898"/>
            </a:xfrm>
            <a:custGeom>
              <a:avLst/>
              <a:gdLst/>
              <a:ahLst/>
              <a:cxnLst/>
              <a:rect r="r" b="b" t="t" l="l"/>
              <a:pathLst>
                <a:path h="901898" w="127456">
                  <a:moveTo>
                    <a:pt x="0" y="0"/>
                  </a:moveTo>
                  <a:lnTo>
                    <a:pt x="127456" y="0"/>
                  </a:lnTo>
                  <a:lnTo>
                    <a:pt x="127456" y="901898"/>
                  </a:lnTo>
                  <a:lnTo>
                    <a:pt x="0" y="901898"/>
                  </a:lnTo>
                  <a:close/>
                </a:path>
              </a:pathLst>
            </a:custGeom>
            <a:solidFill>
              <a:srgbClr val="B5657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27456" cy="949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10800000">
            <a:off x="9291638" y="2474685"/>
            <a:ext cx="289939" cy="2051655"/>
            <a:chOff x="0" y="0"/>
            <a:chExt cx="127456" cy="9018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7456" cy="901898"/>
            </a:xfrm>
            <a:custGeom>
              <a:avLst/>
              <a:gdLst/>
              <a:ahLst/>
              <a:cxnLst/>
              <a:rect r="r" b="b" t="t" l="l"/>
              <a:pathLst>
                <a:path h="901898" w="127456">
                  <a:moveTo>
                    <a:pt x="0" y="0"/>
                  </a:moveTo>
                  <a:lnTo>
                    <a:pt x="127456" y="0"/>
                  </a:lnTo>
                  <a:lnTo>
                    <a:pt x="127456" y="901898"/>
                  </a:lnTo>
                  <a:lnTo>
                    <a:pt x="0" y="901898"/>
                  </a:lnTo>
                  <a:close/>
                </a:path>
              </a:pathLst>
            </a:custGeom>
            <a:solidFill>
              <a:srgbClr val="E56B6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27456" cy="949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704205" y="2911553"/>
            <a:ext cx="1057275" cy="1143000"/>
          </a:xfrm>
          <a:custGeom>
            <a:avLst/>
            <a:gdLst/>
            <a:ahLst/>
            <a:cxnLst/>
            <a:rect r="r" b="b" t="t" l="l"/>
            <a:pathLst>
              <a:path h="1143000" w="1057275">
                <a:moveTo>
                  <a:pt x="0" y="0"/>
                </a:moveTo>
                <a:lnTo>
                  <a:pt x="1057275" y="0"/>
                </a:lnTo>
                <a:lnTo>
                  <a:pt x="105727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526505" y="2911553"/>
            <a:ext cx="1090136" cy="1143000"/>
          </a:xfrm>
          <a:custGeom>
            <a:avLst/>
            <a:gdLst/>
            <a:ahLst/>
            <a:cxnLst/>
            <a:rect r="r" b="b" t="t" l="l"/>
            <a:pathLst>
              <a:path h="1143000" w="1090136">
                <a:moveTo>
                  <a:pt x="0" y="0"/>
                </a:moveTo>
                <a:lnTo>
                  <a:pt x="1090136" y="0"/>
                </a:lnTo>
                <a:lnTo>
                  <a:pt x="1090136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9" id="29"/>
          <p:cNvSpPr txBox="true"/>
          <p:nvPr/>
        </p:nvSpPr>
        <p:spPr>
          <a:xfrm rot="0">
            <a:off x="3311274" y="1090658"/>
            <a:ext cx="11665452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KURIKULUM 1994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04205" y="3437300"/>
            <a:ext cx="6492632" cy="213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b="true">
                <a:solidFill>
                  <a:srgbClr val="000000">
                    <a:alpha val="7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Kurikulum 1994 bertujuan memberikan penguasa</a:t>
            </a:r>
            <a:r>
              <a:rPr lang="en-US" sz="1899" b="true">
                <a:solidFill>
                  <a:srgbClr val="000000">
                    <a:alpha val="7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an pengetahuan dasar yang kuat kepada peserta didik serta mempersiapkan mereka untuk melanjutkan pendidikan ke jenjang berikutnya. Kurikulum ini berusaha menyempurnakan kurikulum sebelumnya dengan menyesuaikan kebutuhan nasional dan perkembangan ilmu pengetahuan.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76876" y="3458288"/>
            <a:ext cx="6284950" cy="177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800" b="true">
                <a:solidFill>
                  <a:srgbClr val="000000">
                    <a:alpha val="7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Strat</a:t>
            </a:r>
            <a:r>
              <a:rPr lang="en-US" sz="1800" b="true">
                <a:solidFill>
                  <a:srgbClr val="000000">
                    <a:alpha val="7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egi pembelajaran masih relatif terpusat pada guru (teacher-centered), dengan penekanan pada penyampaian materi agar seluruh target kurikulum dapat tercapai. Aktivitas siswa tetap ada, tetapi tidak sekuat penekanan CBSA pada Kurikulum 1984.</a:t>
            </a:r>
          </a:p>
          <a:p>
            <a:pPr algn="just">
              <a:lnSpc>
                <a:spcPts val="234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718492" y="7199993"/>
            <a:ext cx="6658797" cy="177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000000">
                    <a:alpha val="7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Isi kurikulum 1994 tergolong padat, k</a:t>
            </a:r>
            <a:r>
              <a:rPr lang="en-US" sz="1800" b="true">
                <a:solidFill>
                  <a:srgbClr val="000000">
                    <a:alpha val="7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arena memuat banyak mata pelajaran dan materi yang harus diselesaikan dalam waktu tertentu. Selain itu, kurikulum ini mulai memperkenalkan muatan lokal sebagai upaya menyesuaikan pendidikan dengan karakteristik daerah.</a:t>
            </a:r>
          </a:p>
          <a:p>
            <a:pPr algn="l">
              <a:lnSpc>
                <a:spcPts val="234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718492" y="2902028"/>
            <a:ext cx="468762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01. Tujuan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68774" y="6506884"/>
            <a:ext cx="468762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04. Penilaian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18492" y="6506884"/>
            <a:ext cx="468762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02. Isi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02548" y="7133940"/>
            <a:ext cx="6459278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000000">
                    <a:alpha val="7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Penilai</a:t>
            </a:r>
            <a:r>
              <a:rPr lang="en-US" sz="1800" b="true">
                <a:solidFill>
                  <a:srgbClr val="000000">
                    <a:alpha val="7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an lebih menekankan pada hasil belajar dan penguasaan materi. Evaluasi dilakukan melalui ulangan dan tes tertulis untuk mengukur pencapaian tujuan pembelajaran.</a:t>
            </a:r>
          </a:p>
          <a:p>
            <a:pPr algn="l">
              <a:lnSpc>
                <a:spcPts val="2340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0076876" y="2902028"/>
            <a:ext cx="468762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03. Strat</a:t>
            </a: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egi Pembelajaran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-1219322" y="911844"/>
            <a:ext cx="2438645" cy="835236"/>
          </a:xfrm>
          <a:custGeom>
            <a:avLst/>
            <a:gdLst/>
            <a:ahLst/>
            <a:cxnLst/>
            <a:rect r="r" b="b" t="t" l="l"/>
            <a:pathLst>
              <a:path h="835236" w="2438645">
                <a:moveTo>
                  <a:pt x="0" y="0"/>
                </a:moveTo>
                <a:lnTo>
                  <a:pt x="2438644" y="0"/>
                </a:lnTo>
                <a:lnTo>
                  <a:pt x="2438644" y="835236"/>
                </a:lnTo>
                <a:lnTo>
                  <a:pt x="0" y="8352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-8100000">
            <a:off x="17546988" y="89917"/>
            <a:ext cx="1909281" cy="2154337"/>
          </a:xfrm>
          <a:custGeom>
            <a:avLst/>
            <a:gdLst/>
            <a:ahLst/>
            <a:cxnLst/>
            <a:rect r="r" b="b" t="t" l="l"/>
            <a:pathLst>
              <a:path h="2154337" w="1909281">
                <a:moveTo>
                  <a:pt x="0" y="0"/>
                </a:moveTo>
                <a:lnTo>
                  <a:pt x="1909281" y="0"/>
                </a:lnTo>
                <a:lnTo>
                  <a:pt x="1909281" y="2154337"/>
                </a:lnTo>
                <a:lnTo>
                  <a:pt x="0" y="21543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2309604" y="1132027"/>
            <a:ext cx="788911" cy="645013"/>
          </a:xfrm>
          <a:custGeom>
            <a:avLst/>
            <a:gdLst/>
            <a:ahLst/>
            <a:cxnLst/>
            <a:rect r="r" b="b" t="t" l="l"/>
            <a:pathLst>
              <a:path h="645013" w="788911">
                <a:moveTo>
                  <a:pt x="0" y="0"/>
                </a:moveTo>
                <a:lnTo>
                  <a:pt x="788911" y="0"/>
                </a:lnTo>
                <a:lnTo>
                  <a:pt x="788911" y="645014"/>
                </a:lnTo>
                <a:lnTo>
                  <a:pt x="0" y="6450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2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-104399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15338389" y="1132027"/>
            <a:ext cx="788911" cy="645013"/>
          </a:xfrm>
          <a:custGeom>
            <a:avLst/>
            <a:gdLst/>
            <a:ahLst/>
            <a:cxnLst/>
            <a:rect r="r" b="b" t="t" l="l"/>
            <a:pathLst>
              <a:path h="645013" w="788911">
                <a:moveTo>
                  <a:pt x="0" y="0"/>
                </a:moveTo>
                <a:lnTo>
                  <a:pt x="788911" y="0"/>
                </a:lnTo>
                <a:lnTo>
                  <a:pt x="788911" y="645014"/>
                </a:lnTo>
                <a:lnTo>
                  <a:pt x="0" y="6450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2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-104399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2" id="42"/>
          <p:cNvGrpSpPr/>
          <p:nvPr/>
        </p:nvGrpSpPr>
        <p:grpSpPr>
          <a:xfrm rot="-10800000">
            <a:off x="9291638" y="6136688"/>
            <a:ext cx="289939" cy="2051655"/>
            <a:chOff x="0" y="0"/>
            <a:chExt cx="127456" cy="90189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7456" cy="901898"/>
            </a:xfrm>
            <a:custGeom>
              <a:avLst/>
              <a:gdLst/>
              <a:ahLst/>
              <a:cxnLst/>
              <a:rect r="r" b="b" t="t" l="l"/>
              <a:pathLst>
                <a:path h="901898" w="127456">
                  <a:moveTo>
                    <a:pt x="0" y="0"/>
                  </a:moveTo>
                  <a:lnTo>
                    <a:pt x="127456" y="0"/>
                  </a:lnTo>
                  <a:lnTo>
                    <a:pt x="127456" y="901898"/>
                  </a:lnTo>
                  <a:lnTo>
                    <a:pt x="0" y="901898"/>
                  </a:lnTo>
                  <a:close/>
                </a:path>
              </a:pathLst>
            </a:custGeom>
            <a:solidFill>
              <a:srgbClr val="E56B6F"/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27456" cy="949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940036" y="2474685"/>
            <a:ext cx="249773" cy="2051655"/>
            <a:chOff x="0" y="0"/>
            <a:chExt cx="109799" cy="90189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799" cy="901898"/>
            </a:xfrm>
            <a:custGeom>
              <a:avLst/>
              <a:gdLst/>
              <a:ahLst/>
              <a:cxnLst/>
              <a:rect r="r" b="b" t="t" l="l"/>
              <a:pathLst>
                <a:path h="901898" w="109799">
                  <a:moveTo>
                    <a:pt x="0" y="0"/>
                  </a:moveTo>
                  <a:lnTo>
                    <a:pt x="109799" y="0"/>
                  </a:lnTo>
                  <a:lnTo>
                    <a:pt x="109799" y="901898"/>
                  </a:lnTo>
                  <a:lnTo>
                    <a:pt x="0" y="901898"/>
                  </a:lnTo>
                  <a:close/>
                </a:path>
              </a:pathLst>
            </a:custGeom>
            <a:solidFill>
              <a:srgbClr val="B56576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09799" cy="949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94436" y="2474685"/>
            <a:ext cx="249773" cy="2051655"/>
            <a:chOff x="0" y="0"/>
            <a:chExt cx="109799" cy="90189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99" cy="901898"/>
            </a:xfrm>
            <a:custGeom>
              <a:avLst/>
              <a:gdLst/>
              <a:ahLst/>
              <a:cxnLst/>
              <a:rect r="r" b="b" t="t" l="l"/>
              <a:pathLst>
                <a:path h="901898" w="109799">
                  <a:moveTo>
                    <a:pt x="0" y="0"/>
                  </a:moveTo>
                  <a:lnTo>
                    <a:pt x="109799" y="0"/>
                  </a:lnTo>
                  <a:lnTo>
                    <a:pt x="109799" y="901898"/>
                  </a:lnTo>
                  <a:lnTo>
                    <a:pt x="0" y="901898"/>
                  </a:lnTo>
                  <a:close/>
                </a:path>
              </a:pathLst>
            </a:custGeom>
            <a:solidFill>
              <a:srgbClr val="B56576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09799" cy="949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46152" y="6202740"/>
            <a:ext cx="249773" cy="2051655"/>
            <a:chOff x="0" y="0"/>
            <a:chExt cx="109799" cy="90189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99" cy="901898"/>
            </a:xfrm>
            <a:custGeom>
              <a:avLst/>
              <a:gdLst/>
              <a:ahLst/>
              <a:cxnLst/>
              <a:rect r="r" b="b" t="t" l="l"/>
              <a:pathLst>
                <a:path h="901898" w="109799">
                  <a:moveTo>
                    <a:pt x="0" y="0"/>
                  </a:moveTo>
                  <a:lnTo>
                    <a:pt x="109799" y="0"/>
                  </a:lnTo>
                  <a:lnTo>
                    <a:pt x="109799" y="901898"/>
                  </a:lnTo>
                  <a:lnTo>
                    <a:pt x="0" y="901898"/>
                  </a:lnTo>
                  <a:close/>
                </a:path>
              </a:pathLst>
            </a:custGeom>
            <a:solidFill>
              <a:srgbClr val="B56576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09799" cy="949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638" r="0" b="-7563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19322" y="911844"/>
            <a:ext cx="2438645" cy="835236"/>
          </a:xfrm>
          <a:custGeom>
            <a:avLst/>
            <a:gdLst/>
            <a:ahLst/>
            <a:cxnLst/>
            <a:rect r="r" b="b" t="t" l="l"/>
            <a:pathLst>
              <a:path h="835236" w="2438645">
                <a:moveTo>
                  <a:pt x="0" y="0"/>
                </a:moveTo>
                <a:lnTo>
                  <a:pt x="2438644" y="0"/>
                </a:lnTo>
                <a:lnTo>
                  <a:pt x="2438644" y="835236"/>
                </a:lnTo>
                <a:lnTo>
                  <a:pt x="0" y="8352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8100000">
            <a:off x="17546988" y="89917"/>
            <a:ext cx="1909281" cy="2154337"/>
          </a:xfrm>
          <a:custGeom>
            <a:avLst/>
            <a:gdLst/>
            <a:ahLst/>
            <a:cxnLst/>
            <a:rect r="r" b="b" t="t" l="l"/>
            <a:pathLst>
              <a:path h="2154337" w="1909281">
                <a:moveTo>
                  <a:pt x="0" y="0"/>
                </a:moveTo>
                <a:lnTo>
                  <a:pt x="1909281" y="0"/>
                </a:lnTo>
                <a:lnTo>
                  <a:pt x="1909281" y="2154337"/>
                </a:lnTo>
                <a:lnTo>
                  <a:pt x="0" y="21543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309604" y="1132027"/>
            <a:ext cx="788911" cy="645013"/>
          </a:xfrm>
          <a:custGeom>
            <a:avLst/>
            <a:gdLst/>
            <a:ahLst/>
            <a:cxnLst/>
            <a:rect r="r" b="b" t="t" l="l"/>
            <a:pathLst>
              <a:path h="645013" w="788911">
                <a:moveTo>
                  <a:pt x="0" y="0"/>
                </a:moveTo>
                <a:lnTo>
                  <a:pt x="788911" y="0"/>
                </a:lnTo>
                <a:lnTo>
                  <a:pt x="788911" y="645014"/>
                </a:lnTo>
                <a:lnTo>
                  <a:pt x="0" y="6450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104399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338389" y="1132027"/>
            <a:ext cx="788911" cy="645013"/>
          </a:xfrm>
          <a:custGeom>
            <a:avLst/>
            <a:gdLst/>
            <a:ahLst/>
            <a:cxnLst/>
            <a:rect r="r" b="b" t="t" l="l"/>
            <a:pathLst>
              <a:path h="645013" w="788911">
                <a:moveTo>
                  <a:pt x="0" y="0"/>
                </a:moveTo>
                <a:lnTo>
                  <a:pt x="788911" y="0"/>
                </a:lnTo>
                <a:lnTo>
                  <a:pt x="788911" y="645014"/>
                </a:lnTo>
                <a:lnTo>
                  <a:pt x="0" y="6450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104399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178637" y="2057514"/>
          <a:ext cx="13926971" cy="7105159"/>
        </p:xfrm>
        <a:graphic>
          <a:graphicData uri="http://schemas.openxmlformats.org/drawingml/2006/table">
            <a:tbl>
              <a:tblPr/>
              <a:tblGrid>
                <a:gridCol w="3035218"/>
                <a:gridCol w="5542771"/>
                <a:gridCol w="5348982"/>
              </a:tblGrid>
              <a:tr h="9922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b="true" sz="2599">
                          <a:solidFill>
                            <a:srgbClr val="F1F5FC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Komponen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5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b="true" sz="2599">
                          <a:solidFill>
                            <a:srgbClr val="F1F5FC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Kurikulum 1984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5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b="true" sz="2599">
                          <a:solidFill>
                            <a:srgbClr val="F1F5FC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Kurikulum 1994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588"/>
                    </a:solidFill>
                  </a:tcPr>
                </a:tc>
              </a:tr>
              <a:tr h="11736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F1F5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Tujuan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5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1F5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Menekankan pada proses belajar dan keaktifan siswa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5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1F5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Fokus pada penguasaan materi dan pemenuhan target kurikulum.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588"/>
                    </a:solidFill>
                  </a:tcPr>
                </a:tc>
              </a:tr>
              <a:tr h="1525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F1F5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5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1F5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Materi dirancang agar siswa dapat terlibat aktif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5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1F5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Materi lebih padat karena mencakup muatan nasional, muatan lokal, dan berbagai isu titipan masyarakat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588"/>
                    </a:solidFill>
                  </a:tcPr>
                </a:tc>
              </a:tr>
              <a:tr h="22298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F1F5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Strategi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5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1F5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Cenderung student-centered, dikarenakan posisi siswa sebagai subjek belajar melalui model Cara Belajar Siswa Aktif (CBSA) atau Student Active Learning (SAL).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5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1F5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Cenderung teacher centered dikarenakan materi yang padat dan beban belajar yang berat, sehingga strategi pembelajaran yang ideal sulit diterapkan, akibatnya guru lebih mengejar target materi.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588"/>
                    </a:solidFill>
                  </a:tcPr>
                </a:tc>
              </a:tr>
              <a:tr h="11837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F1F5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Penilaian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5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1F5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Penilaian dilakukan dengan memperhatikan proses dan hasil.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5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1F5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Lebih menitikberatkan pada hasil belajar karena materi yang sangat banyak.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588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3311274" y="1081361"/>
            <a:ext cx="11665452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PERBANDINGAN KURIKULUM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638" r="0" b="-75638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4265624" y="5488063"/>
            <a:ext cx="0" cy="4798937"/>
          </a:xfrm>
          <a:prstGeom prst="line">
            <a:avLst/>
          </a:prstGeom>
          <a:ln cap="flat" w="57150">
            <a:solidFill>
              <a:srgbClr val="8E93A9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13384" y="6510819"/>
            <a:ext cx="15945462" cy="3209859"/>
            <a:chOff x="0" y="0"/>
            <a:chExt cx="3280959" cy="6604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80959" cy="660465"/>
            </a:xfrm>
            <a:custGeom>
              <a:avLst/>
              <a:gdLst/>
              <a:ahLst/>
              <a:cxnLst/>
              <a:rect r="r" b="b" t="t" l="l"/>
              <a:pathLst>
                <a:path h="660465" w="3280959">
                  <a:moveTo>
                    <a:pt x="11379" y="0"/>
                  </a:moveTo>
                  <a:lnTo>
                    <a:pt x="3269580" y="0"/>
                  </a:lnTo>
                  <a:cubicBezTo>
                    <a:pt x="3275865" y="0"/>
                    <a:pt x="3280959" y="5095"/>
                    <a:pt x="3280959" y="11379"/>
                  </a:cubicBezTo>
                  <a:lnTo>
                    <a:pt x="3280959" y="649085"/>
                  </a:lnTo>
                  <a:cubicBezTo>
                    <a:pt x="3280959" y="655370"/>
                    <a:pt x="3275865" y="660465"/>
                    <a:pt x="3269580" y="660465"/>
                  </a:cubicBezTo>
                  <a:lnTo>
                    <a:pt x="11379" y="660465"/>
                  </a:lnTo>
                  <a:cubicBezTo>
                    <a:pt x="5095" y="660465"/>
                    <a:pt x="0" y="655370"/>
                    <a:pt x="0" y="649085"/>
                  </a:cubicBezTo>
                  <a:lnTo>
                    <a:pt x="0" y="11379"/>
                  </a:lnTo>
                  <a:cubicBezTo>
                    <a:pt x="0" y="5095"/>
                    <a:pt x="5095" y="0"/>
                    <a:pt x="11379" y="0"/>
                  </a:cubicBezTo>
                  <a:close/>
                </a:path>
              </a:pathLst>
            </a:custGeom>
            <a:solidFill>
              <a:srgbClr val="E56B6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280959" cy="708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49216" y="2438596"/>
            <a:ext cx="7491438" cy="3209859"/>
            <a:chOff x="0" y="0"/>
            <a:chExt cx="1541448" cy="6604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41448" cy="660465"/>
            </a:xfrm>
            <a:custGeom>
              <a:avLst/>
              <a:gdLst/>
              <a:ahLst/>
              <a:cxnLst/>
              <a:rect r="r" b="b" t="t" l="l"/>
              <a:pathLst>
                <a:path h="660465" w="1541448">
                  <a:moveTo>
                    <a:pt x="24221" y="0"/>
                  </a:moveTo>
                  <a:lnTo>
                    <a:pt x="1517227" y="0"/>
                  </a:lnTo>
                  <a:cubicBezTo>
                    <a:pt x="1530604" y="0"/>
                    <a:pt x="1541448" y="10844"/>
                    <a:pt x="1541448" y="24221"/>
                  </a:cubicBezTo>
                  <a:lnTo>
                    <a:pt x="1541448" y="636244"/>
                  </a:lnTo>
                  <a:cubicBezTo>
                    <a:pt x="1541448" y="649621"/>
                    <a:pt x="1530604" y="660465"/>
                    <a:pt x="1517227" y="660465"/>
                  </a:cubicBezTo>
                  <a:lnTo>
                    <a:pt x="24221" y="660465"/>
                  </a:lnTo>
                  <a:cubicBezTo>
                    <a:pt x="10844" y="660465"/>
                    <a:pt x="0" y="649621"/>
                    <a:pt x="0" y="636244"/>
                  </a:cubicBezTo>
                  <a:lnTo>
                    <a:pt x="0" y="24221"/>
                  </a:lnTo>
                  <a:cubicBezTo>
                    <a:pt x="0" y="10844"/>
                    <a:pt x="10844" y="0"/>
                    <a:pt x="24221" y="0"/>
                  </a:cubicBezTo>
                  <a:close/>
                </a:path>
              </a:pathLst>
            </a:custGeom>
            <a:solidFill>
              <a:srgbClr val="35507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541448" cy="708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03240" y="2400528"/>
            <a:ext cx="7491438" cy="3209859"/>
            <a:chOff x="0" y="0"/>
            <a:chExt cx="1541448" cy="6604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41448" cy="660465"/>
            </a:xfrm>
            <a:custGeom>
              <a:avLst/>
              <a:gdLst/>
              <a:ahLst/>
              <a:cxnLst/>
              <a:rect r="r" b="b" t="t" l="l"/>
              <a:pathLst>
                <a:path h="660465" w="1541448">
                  <a:moveTo>
                    <a:pt x="24221" y="0"/>
                  </a:moveTo>
                  <a:lnTo>
                    <a:pt x="1517227" y="0"/>
                  </a:lnTo>
                  <a:cubicBezTo>
                    <a:pt x="1530604" y="0"/>
                    <a:pt x="1541448" y="10844"/>
                    <a:pt x="1541448" y="24221"/>
                  </a:cubicBezTo>
                  <a:lnTo>
                    <a:pt x="1541448" y="636244"/>
                  </a:lnTo>
                  <a:cubicBezTo>
                    <a:pt x="1541448" y="649621"/>
                    <a:pt x="1530604" y="660465"/>
                    <a:pt x="1517227" y="660465"/>
                  </a:cubicBezTo>
                  <a:lnTo>
                    <a:pt x="24221" y="660465"/>
                  </a:lnTo>
                  <a:cubicBezTo>
                    <a:pt x="10844" y="660465"/>
                    <a:pt x="0" y="649621"/>
                    <a:pt x="0" y="636244"/>
                  </a:cubicBezTo>
                  <a:lnTo>
                    <a:pt x="0" y="24221"/>
                  </a:lnTo>
                  <a:cubicBezTo>
                    <a:pt x="0" y="10844"/>
                    <a:pt x="10844" y="0"/>
                    <a:pt x="24221" y="0"/>
                  </a:cubicBezTo>
                  <a:close/>
                </a:path>
              </a:pathLst>
            </a:custGeom>
            <a:solidFill>
              <a:srgbClr val="B5657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541448" cy="708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78753" y="2936465"/>
            <a:ext cx="1848974" cy="184897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6576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24729" y="2974532"/>
            <a:ext cx="1848974" cy="184897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5070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88897" y="7191261"/>
            <a:ext cx="1848974" cy="184897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6B6F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896778" y="3446582"/>
            <a:ext cx="904875" cy="904875"/>
          </a:xfrm>
          <a:custGeom>
            <a:avLst/>
            <a:gdLst/>
            <a:ahLst/>
            <a:cxnLst/>
            <a:rect r="r" b="b" t="t" l="l"/>
            <a:pathLst>
              <a:path h="904875" w="904875">
                <a:moveTo>
                  <a:pt x="0" y="0"/>
                </a:moveTo>
                <a:lnTo>
                  <a:pt x="904875" y="0"/>
                </a:lnTo>
                <a:lnTo>
                  <a:pt x="904875" y="904875"/>
                </a:lnTo>
                <a:lnTo>
                  <a:pt x="0" y="9048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9350803" y="3446582"/>
            <a:ext cx="904875" cy="904875"/>
          </a:xfrm>
          <a:custGeom>
            <a:avLst/>
            <a:gdLst/>
            <a:ahLst/>
            <a:cxnLst/>
            <a:rect r="r" b="b" t="t" l="l"/>
            <a:pathLst>
              <a:path h="904875" w="904875">
                <a:moveTo>
                  <a:pt x="0" y="0"/>
                </a:moveTo>
                <a:lnTo>
                  <a:pt x="904875" y="0"/>
                </a:lnTo>
                <a:lnTo>
                  <a:pt x="904875" y="904875"/>
                </a:lnTo>
                <a:lnTo>
                  <a:pt x="0" y="904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660947" y="7677598"/>
            <a:ext cx="904875" cy="904875"/>
          </a:xfrm>
          <a:custGeom>
            <a:avLst/>
            <a:gdLst/>
            <a:ahLst/>
            <a:cxnLst/>
            <a:rect r="r" b="b" t="t" l="l"/>
            <a:pathLst>
              <a:path h="904875" w="904875">
                <a:moveTo>
                  <a:pt x="0" y="0"/>
                </a:moveTo>
                <a:lnTo>
                  <a:pt x="904875" y="0"/>
                </a:lnTo>
                <a:lnTo>
                  <a:pt x="904875" y="904875"/>
                </a:lnTo>
                <a:lnTo>
                  <a:pt x="0" y="9048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7123554" y="738933"/>
            <a:ext cx="1575757" cy="2053103"/>
          </a:xfrm>
          <a:custGeom>
            <a:avLst/>
            <a:gdLst/>
            <a:ahLst/>
            <a:cxnLst/>
            <a:rect r="r" b="b" t="t" l="l"/>
            <a:pathLst>
              <a:path h="2053103" w="1575757">
                <a:moveTo>
                  <a:pt x="0" y="0"/>
                </a:moveTo>
                <a:lnTo>
                  <a:pt x="1575757" y="0"/>
                </a:lnTo>
                <a:lnTo>
                  <a:pt x="1575757" y="2053104"/>
                </a:lnTo>
                <a:lnTo>
                  <a:pt x="0" y="20531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-854499" y="474232"/>
            <a:ext cx="1708997" cy="1964364"/>
          </a:xfrm>
          <a:custGeom>
            <a:avLst/>
            <a:gdLst/>
            <a:ahLst/>
            <a:cxnLst/>
            <a:rect r="r" b="b" t="t" l="l"/>
            <a:pathLst>
              <a:path h="1964364" w="1708997">
                <a:moveTo>
                  <a:pt x="0" y="0"/>
                </a:moveTo>
                <a:lnTo>
                  <a:pt x="1708998" y="0"/>
                </a:lnTo>
                <a:lnTo>
                  <a:pt x="1708998" y="1964364"/>
                </a:lnTo>
                <a:lnTo>
                  <a:pt x="0" y="196436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999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2309604" y="1132027"/>
            <a:ext cx="788911" cy="645013"/>
          </a:xfrm>
          <a:custGeom>
            <a:avLst/>
            <a:gdLst/>
            <a:ahLst/>
            <a:cxnLst/>
            <a:rect r="r" b="b" t="t" l="l"/>
            <a:pathLst>
              <a:path h="645013" w="788911">
                <a:moveTo>
                  <a:pt x="0" y="0"/>
                </a:moveTo>
                <a:lnTo>
                  <a:pt x="788911" y="0"/>
                </a:lnTo>
                <a:lnTo>
                  <a:pt x="788911" y="645014"/>
                </a:lnTo>
                <a:lnTo>
                  <a:pt x="0" y="64501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25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-104399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15338389" y="1132027"/>
            <a:ext cx="788911" cy="645013"/>
          </a:xfrm>
          <a:custGeom>
            <a:avLst/>
            <a:gdLst/>
            <a:ahLst/>
            <a:cxnLst/>
            <a:rect r="r" b="b" t="t" l="l"/>
            <a:pathLst>
              <a:path h="645013" w="788911">
                <a:moveTo>
                  <a:pt x="0" y="0"/>
                </a:moveTo>
                <a:lnTo>
                  <a:pt x="788911" y="0"/>
                </a:lnTo>
                <a:lnTo>
                  <a:pt x="788911" y="645014"/>
                </a:lnTo>
                <a:lnTo>
                  <a:pt x="0" y="64501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25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-104399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9" id="29"/>
          <p:cNvSpPr txBox="true"/>
          <p:nvPr/>
        </p:nvSpPr>
        <p:spPr>
          <a:xfrm rot="0">
            <a:off x="3311274" y="1090658"/>
            <a:ext cx="11665452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PANDANGAN KELOMPOK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747945" y="3095061"/>
            <a:ext cx="5851862" cy="236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✅ Keunggulan: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Mendorong Student Active Learning (CBSA) dan melatih keterampilan proses (berpikir kritis)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⚠️ Kelemahan: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Terjadi kendala implementasi di lapangan; banyak guru belum siap atau salah menafsirkan konsep "aktif" (hanya gaduh fisik, bukan mental)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47945" y="2585975"/>
            <a:ext cx="3934338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Kurikulum 1984 (Era CBSA)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201970" y="3056994"/>
            <a:ext cx="5851862" cy="236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✅ Keunggulan: 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Struktur materi lebih jelas, sistematis, dan berorientasi pada penguasaan konsep dasar yang kuat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⚠️ Kelemahan: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Beban materi terlalu padat (overloaded). Ditambah sistem Caturwulan, pembelajaran menjadi sekadar kejar tayang dan kurang bermakna bagi siswa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01970" y="2547907"/>
            <a:ext cx="5250889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Kurikulum 1994 (Era Orientasi Materi)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941000" y="6723925"/>
            <a:ext cx="3934338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Kesimpulan Akhir Kelompok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394884" y="7425407"/>
            <a:ext cx="4171460" cy="182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 b="true">
                <a:solidFill>
                  <a:srgbClr val="FFFFFF">
                    <a:alpha val="7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Pentingnya Eksekusi</a:t>
            </a:r>
            <a:r>
              <a:rPr lang="en-US" sz="2100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</a:p>
          <a:p>
            <a:pPr algn="ctr">
              <a:lnSpc>
                <a:spcPts val="2340"/>
              </a:lnSpc>
            </a:pPr>
            <a:r>
              <a:rPr lang="en-US" sz="1800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Keberhasilan kurikulum tidak hanya ditentukan oleh dokumen perancangan yang ideal, tetapi sangat bergantung pada kompetensi dan kesiapan guru sebagai eksekutor utama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804468" y="7425407"/>
            <a:ext cx="4189430" cy="211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 b="true">
                <a:solidFill>
                  <a:srgbClr val="FFFFFF">
                    <a:alpha val="7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Keseimbangan:</a:t>
            </a:r>
          </a:p>
          <a:p>
            <a:pPr algn="ctr">
              <a:lnSpc>
                <a:spcPts val="2340"/>
              </a:lnSpc>
            </a:pPr>
            <a:r>
              <a:rPr lang="en-US" sz="1800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Kurikulum ideal harus menyeimbangkan antara aktivitas siswa (jiwa 1984) dengan kedalaman materi (jiwa 1994), tanpa membebani siswa secara berlebihan</a:t>
            </a:r>
          </a:p>
          <a:p>
            <a:pPr algn="ctr">
              <a:lnSpc>
                <a:spcPts val="2340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1232024" y="7425407"/>
            <a:ext cx="4189430" cy="182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 b="true">
                <a:solidFill>
                  <a:srgbClr val="FFFFFF">
                    <a:alpha val="7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Refleksi:</a:t>
            </a:r>
          </a:p>
          <a:p>
            <a:pPr algn="ctr">
              <a:lnSpc>
                <a:spcPts val="2340"/>
              </a:lnSpc>
            </a:pPr>
            <a:r>
              <a:rPr lang="en-US" sz="1800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Perubahan</a:t>
            </a:r>
            <a:r>
              <a:rPr lang="en-US" sz="1800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kurikulum merupakan proses evaluasi dan penyempurnaan berkelanjutan untuk menyesuaikan pendidikan dengan perkembangan zaman dan kebutuhan peserta didik.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6250129" y="7191261"/>
            <a:ext cx="1848974" cy="1848974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6B6F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6722178" y="7677598"/>
            <a:ext cx="904875" cy="904875"/>
          </a:xfrm>
          <a:custGeom>
            <a:avLst/>
            <a:gdLst/>
            <a:ahLst/>
            <a:cxnLst/>
            <a:rect r="r" b="b" t="t" l="l"/>
            <a:pathLst>
              <a:path h="904875" w="904875">
                <a:moveTo>
                  <a:pt x="0" y="0"/>
                </a:moveTo>
                <a:lnTo>
                  <a:pt x="904875" y="0"/>
                </a:lnTo>
                <a:lnTo>
                  <a:pt x="904875" y="904875"/>
                </a:lnTo>
                <a:lnTo>
                  <a:pt x="0" y="9048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2" id="42"/>
          <p:cNvSpPr/>
          <p:nvPr/>
        </p:nvSpPr>
        <p:spPr>
          <a:xfrm flipH="false" flipV="false" rot="-2345295">
            <a:off x="15291217" y="8465021"/>
            <a:ext cx="6304023" cy="2088208"/>
          </a:xfrm>
          <a:custGeom>
            <a:avLst/>
            <a:gdLst/>
            <a:ahLst/>
            <a:cxnLst/>
            <a:rect r="r" b="b" t="t" l="l"/>
            <a:pathLst>
              <a:path h="2088208" w="6304023">
                <a:moveTo>
                  <a:pt x="0" y="0"/>
                </a:moveTo>
                <a:lnTo>
                  <a:pt x="6304023" y="0"/>
                </a:lnTo>
                <a:lnTo>
                  <a:pt x="6304023" y="2088208"/>
                </a:lnTo>
                <a:lnTo>
                  <a:pt x="0" y="208820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30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DAG-X3_rwI8</dc:identifier>
  <dcterms:modified xsi:type="dcterms:W3CDTF">2011-08-01T06:04:30Z</dcterms:modified>
  <cp:revision>1</cp:revision>
  <dc:title>Kelompok 1  -  Kurikulum 1984 &amp; 1994</dc:title>
</cp:coreProperties>
</file>